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9"/>
  </p:notesMasterIdLst>
  <p:sldIdLst>
    <p:sldId id="321" r:id="rId5"/>
    <p:sldId id="325" r:id="rId6"/>
    <p:sldId id="914" r:id="rId7"/>
    <p:sldId id="356" r:id="rId8"/>
    <p:sldId id="390" r:id="rId9"/>
    <p:sldId id="915" r:id="rId10"/>
    <p:sldId id="358" r:id="rId11"/>
    <p:sldId id="359" r:id="rId12"/>
    <p:sldId id="913" r:id="rId13"/>
    <p:sldId id="372" r:id="rId14"/>
    <p:sldId id="369" r:id="rId15"/>
    <p:sldId id="342" r:id="rId16"/>
    <p:sldId id="360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61" r:id="rId25"/>
    <p:sldId id="363" r:id="rId26"/>
    <p:sldId id="366" r:id="rId27"/>
    <p:sldId id="916" r:id="rId28"/>
  </p:sldIdLst>
  <p:sldSz cx="9144000" cy="6858000" type="screen4x3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4B77"/>
    <a:srgbClr val="F0265D"/>
    <a:srgbClr val="EBAFB5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73" autoAdjust="0"/>
  </p:normalViewPr>
  <p:slideViewPr>
    <p:cSldViewPr snapToGrid="0" snapToObjects="1">
      <p:cViewPr varScale="1">
        <p:scale>
          <a:sx n="75" d="100"/>
          <a:sy n="75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0F7C05-0CED-48F9-BB55-684B97B37233}" type="doc">
      <dgm:prSet loTypeId="urn:microsoft.com/office/officeart/2005/8/layout/vList2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pt-BR"/>
        </a:p>
      </dgm:t>
    </dgm:pt>
    <dgm:pt modelId="{B639BD2F-CACD-41F9-8351-0E154202D07A}">
      <dgm:prSet phldrT="[Texto]" custT="1"/>
      <dgm:spPr/>
      <dgm:t>
        <a:bodyPr/>
        <a:lstStyle/>
        <a:p>
          <a:pPr rtl="0"/>
          <a:r>
            <a:rPr kumimoji="0" lang="pt-BR" altLang="pt-BR" sz="2000" b="0" i="0" u="none" strike="noStrike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Mantenha seu telefone celular no modo silencioso. É proibido o uso de telefone celular durante as aulas. Caso seja necessário atender o telefone, saia da sala;</a:t>
          </a:r>
          <a:endParaRPr lang="pt-BR" sz="2000" dirty="0"/>
        </a:p>
      </dgm:t>
    </dgm:pt>
    <dgm:pt modelId="{BD219450-B47A-4526-9595-ECCD5F2498BE}" type="parTrans" cxnId="{87ADBFE1-DFB5-4AD7-926A-45FB6BA7A024}">
      <dgm:prSet/>
      <dgm:spPr/>
      <dgm:t>
        <a:bodyPr/>
        <a:lstStyle/>
        <a:p>
          <a:endParaRPr lang="pt-BR" sz="2000"/>
        </a:p>
      </dgm:t>
    </dgm:pt>
    <dgm:pt modelId="{0408BE03-8485-4782-B3F9-9C57683AF0F9}" type="sibTrans" cxnId="{87ADBFE1-DFB5-4AD7-926A-45FB6BA7A024}">
      <dgm:prSet/>
      <dgm:spPr/>
      <dgm:t>
        <a:bodyPr/>
        <a:lstStyle/>
        <a:p>
          <a:endParaRPr lang="pt-BR" sz="2000"/>
        </a:p>
      </dgm:t>
    </dgm:pt>
    <dgm:pt modelId="{C027E775-CB26-4B6E-984B-DED968AD70A1}">
      <dgm:prSet custT="1"/>
      <dgm:spPr/>
      <dgm:t>
        <a:bodyPr/>
        <a:lstStyle/>
        <a:p>
          <a:pPr rtl="0"/>
          <a:r>
            <a:rPr kumimoji="0" lang="pt-BR" altLang="pt-BR" sz="2000" b="0" i="0" u="none" strike="noStrike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O uso da internet é bloqueado durante as aulas, o professor fará a liberação do uso da internet, no início e final das aulas para obtenção e envio de arquivos e quando for necessário o uso durante as aulas de acordo com o conteúdo trabalhado;</a:t>
          </a:r>
          <a:endParaRPr kumimoji="0" lang="pt-BR" altLang="pt-BR" sz="2000" b="0" i="0" u="none" strike="noStrike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gm:t>
    </dgm:pt>
    <dgm:pt modelId="{1B87942E-76F1-4DDD-AEA8-0C04C8BD3B1D}" type="parTrans" cxnId="{80826CFC-2AEE-4CD2-A574-EEBE649245DC}">
      <dgm:prSet/>
      <dgm:spPr/>
      <dgm:t>
        <a:bodyPr/>
        <a:lstStyle/>
        <a:p>
          <a:endParaRPr lang="pt-BR" sz="2000"/>
        </a:p>
      </dgm:t>
    </dgm:pt>
    <dgm:pt modelId="{B175E0DA-5EB2-4AD9-A983-E7DB001B14C9}" type="sibTrans" cxnId="{80826CFC-2AEE-4CD2-A574-EEBE649245DC}">
      <dgm:prSet/>
      <dgm:spPr/>
      <dgm:t>
        <a:bodyPr/>
        <a:lstStyle/>
        <a:p>
          <a:endParaRPr lang="pt-BR" sz="2000"/>
        </a:p>
      </dgm:t>
    </dgm:pt>
    <dgm:pt modelId="{38219B07-F80A-4FBF-9CB9-9A01EB138323}">
      <dgm:prSet custT="1"/>
      <dgm:spPr/>
      <dgm:t>
        <a:bodyPr/>
        <a:lstStyle/>
        <a:p>
          <a:pPr rtl="0"/>
          <a:r>
            <a:rPr kumimoji="0" lang="pt-BR" altLang="pt-BR" sz="2000" b="0" i="0" u="none" strike="noStrike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Respeito entre colegas e professor para o bom andamento da aula;</a:t>
          </a:r>
          <a:endParaRPr kumimoji="0" lang="pt-BR" altLang="pt-BR" sz="2000" b="0" i="0" u="none" strike="noStrike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gm:t>
    </dgm:pt>
    <dgm:pt modelId="{411A3CC7-C632-481D-AE7F-99A0ED3F0244}" type="parTrans" cxnId="{50B4178F-05E2-437A-ABBA-129F4BCF0BDC}">
      <dgm:prSet/>
      <dgm:spPr/>
      <dgm:t>
        <a:bodyPr/>
        <a:lstStyle/>
        <a:p>
          <a:endParaRPr lang="pt-BR" sz="2000"/>
        </a:p>
      </dgm:t>
    </dgm:pt>
    <dgm:pt modelId="{D869A032-DA05-4221-B8DB-7232BD8FC370}" type="sibTrans" cxnId="{50B4178F-05E2-437A-ABBA-129F4BCF0BDC}">
      <dgm:prSet/>
      <dgm:spPr/>
      <dgm:t>
        <a:bodyPr/>
        <a:lstStyle/>
        <a:p>
          <a:endParaRPr lang="pt-BR" sz="2000"/>
        </a:p>
      </dgm:t>
    </dgm:pt>
    <dgm:pt modelId="{0DB641AA-3AC1-473E-BD99-E34DB7436FA3}">
      <dgm:prSet custT="1"/>
      <dgm:spPr/>
      <dgm:t>
        <a:bodyPr/>
        <a:lstStyle/>
        <a:p>
          <a:pPr rtl="0"/>
          <a:r>
            <a:rPr kumimoji="0" lang="pt-BR" altLang="pt-BR" sz="2000" b="0" i="0" u="none" strike="noStrike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A chamada será realizada pelo professor em todas as aulas, no momento em que o professor considerar oportuno.</a:t>
          </a:r>
          <a:endParaRPr kumimoji="0" lang="pt-BR" altLang="pt-BR" sz="2000" b="0" i="0" u="none" strike="noStrike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gm:t>
    </dgm:pt>
    <dgm:pt modelId="{3F2F8A3E-F78B-43F2-97C8-BBA748FACEBD}" type="parTrans" cxnId="{67CA6AD7-664F-451D-B170-09669F500288}">
      <dgm:prSet/>
      <dgm:spPr/>
      <dgm:t>
        <a:bodyPr/>
        <a:lstStyle/>
        <a:p>
          <a:endParaRPr lang="pt-BR" sz="2000"/>
        </a:p>
      </dgm:t>
    </dgm:pt>
    <dgm:pt modelId="{CA0B28F6-52CE-4AE5-925B-08632E1A4A3F}" type="sibTrans" cxnId="{67CA6AD7-664F-451D-B170-09669F500288}">
      <dgm:prSet/>
      <dgm:spPr/>
      <dgm:t>
        <a:bodyPr/>
        <a:lstStyle/>
        <a:p>
          <a:endParaRPr lang="pt-BR" sz="2000"/>
        </a:p>
      </dgm:t>
    </dgm:pt>
    <dgm:pt modelId="{45650611-ECC5-48A5-B8F1-42CDE04CFD35}" type="pres">
      <dgm:prSet presAssocID="{A10F7C05-0CED-48F9-BB55-684B97B37233}" presName="linear" presStyleCnt="0">
        <dgm:presLayoutVars>
          <dgm:animLvl val="lvl"/>
          <dgm:resizeHandles val="exact"/>
        </dgm:presLayoutVars>
      </dgm:prSet>
      <dgm:spPr/>
    </dgm:pt>
    <dgm:pt modelId="{C6FB4189-C89A-4635-8F15-943D8AA0E371}" type="pres">
      <dgm:prSet presAssocID="{B639BD2F-CACD-41F9-8351-0E154202D0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AF1EAA-6B21-4DC9-B6C7-5133B5C9F1C4}" type="pres">
      <dgm:prSet presAssocID="{0408BE03-8485-4782-B3F9-9C57683AF0F9}" presName="spacer" presStyleCnt="0"/>
      <dgm:spPr/>
    </dgm:pt>
    <dgm:pt modelId="{2E79D14C-F533-4D17-9068-52B8EC297271}" type="pres">
      <dgm:prSet presAssocID="{C027E775-CB26-4B6E-984B-DED968AD70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FA8B9A-B492-4031-A25A-C1433F927E05}" type="pres">
      <dgm:prSet presAssocID="{B175E0DA-5EB2-4AD9-A983-E7DB001B14C9}" presName="spacer" presStyleCnt="0"/>
      <dgm:spPr/>
    </dgm:pt>
    <dgm:pt modelId="{4F193896-C6E9-4D33-9455-C84C60DFC09F}" type="pres">
      <dgm:prSet presAssocID="{38219B07-F80A-4FBF-9CB9-9A01EB13832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DAE3CB-4FB3-45A4-8E0A-5D3AA46EC7DE}" type="pres">
      <dgm:prSet presAssocID="{D869A032-DA05-4221-B8DB-7232BD8FC370}" presName="spacer" presStyleCnt="0"/>
      <dgm:spPr/>
    </dgm:pt>
    <dgm:pt modelId="{95DB20F0-B796-41E1-B44C-DC350D2F6760}" type="pres">
      <dgm:prSet presAssocID="{0DB641AA-3AC1-473E-BD99-E34DB7436FA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124030-8ED6-4F62-B7F3-BED156E0FD87}" type="presOf" srcId="{A10F7C05-0CED-48F9-BB55-684B97B37233}" destId="{45650611-ECC5-48A5-B8F1-42CDE04CFD35}" srcOrd="0" destOrd="0" presId="urn:microsoft.com/office/officeart/2005/8/layout/vList2"/>
    <dgm:cxn modelId="{F8DF098C-3F00-48AB-88C1-1B7C44E18ADB}" type="presOf" srcId="{0DB641AA-3AC1-473E-BD99-E34DB7436FA3}" destId="{95DB20F0-B796-41E1-B44C-DC350D2F6760}" srcOrd="0" destOrd="0" presId="urn:microsoft.com/office/officeart/2005/8/layout/vList2"/>
    <dgm:cxn modelId="{50B4178F-05E2-437A-ABBA-129F4BCF0BDC}" srcId="{A10F7C05-0CED-48F9-BB55-684B97B37233}" destId="{38219B07-F80A-4FBF-9CB9-9A01EB138323}" srcOrd="2" destOrd="0" parTransId="{411A3CC7-C632-481D-AE7F-99A0ED3F0244}" sibTransId="{D869A032-DA05-4221-B8DB-7232BD8FC370}"/>
    <dgm:cxn modelId="{3E3BD3A6-4A11-4B4A-9515-A5DBFE207701}" type="presOf" srcId="{B639BD2F-CACD-41F9-8351-0E154202D07A}" destId="{C6FB4189-C89A-4635-8F15-943D8AA0E371}" srcOrd="0" destOrd="0" presId="urn:microsoft.com/office/officeart/2005/8/layout/vList2"/>
    <dgm:cxn modelId="{3A38DCAC-F319-44BF-86B9-7A2F89A08F7F}" type="presOf" srcId="{38219B07-F80A-4FBF-9CB9-9A01EB138323}" destId="{4F193896-C6E9-4D33-9455-C84C60DFC09F}" srcOrd="0" destOrd="0" presId="urn:microsoft.com/office/officeart/2005/8/layout/vList2"/>
    <dgm:cxn modelId="{7DEB2BBF-C6B7-4D6B-B0C3-0054BE654548}" type="presOf" srcId="{C027E775-CB26-4B6E-984B-DED968AD70A1}" destId="{2E79D14C-F533-4D17-9068-52B8EC297271}" srcOrd="0" destOrd="0" presId="urn:microsoft.com/office/officeart/2005/8/layout/vList2"/>
    <dgm:cxn modelId="{67CA6AD7-664F-451D-B170-09669F500288}" srcId="{A10F7C05-0CED-48F9-BB55-684B97B37233}" destId="{0DB641AA-3AC1-473E-BD99-E34DB7436FA3}" srcOrd="3" destOrd="0" parTransId="{3F2F8A3E-F78B-43F2-97C8-BBA748FACEBD}" sibTransId="{CA0B28F6-52CE-4AE5-925B-08632E1A4A3F}"/>
    <dgm:cxn modelId="{87ADBFE1-DFB5-4AD7-926A-45FB6BA7A024}" srcId="{A10F7C05-0CED-48F9-BB55-684B97B37233}" destId="{B639BD2F-CACD-41F9-8351-0E154202D07A}" srcOrd="0" destOrd="0" parTransId="{BD219450-B47A-4526-9595-ECCD5F2498BE}" sibTransId="{0408BE03-8485-4782-B3F9-9C57683AF0F9}"/>
    <dgm:cxn modelId="{80826CFC-2AEE-4CD2-A574-EEBE649245DC}" srcId="{A10F7C05-0CED-48F9-BB55-684B97B37233}" destId="{C027E775-CB26-4B6E-984B-DED968AD70A1}" srcOrd="1" destOrd="0" parTransId="{1B87942E-76F1-4DDD-AEA8-0C04C8BD3B1D}" sibTransId="{B175E0DA-5EB2-4AD9-A983-E7DB001B14C9}"/>
    <dgm:cxn modelId="{E8CED617-6108-487B-A727-18FED601649B}" type="presParOf" srcId="{45650611-ECC5-48A5-B8F1-42CDE04CFD35}" destId="{C6FB4189-C89A-4635-8F15-943D8AA0E371}" srcOrd="0" destOrd="0" presId="urn:microsoft.com/office/officeart/2005/8/layout/vList2"/>
    <dgm:cxn modelId="{49323FD1-168B-4D35-BA4B-2E8EA2A3D8F3}" type="presParOf" srcId="{45650611-ECC5-48A5-B8F1-42CDE04CFD35}" destId="{0EAF1EAA-6B21-4DC9-B6C7-5133B5C9F1C4}" srcOrd="1" destOrd="0" presId="urn:microsoft.com/office/officeart/2005/8/layout/vList2"/>
    <dgm:cxn modelId="{9ED31244-D07A-4AB6-9687-37CE8CDB615D}" type="presParOf" srcId="{45650611-ECC5-48A5-B8F1-42CDE04CFD35}" destId="{2E79D14C-F533-4D17-9068-52B8EC297271}" srcOrd="2" destOrd="0" presId="urn:microsoft.com/office/officeart/2005/8/layout/vList2"/>
    <dgm:cxn modelId="{2C376B46-3F6D-4FDD-9033-3D96F432D634}" type="presParOf" srcId="{45650611-ECC5-48A5-B8F1-42CDE04CFD35}" destId="{FCFA8B9A-B492-4031-A25A-C1433F927E05}" srcOrd="3" destOrd="0" presId="urn:microsoft.com/office/officeart/2005/8/layout/vList2"/>
    <dgm:cxn modelId="{F11A620F-9B21-440A-A424-121D4C2E0243}" type="presParOf" srcId="{45650611-ECC5-48A5-B8F1-42CDE04CFD35}" destId="{4F193896-C6E9-4D33-9455-C84C60DFC09F}" srcOrd="4" destOrd="0" presId="urn:microsoft.com/office/officeart/2005/8/layout/vList2"/>
    <dgm:cxn modelId="{DC14A7F3-C30B-4767-9671-253AEC4773F9}" type="presParOf" srcId="{45650611-ECC5-48A5-B8F1-42CDE04CFD35}" destId="{AADAE3CB-4FB3-45A4-8E0A-5D3AA46EC7DE}" srcOrd="5" destOrd="0" presId="urn:microsoft.com/office/officeart/2005/8/layout/vList2"/>
    <dgm:cxn modelId="{3C714C5D-6846-425A-852D-3F586CDCA3C4}" type="presParOf" srcId="{45650611-ECC5-48A5-B8F1-42CDE04CFD35}" destId="{95DB20F0-B796-41E1-B44C-DC350D2F67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B4189-C89A-4635-8F15-943D8AA0E371}">
      <dsp:nvSpPr>
        <dsp:cNvPr id="0" name=""/>
        <dsp:cNvSpPr/>
      </dsp:nvSpPr>
      <dsp:spPr>
        <a:xfrm>
          <a:off x="0" y="714599"/>
          <a:ext cx="9144000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BR" altLang="pt-BR" sz="2000" b="0" i="0" u="none" strike="noStrike" kern="1200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Mantenha seu telefone celular no modo silencioso. É proibido o uso de telefone celular durante as aulas. Caso seja necessário atender o telefone, saia da sala;</a:t>
          </a:r>
          <a:endParaRPr lang="pt-BR" sz="2000" kern="1200" dirty="0"/>
        </a:p>
      </dsp:txBody>
      <dsp:txXfrm>
        <a:off x="59399" y="773998"/>
        <a:ext cx="9025202" cy="1098002"/>
      </dsp:txXfrm>
    </dsp:sp>
    <dsp:sp modelId="{2E79D14C-F533-4D17-9068-52B8EC297271}">
      <dsp:nvSpPr>
        <dsp:cNvPr id="0" name=""/>
        <dsp:cNvSpPr/>
      </dsp:nvSpPr>
      <dsp:spPr>
        <a:xfrm>
          <a:off x="0" y="2118600"/>
          <a:ext cx="9144000" cy="1216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BR" altLang="pt-BR" sz="2000" b="0" i="0" u="none" strike="noStrike" kern="1200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O uso da internet é bloqueado durante as aulas, o professor fará a liberação do uso da internet, no início e final das aulas para obtenção e envio de arquivos e quando for necessário o uso durante as aulas de acordo com o conteúdo trabalhado;</a:t>
          </a:r>
          <a:endParaRPr kumimoji="0" lang="pt-BR" altLang="pt-BR" sz="2000" b="0" i="0" u="none" strike="noStrike" kern="1200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sp:txBody>
      <dsp:txXfrm>
        <a:off x="59399" y="2177999"/>
        <a:ext cx="9025202" cy="1098002"/>
      </dsp:txXfrm>
    </dsp:sp>
    <dsp:sp modelId="{4F193896-C6E9-4D33-9455-C84C60DFC09F}">
      <dsp:nvSpPr>
        <dsp:cNvPr id="0" name=""/>
        <dsp:cNvSpPr/>
      </dsp:nvSpPr>
      <dsp:spPr>
        <a:xfrm>
          <a:off x="0" y="3522600"/>
          <a:ext cx="9144000" cy="1216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BR" altLang="pt-BR" sz="2000" b="0" i="0" u="none" strike="noStrike" kern="1200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Respeito entre colegas e professor para o bom andamento da aula;</a:t>
          </a:r>
          <a:endParaRPr kumimoji="0" lang="pt-BR" altLang="pt-BR" sz="2000" b="0" i="0" u="none" strike="noStrike" kern="1200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sp:txBody>
      <dsp:txXfrm>
        <a:off x="59399" y="3581999"/>
        <a:ext cx="9025202" cy="1098002"/>
      </dsp:txXfrm>
    </dsp:sp>
    <dsp:sp modelId="{95DB20F0-B796-41E1-B44C-DC350D2F6760}">
      <dsp:nvSpPr>
        <dsp:cNvPr id="0" name=""/>
        <dsp:cNvSpPr/>
      </dsp:nvSpPr>
      <dsp:spPr>
        <a:xfrm>
          <a:off x="0" y="4926600"/>
          <a:ext cx="9144000" cy="1216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pt-BR" altLang="pt-BR" sz="2000" b="0" i="0" u="none" strike="noStrike" kern="1200" cap="none" spc="0" normalizeH="0" baseline="0" noProof="0">
              <a:ln/>
              <a:effectLst/>
              <a:uLnTx/>
              <a:uFillTx/>
              <a:latin typeface="+mn-lt"/>
              <a:ea typeface="+mn-ea"/>
              <a:cs typeface="+mn-cs"/>
            </a:rPr>
            <a:t>A chamada será realizada pelo professor em todas as aulas, no momento em que o professor considerar oportuno.</a:t>
          </a:r>
          <a:endParaRPr kumimoji="0" lang="pt-BR" altLang="pt-BR" sz="2000" b="0" i="0" u="none" strike="noStrike" kern="1200" cap="none" spc="0" normalizeH="0" baseline="0" noProof="0" dirty="0">
            <a:ln/>
            <a:effectLst/>
            <a:uLnTx/>
            <a:uFillTx/>
            <a:latin typeface="+mn-lt"/>
            <a:ea typeface="+mn-ea"/>
            <a:cs typeface="+mn-cs"/>
          </a:endParaRPr>
        </a:p>
      </dsp:txBody>
      <dsp:txXfrm>
        <a:off x="59399" y="4985999"/>
        <a:ext cx="9025202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2/9/2023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23287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ads Escuro MBA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09/02/2023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3" r:id="rId13"/>
    <p:sldLayoutId id="2147483754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file:///C:\Users\cl0743\Desktop\videos-completo\video_final.mp4" TargetMode="External"/><Relationship Id="rId1" Type="http://schemas.microsoft.com/office/2007/relationships/media" Target="file:///C:\Users\cl0743\Desktop\videos-completo\video_final.mp4" TargetMode="Externa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AP-NOVO-2014-MAGENT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125" y="2901164"/>
            <a:ext cx="3604019" cy="105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8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27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4939" y="2775694"/>
            <a:ext cx="40950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00" b="1" cap="all" dirty="0" err="1">
                <a:solidFill>
                  <a:srgbClr val="868879"/>
                </a:solidFill>
                <a:latin typeface="Gotham HTF Black"/>
              </a:rPr>
              <a:t>presentations</a:t>
            </a:r>
            <a:endParaRPr lang="en-US" sz="3400" cap="all" dirty="0">
              <a:solidFill>
                <a:srgbClr val="868879"/>
              </a:solidFill>
              <a:latin typeface="Gotham HTF Ligh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1761" y="396453"/>
            <a:ext cx="343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BR" sz="2800" dirty="0">
                <a:solidFill>
                  <a:srgbClr val="369FC2"/>
                </a:solidFill>
                <a:latin typeface="Gotham HTF Light"/>
              </a:rPr>
              <a:t>SANDRO FERRAZ</a:t>
            </a:r>
            <a:endParaRPr lang="en-US" sz="4400" cap="all" dirty="0">
              <a:solidFill>
                <a:srgbClr val="369FC2"/>
              </a:solidFill>
              <a:latin typeface="Gotham HTF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6388" y="1129067"/>
            <a:ext cx="391290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Doutor em Engenharia Biomédica (Unicamp);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Mestre em Engenharia de Automação e Controle (Unicamp) 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Leciona há 16 anos na Graduação e Pós-Graduação;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Atua há 11 anos na área de Robótica;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Consultor e desenvolvedor de tecnologia em  robótica e de </a:t>
            </a: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VANTs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  (</a:t>
            </a: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Drones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) 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Desenvolvedor de produtos e projetos em 3D;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Desenvolveu ambiente de EAD (UNICAMP e UNIFIEO);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Coordenador de Projetos de robótica (FIAP). </a:t>
            </a:r>
          </a:p>
          <a:p>
            <a:pPr algn="l" rtl="0"/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algn="l" rtl="0"/>
            <a:r>
              <a:rPr lang="pt-BR" sz="1400" dirty="0">
                <a:solidFill>
                  <a:srgbClr val="369FC2"/>
                </a:solidFill>
                <a:latin typeface="Gotham HTF Light"/>
              </a:rPr>
              <a:t>Publicações científicas: + 30.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10953"/>
          <a:stretch/>
        </p:blipFill>
        <p:spPr>
          <a:xfrm>
            <a:off x="4567189" y="0"/>
            <a:ext cx="458015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76B0C31-0C1E-24CD-C3AD-8B7D6BBE72EB}"/>
              </a:ext>
            </a:extLst>
          </p:cNvPr>
          <p:cNvSpPr txBox="1"/>
          <p:nvPr/>
        </p:nvSpPr>
        <p:spPr>
          <a:xfrm>
            <a:off x="1038741" y="5927971"/>
            <a:ext cx="254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profsandro@fiap.com.br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6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474365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8" descr="03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656" y="1543052"/>
            <a:ext cx="4157457" cy="329918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044895" y="2214563"/>
            <a:ext cx="3437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3600" dirty="0">
                <a:solidFill>
                  <a:schemeClr val="bg1"/>
                </a:solidFill>
                <a:latin typeface="Gotham HTF Black"/>
              </a:rPr>
              <a:t>Apresentação </a:t>
            </a:r>
          </a:p>
          <a:p>
            <a:pPr algn="ctr" rtl="0"/>
            <a:r>
              <a:rPr lang="pt-BR" sz="3600" dirty="0">
                <a:solidFill>
                  <a:schemeClr val="bg1"/>
                </a:solidFill>
                <a:latin typeface="Gotham HTF Black"/>
              </a:rPr>
              <a:t>da</a:t>
            </a:r>
          </a:p>
          <a:p>
            <a:pPr algn="ctr" rtl="0"/>
            <a:r>
              <a:rPr lang="pt-BR" sz="3600" dirty="0">
                <a:solidFill>
                  <a:schemeClr val="bg1"/>
                </a:solidFill>
                <a:latin typeface="Gotham HTF Black"/>
              </a:rPr>
              <a:t>Disciplina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21673" y="3234297"/>
            <a:ext cx="8645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pt-BR" sz="3200" b="1" dirty="0" err="1">
                <a:solidFill>
                  <a:srgbClr val="FFFF00"/>
                </a:solidFill>
              </a:rPr>
              <a:t>Physical</a:t>
            </a:r>
            <a:r>
              <a:rPr lang="pt-BR" altLang="pt-BR" sz="3200" b="1" dirty="0">
                <a:solidFill>
                  <a:srgbClr val="FFFF00"/>
                </a:solidFill>
              </a:rPr>
              <a:t> </a:t>
            </a:r>
            <a:r>
              <a:rPr lang="pt-BR" altLang="pt-BR" sz="3200" b="1" dirty="0" err="1">
                <a:solidFill>
                  <a:srgbClr val="FFFF00"/>
                </a:solidFill>
              </a:rPr>
              <a:t>Computing</a:t>
            </a:r>
            <a:r>
              <a:rPr lang="pt-BR" altLang="pt-BR" sz="3200" b="1" dirty="0">
                <a:solidFill>
                  <a:srgbClr val="FFFF00"/>
                </a:solidFill>
              </a:rPr>
              <a:t> &amp; </a:t>
            </a:r>
            <a:r>
              <a:rPr lang="pt-BR" altLang="pt-BR" sz="3200" b="1" dirty="0" err="1">
                <a:solidFill>
                  <a:srgbClr val="FFFF00"/>
                </a:solidFill>
              </a:rPr>
              <a:t>Microcontrollers</a:t>
            </a:r>
            <a:endParaRPr lang="pt-BR" altLang="pt-BR" sz="3200" b="1" dirty="0">
              <a:solidFill>
                <a:srgbClr val="FFFF00"/>
              </a:solidFill>
            </a:endParaRPr>
          </a:p>
          <a:p>
            <a:pPr algn="ctr"/>
            <a:endParaRPr lang="pt-BR" altLang="pt-BR" sz="1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69620" y="719697"/>
            <a:ext cx="7604760" cy="4999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altLang="pt-BR" sz="1000" b="1" dirty="0">
              <a:solidFill>
                <a:srgbClr val="FFFF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pt-BR" altLang="pt-BR" sz="2400" b="1" dirty="0">
                <a:solidFill>
                  <a:srgbClr val="FFFF00"/>
                </a:solidFill>
              </a:rPr>
              <a:t>EMENTA</a:t>
            </a:r>
          </a:p>
          <a:p>
            <a:pPr algn="ctr">
              <a:lnSpc>
                <a:spcPct val="150000"/>
              </a:lnSpc>
            </a:pPr>
            <a:endParaRPr lang="pt-BR" altLang="pt-BR" sz="2400" dirty="0">
              <a:solidFill>
                <a:srgbClr val="FFFF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altLang="pt-BR" sz="2000" dirty="0">
                <a:solidFill>
                  <a:srgbClr val="FFFF00"/>
                </a:solidFill>
              </a:rPr>
              <a:t>Essa disciplina estuda os processadores, seus conceitos fundamentais de arquitetura e suas capacidades operacionais.</a:t>
            </a:r>
          </a:p>
          <a:p>
            <a:pPr algn="just">
              <a:lnSpc>
                <a:spcPct val="150000"/>
              </a:lnSpc>
            </a:pPr>
            <a:r>
              <a:rPr lang="pt-BR" altLang="pt-BR" sz="2000" dirty="0">
                <a:solidFill>
                  <a:srgbClr val="FFFF00"/>
                </a:solidFill>
              </a:rPr>
              <a:t>Os alunos realizam experimentos em diversas aplicações práticas, para o entendimento do funcionamento dos processadores e de seu processo de programação, na linguagem Assembly e C.</a:t>
            </a:r>
          </a:p>
          <a:p>
            <a:pPr algn="just">
              <a:lnSpc>
                <a:spcPct val="150000"/>
              </a:lnSpc>
            </a:pPr>
            <a:r>
              <a:rPr lang="pt-BR" altLang="pt-BR" sz="2000" dirty="0">
                <a:solidFill>
                  <a:srgbClr val="FFFF00"/>
                </a:solidFill>
              </a:rPr>
              <a:t>No fim, os estudantes deverão ser capazes de compreender o funcionamento de tais dispositivos, conceber e implementar projetos de aplicações que façam uso desses componentes eletrônicos.</a:t>
            </a:r>
          </a:p>
        </p:txBody>
      </p:sp>
    </p:spTree>
    <p:extLst>
      <p:ext uri="{BB962C8B-B14F-4D97-AF65-F5344CB8AC3E}">
        <p14:creationId xmlns:p14="http://schemas.microsoft.com/office/powerpoint/2010/main" val="327231743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86819" y="2540663"/>
            <a:ext cx="875607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 como base processadores de 8 bits, 16 bits e 32 bits, vamos estudar:</a:t>
            </a:r>
          </a:p>
          <a:p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e diagrama funcional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Decodificador, ULA, tipos de dados e de instruções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Encodings</a:t>
            </a: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binários e programação em Linguagem Assembly e Linguagem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Memórias Internas: de dados, de instruções, </a:t>
            </a:r>
            <a:r>
              <a:rPr lang="pt-BR" altLang="pt-B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registradores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Periféricos como recursos avançados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Ciclos de Máquina, ciclos de instrução, </a:t>
            </a:r>
            <a:r>
              <a:rPr lang="pt-BR" altLang="pt-B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temporização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Interrupções e Estados de Exceção</a:t>
            </a:r>
          </a:p>
        </p:txBody>
      </p:sp>
      <p:pic>
        <p:nvPicPr>
          <p:cNvPr id="5" name="Picture 4" descr="7 vantagens de estudar à distância e aproveitar melhor um curso EAD">
            <a:extLst>
              <a:ext uri="{FF2B5EF4-FFF2-40B4-BE49-F238E27FC236}">
                <a16:creationId xmlns:a16="http://schemas.microsoft.com/office/drawing/2014/main" id="{6D2BAB14-0D27-4158-8218-05EE1B74B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-1"/>
            <a:ext cx="9158288" cy="251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2">
            <a:extLst>
              <a:ext uri="{FF2B5EF4-FFF2-40B4-BE49-F238E27FC236}">
                <a16:creationId xmlns:a16="http://schemas.microsoft.com/office/drawing/2014/main" id="{BFFDB0AA-92D7-44B6-8315-28A5883E7A19}"/>
              </a:ext>
            </a:extLst>
          </p:cNvPr>
          <p:cNvSpPr txBox="1">
            <a:spLocks/>
          </p:cNvSpPr>
          <p:nvPr/>
        </p:nvSpPr>
        <p:spPr>
          <a:xfrm>
            <a:off x="-14289" y="2047759"/>
            <a:ext cx="9167253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Conteúdo Programático – Anual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1" y="248553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Referências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Bibliográficas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Básicas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273339" y="3557654"/>
            <a:ext cx="542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SOUZA, D.J. 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Desbravando o PIC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Editora Érica Saraiva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AutoShape 2" descr="Resultado de imagem para MANZANO e OLIVEIRA. Algoritmos, lógica para desenvolvimento de programação de computadores. Editora Éric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298" y="3221086"/>
            <a:ext cx="999363" cy="1411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FA75AA0-502C-48BA-93B3-77436EC31D76}"/>
              </a:ext>
            </a:extLst>
          </p:cNvPr>
          <p:cNvSpPr txBox="1"/>
          <p:nvPr/>
        </p:nvSpPr>
        <p:spPr>
          <a:xfrm>
            <a:off x="2315768" y="3871091"/>
            <a:ext cx="5313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Disponível na </a:t>
            </a:r>
            <a:r>
              <a:rPr lang="pt-BR" altLang="pt-BR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Biblioteca da FIAP – livro físico)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AC9918-5863-6CEE-92ED-A22752FE5771}"/>
              </a:ext>
            </a:extLst>
          </p:cNvPr>
          <p:cNvSpPr txBox="1"/>
          <p:nvPr/>
        </p:nvSpPr>
        <p:spPr>
          <a:xfrm>
            <a:off x="2823014" y="5282209"/>
            <a:ext cx="6320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SOUSA, D.R.; SOUZA, D.J. 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Desbravando o microcontrolador PIC18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Editora Érica Saraiva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2" descr="http://thumbs.buscape.com.br/livros/desbravando-o-microcontrolador-pic18-ensino-didatico-daniel-rodrigues-de-sousa-david-jose-de-souza-8536504021_200x200-PU6e7c75e2_1.jpg">
            <a:extLst>
              <a:ext uri="{FF2B5EF4-FFF2-40B4-BE49-F238E27FC236}">
                <a16:creationId xmlns:a16="http://schemas.microsoft.com/office/drawing/2014/main" id="{6EE3D23C-0ABF-7318-3DD5-131D2B62A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3" r="13597"/>
          <a:stretch/>
        </p:blipFill>
        <p:spPr bwMode="auto">
          <a:xfrm>
            <a:off x="1384502" y="4909634"/>
            <a:ext cx="999362" cy="139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1" y="248553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Referências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Bibliográficas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Básicas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052580" y="5442545"/>
            <a:ext cx="573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DANTAS, L. P. M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icrocontroladores PIC18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Editora Érica Saraiva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AutoShape 2" descr="Resultado de imagem para MANZANO e OLIVEIRA. Algoritmos, lógica para desenvolvimento de programação de computadores. Editora Éric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177817-586A-4F31-8551-2024C70C5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91" y="3237986"/>
            <a:ext cx="1184444" cy="16356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C8D86B3-4006-DB9D-9705-F40B168F8955}"/>
              </a:ext>
            </a:extLst>
          </p:cNvPr>
          <p:cNvSpPr txBox="1"/>
          <p:nvPr/>
        </p:nvSpPr>
        <p:spPr>
          <a:xfrm>
            <a:off x="2406252" y="3577818"/>
            <a:ext cx="560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SOUSA, D.R.; SOUZA, D.J. 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Desbravando o PIC24.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Editora Érica Saraiva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62A6A50-51E9-560B-9D05-F6D6A45DC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288" y="5077064"/>
            <a:ext cx="1026996" cy="146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5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1" y="248553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Referências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Bibliográficas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Básicas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287992" y="3756838"/>
            <a:ext cx="5883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PEREIRA, F. 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 ARM – Microcontroladores de 32 bits. 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Editora Érica Saraiva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82" y="3237812"/>
            <a:ext cx="1213970" cy="1684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404F0AD-3C4B-D76E-1695-6198B84237CB}"/>
              </a:ext>
            </a:extLst>
          </p:cNvPr>
          <p:cNvSpPr txBox="1"/>
          <p:nvPr/>
        </p:nvSpPr>
        <p:spPr>
          <a:xfrm>
            <a:off x="689870" y="5442545"/>
            <a:ext cx="6240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SOUSA, </a:t>
            </a:r>
            <a:r>
              <a:rPr lang="pt-BR" altLang="pt-BR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D.R.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Microcontroladores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ARM7 – O poder dos 32 bits.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Editora Érica Saraiva.</a:t>
            </a:r>
          </a:p>
        </p:txBody>
      </p:sp>
      <p:pic>
        <p:nvPicPr>
          <p:cNvPr id="3" name="Picture 2" descr="Resultado de imagem para microcontroladores ARM7 o poder dos 32 bits">
            <a:extLst>
              <a:ext uri="{FF2B5EF4-FFF2-40B4-BE49-F238E27FC236}">
                <a16:creationId xmlns:a16="http://schemas.microsoft.com/office/drawing/2014/main" id="{C5A85C42-9C9B-83DE-D882-8305774F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69777" y="4938205"/>
            <a:ext cx="1655010" cy="16550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479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1" y="248553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Referências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Bibliográficas</a:t>
            </a:r>
            <a:r>
              <a:rPr kumimoji="0" lang="en-US" altLang="pt-BR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Complementares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01108" y="3233452"/>
            <a:ext cx="8756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OLIVEIRA, A. S., ANDRADE, F. S. 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Sistemas Embarcados: hardware e firmware na prática. 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Editora Érica Saraiva. </a:t>
            </a:r>
            <a:r>
              <a:rPr lang="pt-BR" altLang="pt-B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(Biblioteca FIAP – livro físico)</a:t>
            </a:r>
          </a:p>
          <a:p>
            <a:endParaRPr lang="pt-BR" altLang="pt-B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SOUSA, D.R.; SOUZA, D.J., LAVÍNIA, N. C. 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Desbravando o microcontrolador PIC18: recursos avançados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 Editora Érica Saraiva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alt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PEREIRA, F. 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Microcontroladores PIC: programação em C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 Editora Érica Saraiva.</a:t>
            </a:r>
          </a:p>
          <a:p>
            <a:endParaRPr lang="pt-BR" altLang="pt-B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YIU, J. 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definitive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guide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ARM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Cortex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M3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ARM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Cortex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M4 processors. 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Ed. Elsevier.</a:t>
            </a:r>
          </a:p>
          <a:p>
            <a:endParaRPr lang="pt-BR" alt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SLOSS, A. N., SYMES, D., WRIGHT, C. 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ARM System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Developer’s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Guide</a:t>
            </a:r>
            <a:r>
              <a:rPr lang="pt-BR" alt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alt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Ed. Elsevier.</a:t>
            </a:r>
          </a:p>
        </p:txBody>
      </p:sp>
    </p:spTree>
    <p:extLst>
      <p:ext uri="{BB962C8B-B14F-4D97-AF65-F5344CB8AC3E}">
        <p14:creationId xmlns:p14="http://schemas.microsoft.com/office/powerpoint/2010/main" val="1663932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571975" y="6149052"/>
            <a:ext cx="65" cy="6093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Gotham HTF Book" pitchFamily="2" charset="0"/>
              <a:sym typeface="Avenir Roman"/>
            </a:endParaRPr>
          </a:p>
        </p:txBody>
      </p:sp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15" y="0"/>
            <a:ext cx="458958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4364" y="2781747"/>
            <a:ext cx="34375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3200" dirty="0">
                <a:solidFill>
                  <a:schemeClr val="bg1"/>
                </a:solidFill>
                <a:latin typeface="Gotham HTF Black"/>
              </a:rPr>
              <a:t>CRITÉRIOS DE AVALIAÇÃO</a:t>
            </a:r>
          </a:p>
        </p:txBody>
      </p:sp>
    </p:spTree>
    <p:extLst>
      <p:ext uri="{BB962C8B-B14F-4D97-AF65-F5344CB8AC3E}">
        <p14:creationId xmlns:p14="http://schemas.microsoft.com/office/powerpoint/2010/main" val="1178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https://www.fiap.com.br/wp-content/themes/fiap/2015/img/pronatec/1/cursos/header/informatica/mobi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0024" y="-422276"/>
            <a:ext cx="5715000" cy="3600451"/>
          </a:xfrm>
          <a:prstGeom prst="rect">
            <a:avLst/>
          </a:prstGeom>
          <a:noFill/>
        </p:spPr>
      </p:pic>
      <p:sp>
        <p:nvSpPr>
          <p:cNvPr id="3" name="Retângulo 2"/>
          <p:cNvSpPr/>
          <p:nvPr/>
        </p:nvSpPr>
        <p:spPr>
          <a:xfrm>
            <a:off x="0" y="2631043"/>
            <a:ext cx="9144000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pt-BR" sz="2800" dirty="0" err="1"/>
              <a:t>Metodologia</a:t>
            </a:r>
            <a:endParaRPr lang="pt-BR" sz="2800" dirty="0"/>
          </a:p>
        </p:txBody>
      </p:sp>
      <p:sp>
        <p:nvSpPr>
          <p:cNvPr id="4" name="Espaço Reservado para Conteúdo 3"/>
          <p:cNvSpPr txBox="1">
            <a:spLocks/>
          </p:cNvSpPr>
          <p:nvPr/>
        </p:nvSpPr>
        <p:spPr>
          <a:xfrm>
            <a:off x="392114" y="3204586"/>
            <a:ext cx="8221534" cy="33516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altLang="pt-B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Aulas com objetivos específicos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pt-BR" altLang="pt-BR" sz="2000" b="1" dirty="0">
                <a:solidFill>
                  <a:schemeClr val="bg1"/>
                </a:solidFill>
              </a:rPr>
              <a:t>Exemplos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altLang="pt-B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Exercícios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pt-BR" altLang="pt-BR" sz="2000" b="1" dirty="0">
                <a:solidFill>
                  <a:schemeClr val="bg1"/>
                </a:solidFill>
              </a:rPr>
              <a:t>Programação de Microcontroladores e Simulações</a:t>
            </a:r>
            <a:endParaRPr kumimoji="0" lang="pt-BR" altLang="pt-B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altLang="pt-B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Projetos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pt-BR" altLang="pt-B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Estudos de Caso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557212" y="1614488"/>
            <a:ext cx="820102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cap="all" dirty="0">
                <a:solidFill>
                  <a:srgbClr val="FFFF00"/>
                </a:solidFill>
              </a:rPr>
              <a:t>Critérios para avaliação e aprovação   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As notas semestrais são assim compostas: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pt-BR" sz="2000" dirty="0">
                <a:solidFill>
                  <a:schemeClr val="bg1"/>
                </a:solidFill>
              </a:rPr>
              <a:t> 20% para Nota de Avaliação Continuada (NAC). </a:t>
            </a:r>
          </a:p>
          <a:p>
            <a:pPr>
              <a:buFontTx/>
              <a:buChar char="-"/>
            </a:pPr>
            <a:r>
              <a:rPr lang="pt-BR" sz="2000" dirty="0">
                <a:solidFill>
                  <a:schemeClr val="bg1"/>
                </a:solidFill>
              </a:rPr>
              <a:t> 30% para a Avaliação Multidisciplinar (AM). </a:t>
            </a:r>
          </a:p>
          <a:p>
            <a:pPr>
              <a:buFontTx/>
              <a:buChar char="-"/>
            </a:pPr>
            <a:r>
              <a:rPr lang="pt-BR" sz="2000" dirty="0">
                <a:solidFill>
                  <a:schemeClr val="bg1"/>
                </a:solidFill>
              </a:rPr>
              <a:t> 50% para a Prova Semestral (PS).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O cálculo da Média Semestral (MS) deve levar em consideração o peso de cada avaliação: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2000" dirty="0">
                <a:solidFill>
                  <a:srgbClr val="FFFF00"/>
                </a:solidFill>
              </a:rPr>
              <a:t>MS = (NAC x 0.2 + AM x 0.3 + PS x 0.5)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85751" y="842964"/>
            <a:ext cx="8572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A Média Anual (MA), somente válida para cursos anuais, será obtida pela média das duas Médias Semestrais: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2000" dirty="0">
                <a:solidFill>
                  <a:srgbClr val="FFFF00"/>
                </a:solidFill>
              </a:rPr>
              <a:t>MA = (MS 1º semestre + MS 2º semestre) / 2 </a:t>
            </a:r>
          </a:p>
          <a:p>
            <a:pPr algn="ctr"/>
            <a:endParaRPr lang="pt-BR" sz="2000" dirty="0">
              <a:solidFill>
                <a:srgbClr val="FFFF00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Os critérios de aprovação baseiam‐se na média semestral (para cursos semestrais) ou na média anual (para cursos anuais) obtida pelo aluno, conforme tabela abaixo:</a:t>
            </a: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9662" y="4076701"/>
            <a:ext cx="6888956" cy="17811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00087" y="2328863"/>
            <a:ext cx="78438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rgbClr val="FFFF00"/>
                </a:solidFill>
              </a:rPr>
              <a:t>Caso o aluno fique de Exame, a nota necessária para a sua aprovação passa a ser: </a:t>
            </a:r>
          </a:p>
          <a:p>
            <a:pPr algn="ctr"/>
            <a:endParaRPr lang="pt-BR" sz="2400" dirty="0">
              <a:solidFill>
                <a:srgbClr val="FFFF00"/>
              </a:solidFill>
            </a:endParaRPr>
          </a:p>
          <a:p>
            <a:pPr algn="ctr"/>
            <a:r>
              <a:rPr lang="pt-BR" sz="2400" dirty="0">
                <a:solidFill>
                  <a:srgbClr val="FFFF00"/>
                </a:solidFill>
              </a:rPr>
              <a:t>Nota para aprovação no Exame = (12 – Média Final)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B23B7F2-57FC-0C5F-3285-6249FAD997F9}"/>
              </a:ext>
            </a:extLst>
          </p:cNvPr>
          <p:cNvSpPr/>
          <p:nvPr/>
        </p:nvSpPr>
        <p:spPr>
          <a:xfrm>
            <a:off x="0" y="2912030"/>
            <a:ext cx="9144000" cy="394597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2912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ço Reservado para Conteúdo 3"/>
          <p:cNvSpPr txBox="1">
            <a:spLocks/>
          </p:cNvSpPr>
          <p:nvPr/>
        </p:nvSpPr>
        <p:spPr>
          <a:xfrm>
            <a:off x="0" y="3200400"/>
            <a:ext cx="9144000" cy="1707601"/>
          </a:xfrm>
          <a:prstGeom prst="rect">
            <a:avLst/>
          </a:prstGeom>
        </p:spPr>
        <p:txBody>
          <a:bodyPr/>
          <a:lstStyle/>
          <a:p>
            <a:pPr marR="0" lvl="0" indent="0" algn="ctr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 sz="2800" dirty="0" err="1">
                <a:solidFill>
                  <a:srgbClr val="FFFF00"/>
                </a:solidFill>
              </a:rPr>
              <a:t>NAC´s</a:t>
            </a:r>
            <a:r>
              <a:rPr lang="pt-BR" sz="2800" dirty="0">
                <a:solidFill>
                  <a:srgbClr val="FFFF00"/>
                </a:solidFill>
              </a:rPr>
              <a:t> </a:t>
            </a:r>
          </a:p>
          <a:p>
            <a:pPr marR="0" lvl="0" indent="0" algn="ctr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 sz="2800" dirty="0">
                <a:solidFill>
                  <a:srgbClr val="FFFF00"/>
                </a:solidFill>
              </a:rPr>
              <a:t>Notas de Avaliação Continuada</a:t>
            </a:r>
            <a:endParaRPr lang="en-US" sz="2800" dirty="0">
              <a:solidFill>
                <a:srgbClr val="FFFF00"/>
              </a:solidFill>
            </a:endParaRPr>
          </a:p>
          <a:p>
            <a:pPr marL="0" marR="0" lvl="1" indent="-285750" algn="ctr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800" dirty="0">
                <a:solidFill>
                  <a:srgbClr val="F34B77"/>
                </a:solidFill>
              </a:rPr>
              <a:t>São avaliações aplicadas durante o semestre visando permitir que o professor acompanhe o progresso dos alunos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F81E62C-C7F6-6AF5-88EA-AEB5C8550CDD}"/>
              </a:ext>
            </a:extLst>
          </p:cNvPr>
          <p:cNvSpPr/>
          <p:nvPr/>
        </p:nvSpPr>
        <p:spPr>
          <a:xfrm>
            <a:off x="0" y="2085974"/>
            <a:ext cx="9144000" cy="477202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37477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Conteúdo 3"/>
          <p:cNvSpPr txBox="1">
            <a:spLocks/>
          </p:cNvSpPr>
          <p:nvPr/>
        </p:nvSpPr>
        <p:spPr>
          <a:xfrm>
            <a:off x="0" y="2085974"/>
            <a:ext cx="9144000" cy="419652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indent="0" algn="ctr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r>
              <a:rPr lang="pt-BR" sz="2400" dirty="0">
                <a:solidFill>
                  <a:srgbClr val="FFFF00"/>
                </a:solidFill>
              </a:rPr>
              <a:t>AM - Avaliação Multidisciplinar</a:t>
            </a:r>
          </a:p>
          <a:p>
            <a:pPr lvl="0" indent="0" algn="just">
              <a:buFont typeface="Arial"/>
              <a:buNone/>
            </a:pPr>
            <a:endParaRPr lang="pt-BR" sz="2400" dirty="0">
              <a:solidFill>
                <a:srgbClr val="F34B77"/>
              </a:solidFill>
            </a:endParaRPr>
          </a:p>
          <a:p>
            <a:pPr lvl="0" indent="0" algn="just">
              <a:buFont typeface="Arial"/>
              <a:buNone/>
            </a:pPr>
            <a:r>
              <a:rPr lang="pt-BR" sz="2400" dirty="0">
                <a:solidFill>
                  <a:srgbClr val="F34B77"/>
                </a:solidFill>
              </a:rPr>
              <a:t>AM é um projeto a ser desenvolvido sob a orientação dos professores do grupo de disciplinas que o integram O projeto deve ser desenvolvido ao longo do semestre e a nota da AM deve ser fruto de avaliações parciais e uma avaliação final a serem elaboradas e aplicadas pelos professores das disciplinas que o integram.</a:t>
            </a:r>
          </a:p>
          <a:p>
            <a:pPr lvl="0" indent="0" algn="just">
              <a:buFont typeface="Arial"/>
              <a:buNone/>
            </a:pPr>
            <a:endParaRPr lang="pt-BR" sz="2400" dirty="0">
              <a:solidFill>
                <a:srgbClr val="F34B77"/>
              </a:solidFill>
            </a:endParaRPr>
          </a:p>
          <a:p>
            <a:pPr lvl="0" indent="0" algn="ctr">
              <a:buFont typeface="Arial"/>
              <a:buNone/>
            </a:pPr>
            <a:r>
              <a:rPr lang="en-US" sz="2400" dirty="0" err="1">
                <a:solidFill>
                  <a:srgbClr val="FFFF00"/>
                </a:solidFill>
              </a:rPr>
              <a:t>Substitutiva</a:t>
            </a:r>
            <a:r>
              <a:rPr lang="en-US" sz="2400" dirty="0">
                <a:solidFill>
                  <a:srgbClr val="FFFF00"/>
                </a:solidFill>
              </a:rPr>
              <a:t> de AM (</a:t>
            </a:r>
            <a:r>
              <a:rPr lang="en-US" sz="2400" dirty="0" err="1">
                <a:solidFill>
                  <a:srgbClr val="FFFF00"/>
                </a:solidFill>
              </a:rPr>
              <a:t>não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há</a:t>
            </a:r>
            <a:r>
              <a:rPr lang="en-US" sz="2400" dirty="0">
                <a:solidFill>
                  <a:srgbClr val="FFFF00"/>
                </a:solidFill>
              </a:rPr>
              <a:t> no 2</a:t>
            </a:r>
            <a:r>
              <a:rPr lang="en-US" sz="2400" baseline="30000" dirty="0">
                <a:solidFill>
                  <a:srgbClr val="FFFF00"/>
                </a:solidFill>
              </a:rPr>
              <a:t>o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Semestre</a:t>
            </a:r>
            <a:r>
              <a:rPr lang="en-US" sz="2400" dirty="0">
                <a:solidFill>
                  <a:srgbClr val="FFFF00"/>
                </a:solidFill>
              </a:rPr>
              <a:t> – </a:t>
            </a:r>
            <a:r>
              <a:rPr lang="en-US" sz="2400" dirty="0" err="1">
                <a:solidFill>
                  <a:srgbClr val="FFFF00"/>
                </a:solidFill>
              </a:rPr>
              <a:t>projeto</a:t>
            </a:r>
            <a:r>
              <a:rPr lang="en-US" sz="2400" dirty="0">
                <a:solidFill>
                  <a:srgbClr val="FFFF00"/>
                </a:solidFill>
              </a:rPr>
              <a:t>)</a:t>
            </a:r>
            <a:endParaRPr lang="pt-BR" sz="2400" dirty="0">
              <a:solidFill>
                <a:srgbClr val="FFFF00"/>
              </a:solidFill>
            </a:endParaRPr>
          </a:p>
          <a:p>
            <a:pPr lvl="0" indent="-342900" algn="ctr">
              <a:buFont typeface="Arial"/>
              <a:buChar char="•"/>
            </a:pPr>
            <a:endParaRPr lang="pt-BR" sz="2400" dirty="0">
              <a:solidFill>
                <a:srgbClr val="F34B7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3C44D7C-513A-1E1F-6CF9-7C8D1102A754}"/>
              </a:ext>
            </a:extLst>
          </p:cNvPr>
          <p:cNvSpPr/>
          <p:nvPr/>
        </p:nvSpPr>
        <p:spPr>
          <a:xfrm>
            <a:off x="0" y="2228850"/>
            <a:ext cx="9144000" cy="462915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5178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Espaço Reservado para Conteúdo 3"/>
          <p:cNvSpPr txBox="1">
            <a:spLocks/>
          </p:cNvSpPr>
          <p:nvPr/>
        </p:nvSpPr>
        <p:spPr>
          <a:xfrm>
            <a:off x="0" y="2661475"/>
            <a:ext cx="9144000" cy="419652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indent="0" algn="ctr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r>
              <a:rPr lang="pt-BR" sz="2400" dirty="0">
                <a:solidFill>
                  <a:srgbClr val="FFFF00"/>
                </a:solidFill>
              </a:rPr>
              <a:t>PS - Prova Semestral</a:t>
            </a:r>
          </a:p>
          <a:p>
            <a:pPr lvl="0" indent="0" algn="just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r>
              <a:rPr lang="pt-BR" sz="2400" dirty="0">
                <a:solidFill>
                  <a:srgbClr val="F34B77"/>
                </a:solidFill>
              </a:rPr>
              <a:t>Podem ser escritas, compostas apenas de questões dissertativas ou podem ser práticas aplicadas em laboratório.</a:t>
            </a:r>
          </a:p>
          <a:p>
            <a:pPr lvl="0" indent="0" algn="just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r>
              <a:rPr lang="pt-BR" sz="2400" dirty="0">
                <a:solidFill>
                  <a:srgbClr val="F34B77"/>
                </a:solidFill>
              </a:rPr>
              <a:t>Todo o conteúdo ministrado no semestre será cobrado na PS. </a:t>
            </a:r>
          </a:p>
          <a:p>
            <a:pPr lvl="0" indent="0" algn="just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endParaRPr lang="pt-BR" sz="2400" dirty="0">
              <a:solidFill>
                <a:srgbClr val="F34B77"/>
              </a:solidFill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r>
              <a:rPr lang="pt-BR" sz="2400" dirty="0">
                <a:solidFill>
                  <a:srgbClr val="FFFF00"/>
                </a:solidFill>
              </a:rPr>
              <a:t>Haverá PS substitutivas.</a:t>
            </a:r>
          </a:p>
          <a:p>
            <a:pPr lvl="0" indent="-342900" algn="ctr">
              <a:buFont typeface="Arial"/>
              <a:buChar char="•"/>
            </a:pPr>
            <a:endParaRPr lang="pt-BR" sz="2400" dirty="0">
              <a:solidFill>
                <a:srgbClr val="F34B7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963EB7-883E-8817-FCD4-0EA0DE0CA006}"/>
              </a:ext>
            </a:extLst>
          </p:cNvPr>
          <p:cNvSpPr/>
          <p:nvPr/>
        </p:nvSpPr>
        <p:spPr>
          <a:xfrm>
            <a:off x="0" y="2912030"/>
            <a:ext cx="9144000" cy="394597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6063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ço Reservado para Conteúdo 3"/>
          <p:cNvSpPr txBox="1">
            <a:spLocks/>
          </p:cNvSpPr>
          <p:nvPr/>
        </p:nvSpPr>
        <p:spPr>
          <a:xfrm>
            <a:off x="2062" y="3143250"/>
            <a:ext cx="9144000" cy="348615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indent="0" algn="ctr">
              <a:lnSpc>
                <a:spcPct val="150000"/>
              </a:lnSpc>
              <a:spcBef>
                <a:spcPct val="20000"/>
              </a:spcBef>
              <a:buFont typeface="Arial"/>
              <a:buNone/>
            </a:pPr>
            <a:r>
              <a:rPr lang="pt-BR" sz="2400" dirty="0">
                <a:solidFill>
                  <a:srgbClr val="FFFF00"/>
                </a:solidFill>
              </a:rPr>
              <a:t>PE - Prova de Exame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pt-BR" sz="2400" dirty="0">
                <a:solidFill>
                  <a:srgbClr val="F34B77"/>
                </a:solidFill>
              </a:rPr>
              <a:t>Compostas de questões que abrangerão todo o conteúdo ministrado no ano. Não haverá prova de exame substitutiva.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pt-BR" sz="2400" dirty="0">
                <a:solidFill>
                  <a:srgbClr val="F34B77"/>
                </a:solidFill>
              </a:rPr>
              <a:t>Os alunos poderão requerer a revisão das provas de exame através de protocolo na Secretaria da FIAP. </a:t>
            </a: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r>
              <a:rPr lang="pt-BR" sz="2400" dirty="0">
                <a:solidFill>
                  <a:srgbClr val="FFFF00"/>
                </a:solidFill>
              </a:rPr>
              <a:t>Todo exame é teórico</a:t>
            </a:r>
          </a:p>
          <a:p>
            <a:pPr algn="ctr">
              <a:lnSpc>
                <a:spcPct val="150000"/>
              </a:lnSpc>
              <a:spcBef>
                <a:spcPct val="20000"/>
              </a:spcBef>
            </a:pPr>
            <a:endParaRPr lang="pt-BR" sz="2400" dirty="0">
              <a:solidFill>
                <a:srgbClr val="FFFF00"/>
              </a:solidFill>
            </a:endParaRPr>
          </a:p>
          <a:p>
            <a:pPr lvl="0" indent="-342900" algn="ctr">
              <a:buFont typeface="Arial"/>
              <a:buChar char="•"/>
            </a:pPr>
            <a:endParaRPr lang="pt-BR" sz="2400" dirty="0">
              <a:solidFill>
                <a:srgbClr val="F34B7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tângulo 2"/>
          <p:cNvSpPr/>
          <p:nvPr/>
        </p:nvSpPr>
        <p:spPr>
          <a:xfrm>
            <a:off x="0" y="5114955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pt-BR" sz="4400" dirty="0">
                <a:solidFill>
                  <a:schemeClr val="accent2">
                    <a:lumMod val="75000"/>
                  </a:schemeClr>
                </a:solidFill>
              </a:rPr>
              <a:t>[ </a:t>
            </a:r>
            <a:r>
              <a:rPr lang="en-US" altLang="pt-BR" sz="4400" dirty="0" err="1">
                <a:solidFill>
                  <a:schemeClr val="accent2">
                    <a:lumMod val="75000"/>
                  </a:schemeClr>
                </a:solidFill>
              </a:rPr>
              <a:t>Pontos</a:t>
            </a:r>
            <a:r>
              <a:rPr lang="en-US" altLang="pt-BR" sz="44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en-US" altLang="pt-BR" sz="4400" dirty="0" err="1">
                <a:solidFill>
                  <a:schemeClr val="accent2">
                    <a:lumMod val="75000"/>
                  </a:schemeClr>
                </a:solidFill>
              </a:rPr>
              <a:t>Atenção</a:t>
            </a:r>
            <a:r>
              <a:rPr lang="en-US" altLang="pt-BR" sz="4400" dirty="0">
                <a:solidFill>
                  <a:schemeClr val="accent2">
                    <a:lumMod val="75000"/>
                  </a:schemeClr>
                </a:solidFill>
              </a:rPr>
              <a:t> ]</a:t>
            </a:r>
            <a:endParaRPr lang="pt-BR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/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9105462-52BE-E1BB-49F3-2AA696C22D68}"/>
              </a:ext>
            </a:extLst>
          </p:cNvPr>
          <p:cNvSpPr/>
          <p:nvPr/>
        </p:nvSpPr>
        <p:spPr>
          <a:xfrm>
            <a:off x="0" y="0"/>
            <a:ext cx="4756826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Picture 3" descr="28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5446" y="0"/>
            <a:ext cx="4548554" cy="6858000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155CB4BE-99F5-428A-90AF-50059164B55D}"/>
              </a:ext>
            </a:extLst>
          </p:cNvPr>
          <p:cNvGrpSpPr/>
          <p:nvPr/>
        </p:nvGrpSpPr>
        <p:grpSpPr>
          <a:xfrm>
            <a:off x="295109" y="3135880"/>
            <a:ext cx="4157457" cy="3299189"/>
            <a:chOff x="295109" y="2919572"/>
            <a:chExt cx="4157457" cy="3299189"/>
          </a:xfrm>
        </p:grpSpPr>
        <p:pic>
          <p:nvPicPr>
            <p:cNvPr id="5" name="Picture 18" descr="03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5109" y="2919572"/>
              <a:ext cx="4157457" cy="3299189"/>
            </a:xfrm>
            <a:prstGeom prst="rect">
              <a:avLst/>
            </a:prstGeom>
          </p:spPr>
        </p:pic>
        <p:sp>
          <p:nvSpPr>
            <p:cNvPr id="6" name="TextBox 4"/>
            <p:cNvSpPr txBox="1"/>
            <p:nvPr/>
          </p:nvSpPr>
          <p:spPr>
            <a:xfrm>
              <a:off x="610636" y="3385835"/>
              <a:ext cx="3437538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Jamais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considere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seus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estudos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como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uma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obrigação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, mas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como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uma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oportunidade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invejável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para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aprender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a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conhecer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a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influência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libertadora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da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beleza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do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reino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do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espírito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,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para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seu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próprio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prazer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pessoal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e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para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proveito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da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comunidade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à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qual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seu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futuro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trabalho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radley Hand Bold"/>
                  <a:cs typeface="Bradley Hand Bold"/>
                </a:rPr>
                <a:t>pertencer</a:t>
              </a:r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. </a:t>
              </a:r>
            </a:p>
            <a:p>
              <a:pPr algn="just"/>
              <a:endParaRPr lang="en-US" sz="1600" b="1" dirty="0">
                <a:solidFill>
                  <a:schemeClr val="bg1"/>
                </a:solidFill>
                <a:latin typeface="Bradley Hand Bold"/>
                <a:cs typeface="Bradley Hand Bold"/>
              </a:endParaRPr>
            </a:p>
            <a:p>
              <a:pPr algn="r"/>
              <a:r>
                <a:rPr lang="en-US" sz="1600" b="1" dirty="0">
                  <a:solidFill>
                    <a:schemeClr val="bg1"/>
                  </a:solidFill>
                  <a:latin typeface="Bradley Hand Bold"/>
                  <a:cs typeface="Bradley Hand Bold"/>
                </a:rPr>
                <a:t>Albert Einstein</a:t>
              </a:r>
            </a:p>
          </p:txBody>
        </p:sp>
      </p:grpSp>
      <p:pic>
        <p:nvPicPr>
          <p:cNvPr id="1026" name="Picture 2" descr="Resultado de imagem para albert Einstein&quot;">
            <a:extLst>
              <a:ext uri="{FF2B5EF4-FFF2-40B4-BE49-F238E27FC236}">
                <a16:creationId xmlns:a16="http://schemas.microsoft.com/office/drawing/2014/main" id="{A6A19F3B-2960-4BD9-A62F-1D20CCA24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43" y="534167"/>
            <a:ext cx="3269642" cy="245223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69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final.mp4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Espaço Reservado para Imagem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5412" y="642938"/>
            <a:ext cx="8440615" cy="57165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7192</TotalTime>
  <Words>1026</Words>
  <Application>Microsoft Office PowerPoint</Application>
  <PresentationFormat>Apresentação na tela (4:3)</PresentationFormat>
  <Paragraphs>121</Paragraphs>
  <Slides>24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24</vt:i4>
      </vt:variant>
    </vt:vector>
  </HeadingPairs>
  <TitlesOfParts>
    <vt:vector size="35" baseType="lpstr">
      <vt:lpstr>Arial</vt:lpstr>
      <vt:lpstr>Bradley Hand Bold</vt:lpstr>
      <vt:lpstr>Calibri</vt:lpstr>
      <vt:lpstr>Gotham HTF Black</vt:lpstr>
      <vt:lpstr>Gotham HTF Book</vt:lpstr>
      <vt:lpstr>Gotham HTF Light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353</cp:revision>
  <dcterms:created xsi:type="dcterms:W3CDTF">2015-01-30T10:46:50Z</dcterms:created>
  <dcterms:modified xsi:type="dcterms:W3CDTF">2023-02-09T18:02:40Z</dcterms:modified>
</cp:coreProperties>
</file>