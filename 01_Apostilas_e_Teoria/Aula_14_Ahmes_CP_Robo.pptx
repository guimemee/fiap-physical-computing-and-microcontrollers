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2"/>
  </p:notesMasterIdLst>
  <p:handoutMasterIdLst>
    <p:handoutMasterId r:id="rId13"/>
  </p:handoutMasterIdLst>
  <p:sldIdLst>
    <p:sldId id="256" r:id="rId6"/>
    <p:sldId id="487" r:id="rId7"/>
    <p:sldId id="658" r:id="rId8"/>
    <p:sldId id="572" r:id="rId9"/>
    <p:sldId id="533" r:id="rId10"/>
    <p:sldId id="265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 autoAdjust="0"/>
    <p:restoredTop sz="94786" autoAdjust="0"/>
  </p:normalViewPr>
  <p:slideViewPr>
    <p:cSldViewPr snapToGrid="0" snapToObjects="1">
      <p:cViewPr varScale="1">
        <p:scale>
          <a:sx n="75" d="100"/>
          <a:sy n="75" d="100"/>
        </p:scale>
        <p:origin x="403" y="62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06/05/2025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457175" y="274474"/>
            <a:ext cx="8228695" cy="114204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350" b="0" i="0" u="none" strike="noStrike" cap="none"/>
            </a:lvl1pPr>
            <a:lvl2pPr marL="0" marR="0" lvl="1" indent="0" algn="l" rtl="0">
              <a:spcBef>
                <a:spcPts val="0"/>
              </a:spcBef>
              <a:buNone/>
              <a:defRPr sz="1350" b="0" i="0" u="none" strike="noStrike" cap="none"/>
            </a:lvl2pPr>
            <a:lvl3pPr marL="0" marR="0" lvl="2" indent="0" algn="l" rtl="0">
              <a:spcBef>
                <a:spcPts val="0"/>
              </a:spcBef>
              <a:buNone/>
              <a:defRPr sz="1350" b="0" i="0" u="none" strike="noStrike" cap="none"/>
            </a:lvl3pPr>
            <a:lvl4pPr marL="0" marR="0" lvl="3" indent="0" algn="l" rtl="0">
              <a:spcBef>
                <a:spcPts val="0"/>
              </a:spcBef>
              <a:buNone/>
              <a:defRPr sz="1350" b="0" i="0" u="none" strike="noStrike" cap="none"/>
            </a:lvl4pPr>
            <a:lvl5pPr marL="0" marR="0" lvl="4" indent="0" algn="l" rtl="0">
              <a:spcBef>
                <a:spcPts val="0"/>
              </a:spcBef>
              <a:buNone/>
              <a:defRPr sz="1350" b="0" i="0" u="none" strike="noStrike" cap="none"/>
            </a:lvl5pPr>
            <a:lvl6pPr marL="0" marR="0" lvl="5" indent="0" algn="l" rtl="0">
              <a:spcBef>
                <a:spcPts val="0"/>
              </a:spcBef>
              <a:buNone/>
              <a:defRPr sz="1350" b="0" i="0" u="none" strike="noStrike" cap="none"/>
            </a:lvl6pPr>
            <a:lvl7pPr marL="0" marR="0" lvl="6" indent="0" algn="l" rtl="0">
              <a:spcBef>
                <a:spcPts val="0"/>
              </a:spcBef>
              <a:buNone/>
              <a:defRPr sz="1350" b="0" i="0" u="none" strike="noStrike" cap="none"/>
            </a:lvl7pPr>
            <a:lvl8pPr marL="0" marR="0" lvl="7" indent="0" algn="l" rtl="0">
              <a:spcBef>
                <a:spcPts val="0"/>
              </a:spcBef>
              <a:buNone/>
              <a:defRPr sz="1350" b="0" i="0" u="none" strike="noStrike" cap="none"/>
            </a:lvl8pPr>
            <a:lvl9pPr marL="0" marR="0" lvl="8" indent="0" algn="l" rtl="0">
              <a:spcBef>
                <a:spcPts val="0"/>
              </a:spcBef>
              <a:buNone/>
              <a:defRPr sz="1350" b="0" i="0" u="none" strike="noStrike" cap="none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457175" y="1599839"/>
            <a:ext cx="8228695" cy="452452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350" b="0" i="0" u="none" strike="noStrike" cap="none"/>
            </a:lvl1pPr>
            <a:lvl2pPr marL="342725" marR="0" lvl="1" indent="0" algn="l" rtl="0">
              <a:spcBef>
                <a:spcPts val="0"/>
              </a:spcBef>
              <a:buNone/>
              <a:defRPr sz="1350" b="0" i="0" u="none" strike="noStrike" cap="none"/>
            </a:lvl2pPr>
            <a:lvl3pPr marL="685452" marR="0" lvl="2" indent="0" algn="l" rtl="0">
              <a:spcBef>
                <a:spcPts val="0"/>
              </a:spcBef>
              <a:buNone/>
              <a:defRPr sz="1350" b="0" i="0" u="none" strike="noStrike" cap="none"/>
            </a:lvl3pPr>
            <a:lvl4pPr marL="1028177" marR="0" lvl="3" indent="0" algn="l" rtl="0">
              <a:spcBef>
                <a:spcPts val="0"/>
              </a:spcBef>
              <a:buNone/>
              <a:defRPr sz="1350" b="0" i="0" u="none" strike="noStrike" cap="none"/>
            </a:lvl4pPr>
            <a:lvl5pPr marL="1370903" marR="0" lvl="4" indent="0" algn="l" rtl="0">
              <a:spcBef>
                <a:spcPts val="0"/>
              </a:spcBef>
              <a:buNone/>
              <a:defRPr sz="1350" b="0" i="0" u="none" strike="noStrike" cap="none"/>
            </a:lvl5pPr>
            <a:lvl6pPr marL="1713628" marR="0" lvl="5" indent="0" algn="l" rtl="0">
              <a:spcBef>
                <a:spcPts val="0"/>
              </a:spcBef>
              <a:buNone/>
              <a:defRPr sz="1350" b="0" i="0" u="none" strike="noStrike" cap="none"/>
            </a:lvl6pPr>
            <a:lvl7pPr marL="2056355" marR="0" lvl="6" indent="0" algn="l" rtl="0">
              <a:spcBef>
                <a:spcPts val="0"/>
              </a:spcBef>
              <a:buNone/>
              <a:defRPr sz="1350" b="0" i="0" u="none" strike="noStrike" cap="none"/>
            </a:lvl7pPr>
            <a:lvl8pPr marL="2399080" marR="0" lvl="7" indent="0" algn="l" rtl="0">
              <a:spcBef>
                <a:spcPts val="0"/>
              </a:spcBef>
              <a:buNone/>
              <a:defRPr sz="1350" b="0" i="0" u="none" strike="noStrike" cap="none"/>
            </a:lvl8pPr>
            <a:lvl9pPr marL="2741805" marR="0" lvl="8" indent="0" algn="l" rtl="0">
              <a:spcBef>
                <a:spcPts val="0"/>
              </a:spcBef>
              <a:buNone/>
              <a:defRPr sz="135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96761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  <p:sldLayoutId id="2147483756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725622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NAC: Robô! Entrega 20/05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FD461B-9817-A2BC-651D-7283361B771A}"/>
              </a:ext>
            </a:extLst>
          </p:cNvPr>
          <p:cNvSpPr txBox="1"/>
          <p:nvPr/>
        </p:nvSpPr>
        <p:spPr>
          <a:xfrm>
            <a:off x="784111" y="1811002"/>
            <a:ext cx="75561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Desenvolva um programa no </a:t>
            </a:r>
            <a:r>
              <a:rPr lang="pt-BR" dirty="0" err="1"/>
              <a:t>Ahmes</a:t>
            </a:r>
            <a:r>
              <a:rPr lang="pt-BR" dirty="0"/>
              <a:t> para o controle do movimento de um robô! O robô recebe os seguintes códigos para executar os movimentos:</a:t>
            </a:r>
          </a:p>
          <a:p>
            <a:endParaRPr lang="pt-BR" dirty="0"/>
          </a:p>
          <a:p>
            <a:r>
              <a:rPr lang="pt-BR" dirty="0"/>
              <a:t>Parado = 000</a:t>
            </a:r>
          </a:p>
          <a:p>
            <a:r>
              <a:rPr lang="pt-BR" dirty="0"/>
              <a:t>          u = 001</a:t>
            </a:r>
          </a:p>
          <a:p>
            <a:r>
              <a:rPr lang="pt-BR" dirty="0"/>
              <a:t>          d = 010</a:t>
            </a:r>
          </a:p>
          <a:p>
            <a:r>
              <a:rPr lang="pt-BR" dirty="0"/>
              <a:t>           r =  011</a:t>
            </a:r>
          </a:p>
          <a:p>
            <a:r>
              <a:rPr lang="pt-BR" dirty="0"/>
              <a:t>           l =  100</a:t>
            </a:r>
          </a:p>
          <a:p>
            <a:r>
              <a:rPr lang="pt-BR" dirty="0"/>
              <a:t>           s = 101</a:t>
            </a:r>
          </a:p>
          <a:p>
            <a:endParaRPr lang="pt-BR" dirty="0"/>
          </a:p>
          <a:p>
            <a:r>
              <a:rPr lang="pt-BR" dirty="0"/>
              <a:t>Utilize um ou mais “microcontroladores” que podem se comunicar, para o controle dos movimentos do robô.</a:t>
            </a:r>
          </a:p>
          <a:p>
            <a:endParaRPr lang="pt-BR" dirty="0"/>
          </a:p>
          <a:p>
            <a:r>
              <a:rPr lang="pt-BR" dirty="0"/>
              <a:t>Para mais detalhes, veja os próximos slides.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2FFE7C0-3685-705B-5D6A-96CFBBAF3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608" y="1214094"/>
            <a:ext cx="34535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 u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Grupo de 3 alunos</a:t>
            </a:r>
          </a:p>
        </p:txBody>
      </p:sp>
    </p:spTree>
    <p:extLst>
      <p:ext uri="{BB962C8B-B14F-4D97-AF65-F5344CB8AC3E}">
        <p14:creationId xmlns:p14="http://schemas.microsoft.com/office/powerpoint/2010/main" val="369449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FF6C12B-C543-43E2-A5E6-677EDC231F30}"/>
              </a:ext>
            </a:extLst>
          </p:cNvPr>
          <p:cNvSpPr/>
          <p:nvPr/>
        </p:nvSpPr>
        <p:spPr>
          <a:xfrm>
            <a:off x="2463739" y="493555"/>
            <a:ext cx="6680262" cy="5143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9" dirty="0"/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51263691-C8B6-4812-A034-7B7400804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758675"/>
              </p:ext>
            </p:extLst>
          </p:nvPr>
        </p:nvGraphicFramePr>
        <p:xfrm>
          <a:off x="1644981" y="752303"/>
          <a:ext cx="2784282" cy="88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921">
                  <a:extLst>
                    <a:ext uri="{9D8B030D-6E8A-4147-A177-3AD203B41FA5}">
                      <a16:colId xmlns:a16="http://schemas.microsoft.com/office/drawing/2014/main" val="744701541"/>
                    </a:ext>
                  </a:extLst>
                </a:gridCol>
                <a:gridCol w="533215">
                  <a:extLst>
                    <a:ext uri="{9D8B030D-6E8A-4147-A177-3AD203B41FA5}">
                      <a16:colId xmlns:a16="http://schemas.microsoft.com/office/drawing/2014/main" val="3458747809"/>
                    </a:ext>
                  </a:extLst>
                </a:gridCol>
                <a:gridCol w="539563">
                  <a:extLst>
                    <a:ext uri="{9D8B030D-6E8A-4147-A177-3AD203B41FA5}">
                      <a16:colId xmlns:a16="http://schemas.microsoft.com/office/drawing/2014/main" val="3433287568"/>
                    </a:ext>
                  </a:extLst>
                </a:gridCol>
                <a:gridCol w="869583">
                  <a:extLst>
                    <a:ext uri="{9D8B030D-6E8A-4147-A177-3AD203B41FA5}">
                      <a16:colId xmlns:a16="http://schemas.microsoft.com/office/drawing/2014/main" val="3494790575"/>
                    </a:ext>
                  </a:extLst>
                </a:gridCol>
              </a:tblGrid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Pino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Motor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267242865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Parado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2463269986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 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frente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157890230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trás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4095023379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2F9A8487-5BDA-4937-BE33-87C77FC48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730031"/>
              </p:ext>
            </p:extLst>
          </p:nvPr>
        </p:nvGraphicFramePr>
        <p:xfrm>
          <a:off x="4522256" y="752303"/>
          <a:ext cx="2774273" cy="88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720">
                  <a:extLst>
                    <a:ext uri="{9D8B030D-6E8A-4147-A177-3AD203B41FA5}">
                      <a16:colId xmlns:a16="http://schemas.microsoft.com/office/drawing/2014/main" val="744701541"/>
                    </a:ext>
                  </a:extLst>
                </a:gridCol>
                <a:gridCol w="569780">
                  <a:extLst>
                    <a:ext uri="{9D8B030D-6E8A-4147-A177-3AD203B41FA5}">
                      <a16:colId xmlns:a16="http://schemas.microsoft.com/office/drawing/2014/main" val="3458747809"/>
                    </a:ext>
                  </a:extLst>
                </a:gridCol>
                <a:gridCol w="537560">
                  <a:extLst>
                    <a:ext uri="{9D8B030D-6E8A-4147-A177-3AD203B41FA5}">
                      <a16:colId xmlns:a16="http://schemas.microsoft.com/office/drawing/2014/main" val="3433287568"/>
                    </a:ext>
                  </a:extLst>
                </a:gridCol>
                <a:gridCol w="825213">
                  <a:extLst>
                    <a:ext uri="{9D8B030D-6E8A-4147-A177-3AD203B41FA5}">
                      <a16:colId xmlns:a16="http://schemas.microsoft.com/office/drawing/2014/main" val="3494790575"/>
                    </a:ext>
                  </a:extLst>
                </a:gridCol>
              </a:tblGrid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Pino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Motor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267242865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Parado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2463269986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frente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157890230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trás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4095023379"/>
                  </a:ext>
                </a:extLst>
              </a:tr>
            </a:tbl>
          </a:graphicData>
        </a:graphic>
      </p:graphicFrame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57AC35B1-C5A0-445D-86AE-92DB3B0AFBEA}"/>
              </a:ext>
            </a:extLst>
          </p:cNvPr>
          <p:cNvSpPr/>
          <p:nvPr/>
        </p:nvSpPr>
        <p:spPr>
          <a:xfrm>
            <a:off x="1181354" y="989902"/>
            <a:ext cx="370633" cy="2265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9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B0B6462-8241-9D0E-2EE6-9069F7D55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225635"/>
              </p:ext>
            </p:extLst>
          </p:nvPr>
        </p:nvGraphicFramePr>
        <p:xfrm>
          <a:off x="1644981" y="3201522"/>
          <a:ext cx="2784282" cy="88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921">
                  <a:extLst>
                    <a:ext uri="{9D8B030D-6E8A-4147-A177-3AD203B41FA5}">
                      <a16:colId xmlns:a16="http://schemas.microsoft.com/office/drawing/2014/main" val="744701541"/>
                    </a:ext>
                  </a:extLst>
                </a:gridCol>
                <a:gridCol w="533215">
                  <a:extLst>
                    <a:ext uri="{9D8B030D-6E8A-4147-A177-3AD203B41FA5}">
                      <a16:colId xmlns:a16="http://schemas.microsoft.com/office/drawing/2014/main" val="3458747809"/>
                    </a:ext>
                  </a:extLst>
                </a:gridCol>
                <a:gridCol w="539563">
                  <a:extLst>
                    <a:ext uri="{9D8B030D-6E8A-4147-A177-3AD203B41FA5}">
                      <a16:colId xmlns:a16="http://schemas.microsoft.com/office/drawing/2014/main" val="3433287568"/>
                    </a:ext>
                  </a:extLst>
                </a:gridCol>
                <a:gridCol w="869583">
                  <a:extLst>
                    <a:ext uri="{9D8B030D-6E8A-4147-A177-3AD203B41FA5}">
                      <a16:colId xmlns:a16="http://schemas.microsoft.com/office/drawing/2014/main" val="3494790575"/>
                    </a:ext>
                  </a:extLst>
                </a:gridCol>
              </a:tblGrid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Pino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Motor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267242865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Parado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2463269986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frente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157890230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trás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4095023379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03D9D438-7E6B-E9FB-DF3A-AC1874EEA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758277"/>
              </p:ext>
            </p:extLst>
          </p:nvPr>
        </p:nvGraphicFramePr>
        <p:xfrm>
          <a:off x="4522256" y="3201522"/>
          <a:ext cx="2774273" cy="88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720">
                  <a:extLst>
                    <a:ext uri="{9D8B030D-6E8A-4147-A177-3AD203B41FA5}">
                      <a16:colId xmlns:a16="http://schemas.microsoft.com/office/drawing/2014/main" val="744701541"/>
                    </a:ext>
                  </a:extLst>
                </a:gridCol>
                <a:gridCol w="569780">
                  <a:extLst>
                    <a:ext uri="{9D8B030D-6E8A-4147-A177-3AD203B41FA5}">
                      <a16:colId xmlns:a16="http://schemas.microsoft.com/office/drawing/2014/main" val="3458747809"/>
                    </a:ext>
                  </a:extLst>
                </a:gridCol>
                <a:gridCol w="537560">
                  <a:extLst>
                    <a:ext uri="{9D8B030D-6E8A-4147-A177-3AD203B41FA5}">
                      <a16:colId xmlns:a16="http://schemas.microsoft.com/office/drawing/2014/main" val="3433287568"/>
                    </a:ext>
                  </a:extLst>
                </a:gridCol>
                <a:gridCol w="825213">
                  <a:extLst>
                    <a:ext uri="{9D8B030D-6E8A-4147-A177-3AD203B41FA5}">
                      <a16:colId xmlns:a16="http://schemas.microsoft.com/office/drawing/2014/main" val="3494790575"/>
                    </a:ext>
                  </a:extLst>
                </a:gridCol>
              </a:tblGrid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Pino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Motor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267242865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Parado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2463269986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frente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157890230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trás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4095023379"/>
                  </a:ext>
                </a:extLst>
              </a:tr>
            </a:tbl>
          </a:graphicData>
        </a:graphic>
      </p:graphicFrame>
      <p:pic>
        <p:nvPicPr>
          <p:cNvPr id="10" name="Imagem 9">
            <a:extLst>
              <a:ext uri="{FF2B5EF4-FFF2-40B4-BE49-F238E27FC236}">
                <a16:creationId xmlns:a16="http://schemas.microsoft.com/office/drawing/2014/main" id="{71C4F3A8-BF7F-BF68-4634-2648C76F7700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985" y="1938315"/>
            <a:ext cx="3089691" cy="118188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259D56BF-CF54-03B1-8217-F682B07221A7}"/>
              </a:ext>
            </a:extLst>
          </p:cNvPr>
          <p:cNvSpPr/>
          <p:nvPr/>
        </p:nvSpPr>
        <p:spPr>
          <a:xfrm>
            <a:off x="1181354" y="3643033"/>
            <a:ext cx="370633" cy="2265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9"/>
          </a:p>
        </p:txBody>
      </p:sp>
      <p:graphicFrame>
        <p:nvGraphicFramePr>
          <p:cNvPr id="26" name="Tabela 25">
            <a:extLst>
              <a:ext uri="{FF2B5EF4-FFF2-40B4-BE49-F238E27FC236}">
                <a16:creationId xmlns:a16="http://schemas.microsoft.com/office/drawing/2014/main" id="{A77626B1-66C9-D292-D8F3-6F1BFDDF5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437650"/>
              </p:ext>
            </p:extLst>
          </p:nvPr>
        </p:nvGraphicFramePr>
        <p:xfrm>
          <a:off x="1644981" y="5497133"/>
          <a:ext cx="2784282" cy="88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921">
                  <a:extLst>
                    <a:ext uri="{9D8B030D-6E8A-4147-A177-3AD203B41FA5}">
                      <a16:colId xmlns:a16="http://schemas.microsoft.com/office/drawing/2014/main" val="744701541"/>
                    </a:ext>
                  </a:extLst>
                </a:gridCol>
                <a:gridCol w="533215">
                  <a:extLst>
                    <a:ext uri="{9D8B030D-6E8A-4147-A177-3AD203B41FA5}">
                      <a16:colId xmlns:a16="http://schemas.microsoft.com/office/drawing/2014/main" val="3458747809"/>
                    </a:ext>
                  </a:extLst>
                </a:gridCol>
                <a:gridCol w="539563">
                  <a:extLst>
                    <a:ext uri="{9D8B030D-6E8A-4147-A177-3AD203B41FA5}">
                      <a16:colId xmlns:a16="http://schemas.microsoft.com/office/drawing/2014/main" val="3433287568"/>
                    </a:ext>
                  </a:extLst>
                </a:gridCol>
                <a:gridCol w="869583">
                  <a:extLst>
                    <a:ext uri="{9D8B030D-6E8A-4147-A177-3AD203B41FA5}">
                      <a16:colId xmlns:a16="http://schemas.microsoft.com/office/drawing/2014/main" val="3494790575"/>
                    </a:ext>
                  </a:extLst>
                </a:gridCol>
              </a:tblGrid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Pino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9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Motor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267242865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Parado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2463269986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frente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157890230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trás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4095023379"/>
                  </a:ext>
                </a:extLst>
              </a:tr>
            </a:tbl>
          </a:graphicData>
        </a:graphic>
      </p:graphicFrame>
      <p:graphicFrame>
        <p:nvGraphicFramePr>
          <p:cNvPr id="27" name="Tabela 26">
            <a:extLst>
              <a:ext uri="{FF2B5EF4-FFF2-40B4-BE49-F238E27FC236}">
                <a16:creationId xmlns:a16="http://schemas.microsoft.com/office/drawing/2014/main" id="{F13B4495-5BD3-0ADA-53DD-F9BB15053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815267"/>
              </p:ext>
            </p:extLst>
          </p:nvPr>
        </p:nvGraphicFramePr>
        <p:xfrm>
          <a:off x="4522256" y="5497133"/>
          <a:ext cx="2774273" cy="88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720">
                  <a:extLst>
                    <a:ext uri="{9D8B030D-6E8A-4147-A177-3AD203B41FA5}">
                      <a16:colId xmlns:a16="http://schemas.microsoft.com/office/drawing/2014/main" val="744701541"/>
                    </a:ext>
                  </a:extLst>
                </a:gridCol>
                <a:gridCol w="569780">
                  <a:extLst>
                    <a:ext uri="{9D8B030D-6E8A-4147-A177-3AD203B41FA5}">
                      <a16:colId xmlns:a16="http://schemas.microsoft.com/office/drawing/2014/main" val="3458747809"/>
                    </a:ext>
                  </a:extLst>
                </a:gridCol>
                <a:gridCol w="537560">
                  <a:extLst>
                    <a:ext uri="{9D8B030D-6E8A-4147-A177-3AD203B41FA5}">
                      <a16:colId xmlns:a16="http://schemas.microsoft.com/office/drawing/2014/main" val="3433287568"/>
                    </a:ext>
                  </a:extLst>
                </a:gridCol>
                <a:gridCol w="825213">
                  <a:extLst>
                    <a:ext uri="{9D8B030D-6E8A-4147-A177-3AD203B41FA5}">
                      <a16:colId xmlns:a16="http://schemas.microsoft.com/office/drawing/2014/main" val="3494790575"/>
                    </a:ext>
                  </a:extLst>
                </a:gridCol>
              </a:tblGrid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Pino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5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Motor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267242865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Parado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2463269986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frente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1157890230"/>
                  </a:ext>
                </a:extLst>
              </a:tr>
              <a:tr h="2209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Valor escrito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0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</a:t>
                      </a:r>
                    </a:p>
                  </a:txBody>
                  <a:tcPr marL="68556" marR="68556" marT="34278" marB="3427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Para trás</a:t>
                      </a:r>
                    </a:p>
                  </a:txBody>
                  <a:tcPr marL="68556" marR="68556" marT="34278" marB="34278"/>
                </a:tc>
                <a:extLst>
                  <a:ext uri="{0D108BD9-81ED-4DB2-BD59-A6C34878D82A}">
                    <a16:rowId xmlns:a16="http://schemas.microsoft.com/office/drawing/2014/main" val="4095023379"/>
                  </a:ext>
                </a:extLst>
              </a:tr>
            </a:tbl>
          </a:graphicData>
        </a:graphic>
      </p:graphicFrame>
      <p:pic>
        <p:nvPicPr>
          <p:cNvPr id="28" name="Imagem 27">
            <a:extLst>
              <a:ext uri="{FF2B5EF4-FFF2-40B4-BE49-F238E27FC236}">
                <a16:creationId xmlns:a16="http://schemas.microsoft.com/office/drawing/2014/main" id="{06E13A52-54D7-4D1A-2AE5-01010BCD075A}"/>
              </a:ext>
            </a:extLst>
          </p:cNvPr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293" y="4179988"/>
            <a:ext cx="2968100" cy="125466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75D169AA-66E2-FA09-E1B9-8BC1FE0B5619}"/>
              </a:ext>
            </a:extLst>
          </p:cNvPr>
          <p:cNvSpPr/>
          <p:nvPr/>
        </p:nvSpPr>
        <p:spPr>
          <a:xfrm>
            <a:off x="1181354" y="6163651"/>
            <a:ext cx="370633" cy="2265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9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7D8BA91-5B7A-31B9-CC38-83354FD92F4F}"/>
              </a:ext>
            </a:extLst>
          </p:cNvPr>
          <p:cNvSpPr txBox="1"/>
          <p:nvPr/>
        </p:nvSpPr>
        <p:spPr>
          <a:xfrm>
            <a:off x="3323762" y="119389"/>
            <a:ext cx="2295762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99" dirty="0">
                <a:solidFill>
                  <a:srgbClr val="00F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Parado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1935A0D-ABC2-FC0B-8C16-6B3B3C0A1BE1}"/>
              </a:ext>
            </a:extLst>
          </p:cNvPr>
          <p:cNvSpPr txBox="1"/>
          <p:nvPr/>
        </p:nvSpPr>
        <p:spPr>
          <a:xfrm>
            <a:off x="5972676" y="2313609"/>
            <a:ext cx="2295762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99" dirty="0">
                <a:solidFill>
                  <a:srgbClr val="00F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 frente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27F12DC-A93D-A78B-33AB-CEFA407BDA89}"/>
              </a:ext>
            </a:extLst>
          </p:cNvPr>
          <p:cNvSpPr txBox="1"/>
          <p:nvPr/>
        </p:nvSpPr>
        <p:spPr>
          <a:xfrm>
            <a:off x="5972676" y="4354478"/>
            <a:ext cx="2295762" cy="584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99" dirty="0">
                <a:solidFill>
                  <a:srgbClr val="00F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 trás</a:t>
            </a:r>
          </a:p>
        </p:txBody>
      </p:sp>
    </p:spTree>
    <p:extLst>
      <p:ext uri="{BB962C8B-B14F-4D97-AF65-F5344CB8AC3E}">
        <p14:creationId xmlns:p14="http://schemas.microsoft.com/office/powerpoint/2010/main" val="1786176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FF6C12B-C543-43E2-A5E6-677EDC231F30}"/>
              </a:ext>
            </a:extLst>
          </p:cNvPr>
          <p:cNvSpPr/>
          <p:nvPr/>
        </p:nvSpPr>
        <p:spPr>
          <a:xfrm>
            <a:off x="2463739" y="857349"/>
            <a:ext cx="6680262" cy="5143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799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00661AD-DE3B-4FEE-939B-BD0C86A2EA1E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387" y="949946"/>
            <a:ext cx="4116608" cy="469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A3B9040-4209-534D-1B34-C328C0A10875}"/>
              </a:ext>
            </a:extLst>
          </p:cNvPr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05" y="2303362"/>
            <a:ext cx="3066644" cy="12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97BB2C1-085C-0065-8352-FE90FB79DBF3}"/>
              </a:ext>
            </a:extLst>
          </p:cNvPr>
          <p:cNvSpPr txBox="1"/>
          <p:nvPr/>
        </p:nvSpPr>
        <p:spPr>
          <a:xfrm>
            <a:off x="867223" y="1554656"/>
            <a:ext cx="2020208" cy="584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99" dirty="0">
                <a:solidFill>
                  <a:srgbClr val="00F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Esquerda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5F119DE-6047-18BD-29D5-E80A40168D88}"/>
              </a:ext>
            </a:extLst>
          </p:cNvPr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01" y="4878551"/>
            <a:ext cx="3218900" cy="12934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33CB203C-75F5-4D76-9305-C82E3B419B8A}"/>
              </a:ext>
            </a:extLst>
          </p:cNvPr>
          <p:cNvSpPr txBox="1"/>
          <p:nvPr/>
        </p:nvSpPr>
        <p:spPr>
          <a:xfrm>
            <a:off x="1123922" y="4231232"/>
            <a:ext cx="1506809" cy="584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199" dirty="0">
                <a:solidFill>
                  <a:srgbClr val="00F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Direita</a:t>
            </a:r>
          </a:p>
        </p:txBody>
      </p:sp>
    </p:spTree>
    <p:extLst>
      <p:ext uri="{BB962C8B-B14F-4D97-AF65-F5344CB8AC3E}">
        <p14:creationId xmlns:p14="http://schemas.microsoft.com/office/powerpoint/2010/main" val="2750486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2024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3763</TotalTime>
  <Words>259</Words>
  <Application>Microsoft Office PowerPoint</Application>
  <PresentationFormat>On-screen Show (4:3)</PresentationFormat>
  <Paragraphs>119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Laboratório FIAP</cp:lastModifiedBy>
  <cp:revision>495</cp:revision>
  <cp:lastPrinted>2016-02-15T09:06:24Z</cp:lastPrinted>
  <dcterms:created xsi:type="dcterms:W3CDTF">2015-02-07T21:24:47Z</dcterms:created>
  <dcterms:modified xsi:type="dcterms:W3CDTF">2025-05-06T11:30:13Z</dcterms:modified>
</cp:coreProperties>
</file>