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50"/>
  </p:notesMasterIdLst>
  <p:handoutMasterIdLst>
    <p:handoutMasterId r:id="rId51"/>
  </p:handoutMasterIdLst>
  <p:sldIdLst>
    <p:sldId id="256" r:id="rId6"/>
    <p:sldId id="487" r:id="rId7"/>
    <p:sldId id="534" r:id="rId8"/>
    <p:sldId id="532" r:id="rId9"/>
    <p:sldId id="444" r:id="rId10"/>
    <p:sldId id="453" r:id="rId11"/>
    <p:sldId id="594" r:id="rId12"/>
    <p:sldId id="595" r:id="rId13"/>
    <p:sldId id="596" r:id="rId14"/>
    <p:sldId id="597" r:id="rId15"/>
    <p:sldId id="600" r:id="rId16"/>
    <p:sldId id="598" r:id="rId17"/>
    <p:sldId id="602" r:id="rId18"/>
    <p:sldId id="603" r:id="rId19"/>
    <p:sldId id="604" r:id="rId20"/>
    <p:sldId id="605" r:id="rId21"/>
    <p:sldId id="606" r:id="rId22"/>
    <p:sldId id="607" r:id="rId23"/>
    <p:sldId id="608" r:id="rId24"/>
    <p:sldId id="609" r:id="rId25"/>
    <p:sldId id="610" r:id="rId26"/>
    <p:sldId id="612" r:id="rId27"/>
    <p:sldId id="611" r:id="rId28"/>
    <p:sldId id="613" r:id="rId29"/>
    <p:sldId id="617" r:id="rId30"/>
    <p:sldId id="615" r:id="rId31"/>
    <p:sldId id="614" r:id="rId32"/>
    <p:sldId id="618" r:id="rId33"/>
    <p:sldId id="619" r:id="rId34"/>
    <p:sldId id="620" r:id="rId35"/>
    <p:sldId id="621" r:id="rId36"/>
    <p:sldId id="622" r:id="rId37"/>
    <p:sldId id="623" r:id="rId38"/>
    <p:sldId id="624" r:id="rId39"/>
    <p:sldId id="625" r:id="rId40"/>
    <p:sldId id="626" r:id="rId41"/>
    <p:sldId id="627" r:id="rId42"/>
    <p:sldId id="628" r:id="rId43"/>
    <p:sldId id="629" r:id="rId44"/>
    <p:sldId id="307" r:id="rId45"/>
    <p:sldId id="563" r:id="rId46"/>
    <p:sldId id="592" r:id="rId47"/>
    <p:sldId id="593" r:id="rId48"/>
    <p:sldId id="265" r:id="rId4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7C9ACC"/>
    <a:srgbClr val="020000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34" autoAdjust="0"/>
    <p:restoredTop sz="94786" autoAdjust="0"/>
  </p:normalViewPr>
  <p:slideViewPr>
    <p:cSldViewPr snapToGrid="0" snapToObjects="1">
      <p:cViewPr varScale="1">
        <p:scale>
          <a:sx n="68" d="100"/>
          <a:sy n="68" d="100"/>
        </p:scale>
        <p:origin x="1626" y="60"/>
      </p:cViewPr>
      <p:guideLst>
        <p:guide pos="2880"/>
        <p:guide orient="horz" pos="2115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06/08/2024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8/6/2024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ço Reservado para Imagem de Slide 1">
            <a:extLst>
              <a:ext uri="{FF2B5EF4-FFF2-40B4-BE49-F238E27FC236}">
                <a16:creationId xmlns:a16="http://schemas.microsoft.com/office/drawing/2014/main" id="{2E5EAA4D-734C-FB2B-5805-93F6F42ACF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Espaço Reservado para Anotações 2">
            <a:extLst>
              <a:ext uri="{FF2B5EF4-FFF2-40B4-BE49-F238E27FC236}">
                <a16:creationId xmlns:a16="http://schemas.microsoft.com/office/drawing/2014/main" id="{65460698-FC29-6A3E-74F5-58B9BB385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pt-BR">
              <a:latin typeface="Arial" panose="020B0604020202020204" pitchFamily="34" charset="0"/>
            </a:endParaRPr>
          </a:p>
        </p:txBody>
      </p:sp>
      <p:sp>
        <p:nvSpPr>
          <p:cNvPr id="73732" name="Espaço Reservado para Número de Slide 3">
            <a:extLst>
              <a:ext uri="{FF2B5EF4-FFF2-40B4-BE49-F238E27FC236}">
                <a16:creationId xmlns:a16="http://schemas.microsoft.com/office/drawing/2014/main" id="{A035F7C8-9F59-BDC4-BA1A-3BF8398FF8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F3ECB2A-6AF7-410F-A7D7-63C12142FD9A}" type="slidenum">
              <a:rPr lang="en-US" altLang="pt-BR"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pPr/>
              <a:t>42</a:t>
            </a:fld>
            <a:endParaRPr lang="en-US" altLang="pt-BR" sz="1200">
              <a:solidFill>
                <a:schemeClr val="tx1"/>
              </a:solidFill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ço Reservado para Imagem de Slide 1">
            <a:extLst>
              <a:ext uri="{FF2B5EF4-FFF2-40B4-BE49-F238E27FC236}">
                <a16:creationId xmlns:a16="http://schemas.microsoft.com/office/drawing/2014/main" id="{2E5EAA4D-734C-FB2B-5805-93F6F42ACF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Espaço Reservado para Anotações 2">
            <a:extLst>
              <a:ext uri="{FF2B5EF4-FFF2-40B4-BE49-F238E27FC236}">
                <a16:creationId xmlns:a16="http://schemas.microsoft.com/office/drawing/2014/main" id="{65460698-FC29-6A3E-74F5-58B9BB385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pt-BR">
              <a:latin typeface="Arial" panose="020B0604020202020204" pitchFamily="34" charset="0"/>
            </a:endParaRPr>
          </a:p>
        </p:txBody>
      </p:sp>
      <p:sp>
        <p:nvSpPr>
          <p:cNvPr id="73732" name="Espaço Reservado para Número de Slide 3">
            <a:extLst>
              <a:ext uri="{FF2B5EF4-FFF2-40B4-BE49-F238E27FC236}">
                <a16:creationId xmlns:a16="http://schemas.microsoft.com/office/drawing/2014/main" id="{A035F7C8-9F59-BDC4-BA1A-3BF8398FF8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F3ECB2A-6AF7-410F-A7D7-63C12142FD9A}" type="slidenum">
              <a:rPr lang="en-US" altLang="pt-BR"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  <a:pPr/>
              <a:t>43</a:t>
            </a:fld>
            <a:endParaRPr lang="en-US" altLang="pt-BR" sz="1200">
              <a:solidFill>
                <a:schemeClr val="tx1"/>
              </a:solidFill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40789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7036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004890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Microcontroladores - MIC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37627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  <p:sldLayoutId id="2147483754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etcomputacaoufrgs/hidracpp/releases/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6LFQc_0Slyw&amp;t=195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github.com/petcomputacaoufrgs/hidracpp/releases/" TargetMode="External"/><Relationship Id="rId4" Type="http://schemas.openxmlformats.org/officeDocument/2006/relationships/hyperlink" Target="https://www.inf.ufrgs.br/arq/wiki/doku.php?id=insahmes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27 Electronic Pictures Download Free Images Stock Photos On Unsplash |  bbutton.com.br">
            <a:extLst>
              <a:ext uri="{FF2B5EF4-FFF2-40B4-BE49-F238E27FC236}">
                <a16:creationId xmlns:a16="http://schemas.microsoft.com/office/drawing/2014/main" id="{8D668B22-BDA2-E6E4-2011-3F3D7A348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9144001" cy="390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22602D00-56F9-3355-26BD-455DA6650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19" y="4206898"/>
            <a:ext cx="7766136" cy="44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715963" indent="-904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BR" sz="2400" b="1" dirty="0">
                <a:solidFill>
                  <a:srgbClr val="FF0000"/>
                </a:solidFill>
              </a:rPr>
              <a:t>	Computador AHMES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2D2E858-A162-0693-D650-BF399C4FE0AC}"/>
              </a:ext>
            </a:extLst>
          </p:cNvPr>
          <p:cNvCxnSpPr/>
          <p:nvPr/>
        </p:nvCxnSpPr>
        <p:spPr>
          <a:xfrm>
            <a:off x="-1" y="3906078"/>
            <a:ext cx="914400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 Box 4">
            <a:extLst>
              <a:ext uri="{FF2B5EF4-FFF2-40B4-BE49-F238E27FC236}">
                <a16:creationId xmlns:a16="http://schemas.microsoft.com/office/drawing/2014/main" id="{FF33C37F-3A64-4712-6B6C-259CF4A6B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19" y="4799924"/>
            <a:ext cx="7766136" cy="44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715963" indent="-904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BR" sz="2400" b="1" dirty="0">
                <a:solidFill>
                  <a:srgbClr val="FF0000"/>
                </a:solidFill>
              </a:rPr>
              <a:t>	Computador HIDRA</a:t>
            </a:r>
          </a:p>
        </p:txBody>
      </p:sp>
    </p:spTree>
    <p:extLst>
      <p:ext uri="{BB962C8B-B14F-4D97-AF65-F5344CB8AC3E}">
        <p14:creationId xmlns:p14="http://schemas.microsoft.com/office/powerpoint/2010/main" val="66138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2BB401F-2946-FAB8-CB40-AC40FAEA3076}"/>
              </a:ext>
            </a:extLst>
          </p:cNvPr>
          <p:cNvSpPr/>
          <p:nvPr/>
        </p:nvSpPr>
        <p:spPr>
          <a:xfrm>
            <a:off x="0" y="-36512"/>
            <a:ext cx="9144000" cy="685800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88A5E8-D33C-9865-B585-B91DAF0FF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364" y="5312772"/>
            <a:ext cx="4999383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pt-BR" sz="2800" b="1" dirty="0">
                <a:solidFill>
                  <a:srgbClr val="FF0000"/>
                </a:solidFill>
              </a:rPr>
              <a:t>O Computador HIDRA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6A7A99E-99BC-5AAB-C579-0AB86408C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525780"/>
            <a:ext cx="4286250" cy="420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892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4925" y="765175"/>
            <a:ext cx="8208963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altLang="pt-BR" sz="2800" b="1" dirty="0">
                <a:solidFill>
                  <a:srgbClr val="FF0000"/>
                </a:solidFill>
              </a:rPr>
              <a:t>	O Simulador </a:t>
            </a:r>
            <a:r>
              <a:rPr lang="pt-BR" altLang="pt-BR" sz="2800" b="1">
                <a:solidFill>
                  <a:srgbClr val="FF0000"/>
                </a:solidFill>
              </a:rPr>
              <a:t>Ahmes</a:t>
            </a:r>
            <a:endParaRPr lang="pt-BR" altLang="pt-BR" sz="2800" b="1" dirty="0">
              <a:solidFill>
                <a:srgbClr val="FF0000"/>
              </a:solidFill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705678" y="1489310"/>
            <a:ext cx="795130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200" b="0" i="0" u="none" dirty="0">
                <a:solidFill>
                  <a:srgbClr val="0D3A18"/>
                </a:solidFill>
                <a:effectLst/>
                <a:cs typeface="Arial" panose="020B0604020202020204" pitchFamily="34" charset="0"/>
              </a:rPr>
              <a:t>No tempo sem tempo dos mitos, existiu uma serpente gigantesca de várias cabeças chamada </a:t>
            </a:r>
            <a:r>
              <a:rPr lang="pt-BR" sz="2200" b="1" i="0" u="none" dirty="0">
                <a:solidFill>
                  <a:srgbClr val="0D3A18"/>
                </a:solidFill>
                <a:effectLst/>
                <a:cs typeface="Arial" panose="020B0604020202020204" pitchFamily="34" charset="0"/>
              </a:rPr>
              <a:t>Hidra</a:t>
            </a:r>
            <a:r>
              <a:rPr lang="pt-BR" sz="2200" b="0" i="0" u="none" dirty="0">
                <a:solidFill>
                  <a:srgbClr val="0D3A18"/>
                </a:solidFill>
                <a:effectLst/>
                <a:cs typeface="Arial" panose="020B0604020202020204" pitchFamily="34" charset="0"/>
              </a:rPr>
              <a:t>.</a:t>
            </a:r>
            <a:endParaRPr lang="pt-BR" altLang="pt-BR" sz="2200" u="none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0BF0F2D-4E17-EB6C-B309-E1A871912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657" y="2350446"/>
            <a:ext cx="5480685" cy="342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4F372E-C8AC-EFF4-0049-EAFEA5C5801E}"/>
              </a:ext>
            </a:extLst>
          </p:cNvPr>
          <p:cNvSpPr txBox="1"/>
          <p:nvPr/>
        </p:nvSpPr>
        <p:spPr>
          <a:xfrm>
            <a:off x="927100" y="5908159"/>
            <a:ext cx="4577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D3A18"/>
                </a:solidFill>
                <a:cs typeface="Arial" panose="020B0604020202020204" pitchFamily="34" charset="0"/>
              </a:rPr>
              <a:t>Download: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9691CA-5BFC-5BBF-9B08-1E61B837C70A}"/>
              </a:ext>
            </a:extLst>
          </p:cNvPr>
          <p:cNvSpPr txBox="1"/>
          <p:nvPr/>
        </p:nvSpPr>
        <p:spPr>
          <a:xfrm>
            <a:off x="927100" y="6284972"/>
            <a:ext cx="7289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https://github.com/petcomputacaoufrgs/hidracpp/releases/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663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 – Características Gerais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703303" y="1476980"/>
            <a:ext cx="6700317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O HIDRA é um montador (</a:t>
            </a:r>
            <a:r>
              <a:rPr lang="pt-BR" altLang="pt-BR" u="none" dirty="0" err="1">
                <a:solidFill>
                  <a:schemeClr val="tx1"/>
                </a:solidFill>
              </a:rPr>
              <a:t>assembler</a:t>
            </a:r>
            <a:r>
              <a:rPr lang="pt-BR" altLang="pt-BR" u="none" dirty="0">
                <a:solidFill>
                  <a:schemeClr val="tx1"/>
                </a:solidFill>
              </a:rPr>
              <a:t>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u="none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Permite que escrever um código de uma forma mais simples, podendo manipular valores sem a preocupação com a relação de endereço;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Depois do código escrito ele “monta” em linguagem de máquina;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u="none" dirty="0">
                <a:solidFill>
                  <a:schemeClr val="tx1"/>
                </a:solidFill>
              </a:rPr>
              <a:t>Uso de diretivas: comandos para o montador para alterar o código.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3FD2A38-F933-1958-A662-EA153F98AE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11" t="31334" r="15889" b="6839"/>
          <a:stretch/>
        </p:blipFill>
        <p:spPr>
          <a:xfrm>
            <a:off x="1683540" y="3589883"/>
            <a:ext cx="5760720" cy="318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55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21FC6B4-0B40-D9E6-0863-C09C6966B2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11" t="31334" r="15889" b="6839"/>
          <a:stretch/>
        </p:blipFill>
        <p:spPr>
          <a:xfrm>
            <a:off x="447040" y="1617660"/>
            <a:ext cx="8370186" cy="4620579"/>
          </a:xfrm>
          <a:prstGeom prst="rect">
            <a:avLst/>
          </a:prstGeom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</a:t>
            </a:r>
          </a:p>
        </p:txBody>
      </p:sp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8B2F2039-74AA-EC39-8D52-A438FB4475AD}"/>
              </a:ext>
            </a:extLst>
          </p:cNvPr>
          <p:cNvSpPr/>
          <p:nvPr/>
        </p:nvSpPr>
        <p:spPr>
          <a:xfrm>
            <a:off x="8331200" y="2341880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02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B495AF1-C179-64A3-EFC3-41702B7816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222" t="30938" r="15667" b="6049"/>
          <a:stretch/>
        </p:blipFill>
        <p:spPr>
          <a:xfrm>
            <a:off x="327843" y="1584960"/>
            <a:ext cx="8508634" cy="4704080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C1A81CBF-FB7C-167D-39CC-5791059C46F6}"/>
              </a:ext>
            </a:extLst>
          </p:cNvPr>
          <p:cNvSpPr/>
          <p:nvPr/>
        </p:nvSpPr>
        <p:spPr>
          <a:xfrm>
            <a:off x="6725920" y="1584960"/>
            <a:ext cx="1036320" cy="7010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96F0BFD-F067-BFBD-C778-7A1AFA4EC344}"/>
              </a:ext>
            </a:extLst>
          </p:cNvPr>
          <p:cNvSpPr txBox="1"/>
          <p:nvPr/>
        </p:nvSpPr>
        <p:spPr>
          <a:xfrm>
            <a:off x="6416040" y="752023"/>
            <a:ext cx="1656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Selecione um simulador</a:t>
            </a:r>
          </a:p>
        </p:txBody>
      </p:sp>
    </p:spTree>
    <p:extLst>
      <p:ext uri="{BB962C8B-B14F-4D97-AF65-F5344CB8AC3E}">
        <p14:creationId xmlns:p14="http://schemas.microsoft.com/office/powerpoint/2010/main" val="560039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75A1180-6966-D9EC-03D1-5F7CBBBF61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11" t="31531" r="15444" b="7234"/>
          <a:stretch/>
        </p:blipFill>
        <p:spPr>
          <a:xfrm>
            <a:off x="325120" y="1636547"/>
            <a:ext cx="8508634" cy="4547718"/>
          </a:xfrm>
          <a:prstGeom prst="rect">
            <a:avLst/>
          </a:prstGeom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</a:t>
            </a:r>
          </a:p>
        </p:txBody>
      </p:sp>
      <p:sp>
        <p:nvSpPr>
          <p:cNvPr id="8" name="Seta: para a Esquerda 7">
            <a:extLst>
              <a:ext uri="{FF2B5EF4-FFF2-40B4-BE49-F238E27FC236}">
                <a16:creationId xmlns:a16="http://schemas.microsoft.com/office/drawing/2014/main" id="{33BA5D8B-EAF5-20B6-2FA9-D4354B6CB56E}"/>
              </a:ext>
            </a:extLst>
          </p:cNvPr>
          <p:cNvSpPr/>
          <p:nvPr/>
        </p:nvSpPr>
        <p:spPr>
          <a:xfrm>
            <a:off x="8331200" y="2646680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125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A1FB3A6-E528-46EA-EE7A-2F00626BE0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11" t="31926" r="17445" b="7037"/>
          <a:stretch/>
        </p:blipFill>
        <p:spPr>
          <a:xfrm>
            <a:off x="528319" y="1674810"/>
            <a:ext cx="8103837" cy="4528184"/>
          </a:xfrm>
          <a:prstGeom prst="rect">
            <a:avLst/>
          </a:prstGeom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</a:t>
            </a:r>
          </a:p>
        </p:txBody>
      </p:sp>
      <p:sp>
        <p:nvSpPr>
          <p:cNvPr id="8" name="Seta: para a Esquerda 7">
            <a:extLst>
              <a:ext uri="{FF2B5EF4-FFF2-40B4-BE49-F238E27FC236}">
                <a16:creationId xmlns:a16="http://schemas.microsoft.com/office/drawing/2014/main" id="{33BA5D8B-EAF5-20B6-2FA9-D4354B6CB56E}"/>
              </a:ext>
            </a:extLst>
          </p:cNvPr>
          <p:cNvSpPr/>
          <p:nvPr/>
        </p:nvSpPr>
        <p:spPr>
          <a:xfrm>
            <a:off x="1574800" y="2688125"/>
            <a:ext cx="406400" cy="50054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709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A1FB3A6-E528-46EA-EE7A-2F00626BE0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11" t="31926" r="17445" b="7037"/>
          <a:stretch/>
        </p:blipFill>
        <p:spPr>
          <a:xfrm>
            <a:off x="528319" y="1674810"/>
            <a:ext cx="8103837" cy="4528184"/>
          </a:xfrm>
          <a:prstGeom prst="rect">
            <a:avLst/>
          </a:prstGeom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</a:t>
            </a:r>
          </a:p>
        </p:txBody>
      </p:sp>
      <p:sp>
        <p:nvSpPr>
          <p:cNvPr id="3" name="Seta: para a Esquerda 2">
            <a:extLst>
              <a:ext uri="{FF2B5EF4-FFF2-40B4-BE49-F238E27FC236}">
                <a16:creationId xmlns:a16="http://schemas.microsoft.com/office/drawing/2014/main" id="{A991FFCF-9465-5176-7086-1D53F0552DBD}"/>
              </a:ext>
            </a:extLst>
          </p:cNvPr>
          <p:cNvSpPr/>
          <p:nvPr/>
        </p:nvSpPr>
        <p:spPr>
          <a:xfrm>
            <a:off x="7833488" y="4105089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806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B6778972-14BD-F68D-C951-117C2CC4A4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32" t="31491" r="16710" b="7975"/>
          <a:stretch/>
        </p:blipFill>
        <p:spPr>
          <a:xfrm>
            <a:off x="511844" y="1673982"/>
            <a:ext cx="8187418" cy="4449323"/>
          </a:xfrm>
          <a:prstGeom prst="rect">
            <a:avLst/>
          </a:prstGeom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</a:t>
            </a:r>
          </a:p>
        </p:txBody>
      </p:sp>
    </p:spTree>
    <p:extLst>
      <p:ext uri="{BB962C8B-B14F-4D97-AF65-F5344CB8AC3E}">
        <p14:creationId xmlns:p14="http://schemas.microsoft.com/office/powerpoint/2010/main" val="2884717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32DC18B-3D37-C160-D5AA-414B8BBDBE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40" t="31492" r="16835" b="6174"/>
          <a:stretch/>
        </p:blipFill>
        <p:spPr>
          <a:xfrm>
            <a:off x="613457" y="1673446"/>
            <a:ext cx="8187418" cy="4628398"/>
          </a:xfrm>
          <a:prstGeom prst="rect">
            <a:avLst/>
          </a:prstGeom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“</a:t>
            </a:r>
            <a:r>
              <a:rPr lang="pt-BR" altLang="pt-BR" sz="2800" b="1" dirty="0" err="1">
                <a:solidFill>
                  <a:srgbClr val="FF0000"/>
                </a:solidFill>
              </a:rPr>
              <a:t>org</a:t>
            </a:r>
            <a:r>
              <a:rPr lang="pt-BR" altLang="pt-BR" sz="2800" b="1" dirty="0">
                <a:solidFill>
                  <a:srgbClr val="FF0000"/>
                </a:solidFill>
              </a:rPr>
              <a:t>”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4D443C02-6A14-AE2D-4818-16A16C613549}"/>
              </a:ext>
            </a:extLst>
          </p:cNvPr>
          <p:cNvGrpSpPr/>
          <p:nvPr/>
        </p:nvGrpSpPr>
        <p:grpSpPr>
          <a:xfrm>
            <a:off x="1536861" y="2591844"/>
            <a:ext cx="3543139" cy="369332"/>
            <a:chOff x="1536861" y="2591844"/>
            <a:chExt cx="3543139" cy="369332"/>
          </a:xfrm>
        </p:grpSpPr>
        <p:sp>
          <p:nvSpPr>
            <p:cNvPr id="5" name="Seta: para a Esquerda 4">
              <a:extLst>
                <a:ext uri="{FF2B5EF4-FFF2-40B4-BE49-F238E27FC236}">
                  <a16:creationId xmlns:a16="http://schemas.microsoft.com/office/drawing/2014/main" id="{5B15CA20-EC1D-C855-BA5C-C9F865F6C66D}"/>
                </a:ext>
              </a:extLst>
            </p:cNvPr>
            <p:cNvSpPr/>
            <p:nvPr/>
          </p:nvSpPr>
          <p:spPr>
            <a:xfrm>
              <a:off x="1536861" y="2646680"/>
              <a:ext cx="406400" cy="213360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1605E831-A596-2010-C045-DB4E4410E79B}"/>
                </a:ext>
              </a:extLst>
            </p:cNvPr>
            <p:cNvSpPr txBox="1"/>
            <p:nvPr/>
          </p:nvSpPr>
          <p:spPr>
            <a:xfrm>
              <a:off x="1943261" y="2591844"/>
              <a:ext cx="3136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/>
                <a:t>Diretiva “</a:t>
              </a:r>
              <a:r>
                <a:rPr lang="pt-BR" b="1" dirty="0" err="1"/>
                <a:t>org</a:t>
              </a:r>
              <a:r>
                <a:rPr lang="pt-BR" b="1" dirty="0"/>
                <a:t>” </a:t>
              </a:r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0B5BC2-4F53-5879-8AF9-2568F2C31D75}"/>
              </a:ext>
            </a:extLst>
          </p:cNvPr>
          <p:cNvSpPr txBox="1"/>
          <p:nvPr/>
        </p:nvSpPr>
        <p:spPr>
          <a:xfrm>
            <a:off x="752355" y="6040821"/>
            <a:ext cx="7674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Diretiva </a:t>
            </a:r>
            <a:r>
              <a:rPr lang="pt-BR" b="1" dirty="0" err="1"/>
              <a:t>org</a:t>
            </a:r>
            <a:r>
              <a:rPr lang="pt-BR" dirty="0"/>
              <a:t> : quando </a:t>
            </a:r>
            <a:r>
              <a:rPr lang="pt-BR" b="1" dirty="0" err="1"/>
              <a:t>org</a:t>
            </a:r>
            <a:r>
              <a:rPr lang="pt-BR" dirty="0"/>
              <a:t> é utilizado, o código abaixo dessa diretiva, é iniciado na linha indicada. No exemplo a linha 5</a:t>
            </a:r>
          </a:p>
        </p:txBody>
      </p:sp>
    </p:spTree>
    <p:extLst>
      <p:ext uri="{BB962C8B-B14F-4D97-AF65-F5344CB8AC3E}">
        <p14:creationId xmlns:p14="http://schemas.microsoft.com/office/powerpoint/2010/main" val="1943024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32DC18B-3D37-C160-D5AA-414B8BBDBE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40" t="31492" r="16835" b="6174"/>
          <a:stretch/>
        </p:blipFill>
        <p:spPr>
          <a:xfrm>
            <a:off x="613457" y="1673446"/>
            <a:ext cx="8187418" cy="4628398"/>
          </a:xfrm>
          <a:prstGeom prst="rect">
            <a:avLst/>
          </a:prstGeom>
        </p:spPr>
      </p:pic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5B15CA20-EC1D-C855-BA5C-C9F865F6C66D}"/>
              </a:ext>
            </a:extLst>
          </p:cNvPr>
          <p:cNvSpPr/>
          <p:nvPr/>
        </p:nvSpPr>
        <p:spPr>
          <a:xfrm>
            <a:off x="7706167" y="4151389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CCB9FD4-0A9C-8B4E-8778-A03954E8636F}"/>
              </a:ext>
            </a:extLst>
          </p:cNvPr>
          <p:cNvSpPr txBox="1"/>
          <p:nvPr/>
        </p:nvSpPr>
        <p:spPr>
          <a:xfrm>
            <a:off x="752355" y="6040821"/>
            <a:ext cx="7674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Diretiva </a:t>
            </a:r>
            <a:r>
              <a:rPr lang="pt-BR" b="1" dirty="0" err="1"/>
              <a:t>org</a:t>
            </a:r>
            <a:r>
              <a:rPr lang="pt-BR" dirty="0"/>
              <a:t> : quando </a:t>
            </a:r>
            <a:r>
              <a:rPr lang="pt-BR" b="1" dirty="0" err="1"/>
              <a:t>org</a:t>
            </a:r>
            <a:r>
              <a:rPr lang="pt-BR" dirty="0"/>
              <a:t> é utilizado, o código abaixo dessa diretiva, é iniciado na linha indicada. No exemplo a linha 5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D47CF8E-F028-0C77-D047-D7E12FD18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“</a:t>
            </a:r>
            <a:r>
              <a:rPr lang="pt-BR" altLang="pt-BR" sz="2800" b="1" dirty="0" err="1">
                <a:solidFill>
                  <a:srgbClr val="FF0000"/>
                </a:solidFill>
              </a:rPr>
              <a:t>org</a:t>
            </a:r>
            <a:r>
              <a:rPr lang="pt-BR" altLang="pt-BR" sz="2800" b="1" dirty="0">
                <a:solidFill>
                  <a:srgbClr val="FF000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048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F788E3D-D4B8-507E-7DD0-FB24A8EC63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014" t="31491" r="17215" b="6712"/>
          <a:stretch/>
        </p:blipFill>
        <p:spPr>
          <a:xfrm>
            <a:off x="613457" y="1692753"/>
            <a:ext cx="8090705" cy="4552854"/>
          </a:xfrm>
          <a:prstGeom prst="rect">
            <a:avLst/>
          </a:prstGeom>
        </p:spPr>
      </p:pic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5B15CA20-EC1D-C855-BA5C-C9F865F6C66D}"/>
              </a:ext>
            </a:extLst>
          </p:cNvPr>
          <p:cNvSpPr/>
          <p:nvPr/>
        </p:nvSpPr>
        <p:spPr>
          <a:xfrm>
            <a:off x="4571999" y="3653427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“</a:t>
            </a:r>
            <a:r>
              <a:rPr lang="pt-BR" altLang="pt-BR" sz="2800" b="1" dirty="0" err="1">
                <a:solidFill>
                  <a:srgbClr val="FF0000"/>
                </a:solidFill>
              </a:rPr>
              <a:t>org</a:t>
            </a:r>
            <a:r>
              <a:rPr lang="pt-BR" altLang="pt-BR" sz="2800" b="1" dirty="0">
                <a:solidFill>
                  <a:srgbClr val="FF0000"/>
                </a:solidFill>
              </a:rPr>
              <a:t>”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4B0BFDA-633C-0DC3-0DAF-FBD6C5F4E170}"/>
              </a:ext>
            </a:extLst>
          </p:cNvPr>
          <p:cNvSpPr txBox="1"/>
          <p:nvPr/>
        </p:nvSpPr>
        <p:spPr>
          <a:xfrm>
            <a:off x="752355" y="6040821"/>
            <a:ext cx="7674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Diretiva </a:t>
            </a:r>
            <a:r>
              <a:rPr lang="pt-BR" b="1" dirty="0" err="1"/>
              <a:t>org</a:t>
            </a:r>
            <a:r>
              <a:rPr lang="pt-BR" dirty="0"/>
              <a:t> : quando </a:t>
            </a:r>
            <a:r>
              <a:rPr lang="pt-BR" b="1" dirty="0" err="1"/>
              <a:t>org</a:t>
            </a:r>
            <a:r>
              <a:rPr lang="pt-BR" dirty="0"/>
              <a:t> é utilizado, o código abaixo dessa diretiva, é iniciado na linha indicada. No exemplo a linha 5</a:t>
            </a:r>
          </a:p>
        </p:txBody>
      </p:sp>
    </p:spTree>
    <p:extLst>
      <p:ext uri="{BB962C8B-B14F-4D97-AF65-F5344CB8AC3E}">
        <p14:creationId xmlns:p14="http://schemas.microsoft.com/office/powerpoint/2010/main" val="169033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2DC219C-15B9-F97F-C852-18A4F95A78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06" t="31266" r="16568" b="7806"/>
          <a:stretch/>
        </p:blipFill>
        <p:spPr>
          <a:xfrm>
            <a:off x="590306" y="1692753"/>
            <a:ext cx="8229601" cy="448225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CCB9FD4-0A9C-8B4E-8778-A03954E8636F}"/>
              </a:ext>
            </a:extLst>
          </p:cNvPr>
          <p:cNvSpPr txBox="1"/>
          <p:nvPr/>
        </p:nvSpPr>
        <p:spPr>
          <a:xfrm>
            <a:off x="752355" y="6040821"/>
            <a:ext cx="7674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Diretiva </a:t>
            </a:r>
            <a:r>
              <a:rPr lang="pt-BR" b="1" dirty="0" err="1"/>
              <a:t>label</a:t>
            </a:r>
            <a:r>
              <a:rPr lang="pt-BR" dirty="0"/>
              <a:t> : pode-se criar “etiquetas” que podem ser “chamadas” no programa. No exemplo a “etiqueta” é FIM.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DE497E59-6D89-2D3E-FB76-9BC74039037F}"/>
              </a:ext>
            </a:extLst>
          </p:cNvPr>
          <p:cNvGrpSpPr/>
          <p:nvPr/>
        </p:nvGrpSpPr>
        <p:grpSpPr>
          <a:xfrm>
            <a:off x="1536861" y="2996959"/>
            <a:ext cx="3543139" cy="369332"/>
            <a:chOff x="1536861" y="2591844"/>
            <a:chExt cx="3543139" cy="369332"/>
          </a:xfrm>
        </p:grpSpPr>
        <p:sp>
          <p:nvSpPr>
            <p:cNvPr id="9" name="Seta: para a Esquerda 8">
              <a:extLst>
                <a:ext uri="{FF2B5EF4-FFF2-40B4-BE49-F238E27FC236}">
                  <a16:creationId xmlns:a16="http://schemas.microsoft.com/office/drawing/2014/main" id="{B31ED525-9831-7464-A3A9-7DA3F79BB6C5}"/>
                </a:ext>
              </a:extLst>
            </p:cNvPr>
            <p:cNvSpPr/>
            <p:nvPr/>
          </p:nvSpPr>
          <p:spPr>
            <a:xfrm>
              <a:off x="1536861" y="2646680"/>
              <a:ext cx="406400" cy="213360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F5CDDC45-D9DF-BF23-200E-56E735F1F2A7}"/>
                </a:ext>
              </a:extLst>
            </p:cNvPr>
            <p:cNvSpPr txBox="1"/>
            <p:nvPr/>
          </p:nvSpPr>
          <p:spPr>
            <a:xfrm>
              <a:off x="1943261" y="2591844"/>
              <a:ext cx="3136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 err="1"/>
                <a:t>Label</a:t>
              </a:r>
              <a:r>
                <a:rPr lang="pt-BR" b="1" dirty="0"/>
                <a:t>: “FIM:”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813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1BA6F21-47EE-A177-8AE3-7E9560879C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266" t="32617" r="16568" b="8571"/>
          <a:stretch/>
        </p:blipFill>
        <p:spPr>
          <a:xfrm>
            <a:off x="729206" y="1790014"/>
            <a:ext cx="8143048" cy="4333291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DE497E59-6D89-2D3E-FB76-9BC74039037F}"/>
              </a:ext>
            </a:extLst>
          </p:cNvPr>
          <p:cNvGrpSpPr/>
          <p:nvPr/>
        </p:nvGrpSpPr>
        <p:grpSpPr>
          <a:xfrm>
            <a:off x="1733631" y="2884038"/>
            <a:ext cx="3543139" cy="646331"/>
            <a:chOff x="1536861" y="2591844"/>
            <a:chExt cx="3543139" cy="646331"/>
          </a:xfrm>
        </p:grpSpPr>
        <p:sp>
          <p:nvSpPr>
            <p:cNvPr id="9" name="Seta: para a Esquerda 8">
              <a:extLst>
                <a:ext uri="{FF2B5EF4-FFF2-40B4-BE49-F238E27FC236}">
                  <a16:creationId xmlns:a16="http://schemas.microsoft.com/office/drawing/2014/main" id="{B31ED525-9831-7464-A3A9-7DA3F79BB6C5}"/>
                </a:ext>
              </a:extLst>
            </p:cNvPr>
            <p:cNvSpPr/>
            <p:nvPr/>
          </p:nvSpPr>
          <p:spPr>
            <a:xfrm>
              <a:off x="1536861" y="2646680"/>
              <a:ext cx="406400" cy="213360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F5CDDC45-D9DF-BF23-200E-56E735F1F2A7}"/>
                </a:ext>
              </a:extLst>
            </p:cNvPr>
            <p:cNvSpPr txBox="1"/>
            <p:nvPr/>
          </p:nvSpPr>
          <p:spPr>
            <a:xfrm>
              <a:off x="1943261" y="2591844"/>
              <a:ext cx="31367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/>
                <a:t>Uso do </a:t>
              </a:r>
              <a:r>
                <a:rPr lang="pt-BR" b="1" dirty="0" err="1">
                  <a:solidFill>
                    <a:srgbClr val="F0265D"/>
                  </a:solidFill>
                </a:rPr>
                <a:t>jmp</a:t>
              </a:r>
              <a:r>
                <a:rPr lang="pt-BR" b="1" dirty="0"/>
                <a:t> chamando o endereço “FIM” 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4EB03A68-6FC4-67D2-967B-B370F8BE2FEC}"/>
              </a:ext>
            </a:extLst>
          </p:cNvPr>
          <p:cNvSpPr txBox="1"/>
          <p:nvPr/>
        </p:nvSpPr>
        <p:spPr>
          <a:xfrm>
            <a:off x="752355" y="6040821"/>
            <a:ext cx="7674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Diretiva </a:t>
            </a:r>
            <a:r>
              <a:rPr lang="pt-BR" b="1" dirty="0" err="1"/>
              <a:t>label</a:t>
            </a:r>
            <a:r>
              <a:rPr lang="pt-BR" dirty="0"/>
              <a:t> : pode-se criar “etiquetas” que podem ser “chamadas” no programa. No exemplo a “etiqueta” é FIM.</a:t>
            </a:r>
          </a:p>
        </p:txBody>
      </p:sp>
    </p:spTree>
    <p:extLst>
      <p:ext uri="{BB962C8B-B14F-4D97-AF65-F5344CB8AC3E}">
        <p14:creationId xmlns:p14="http://schemas.microsoft.com/office/powerpoint/2010/main" val="216459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1BA6F21-47EE-A177-8AE3-7E9560879C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266" t="32617" r="16568" b="8571"/>
          <a:stretch/>
        </p:blipFill>
        <p:spPr>
          <a:xfrm>
            <a:off x="729206" y="1790014"/>
            <a:ext cx="8143048" cy="4333291"/>
          </a:xfrm>
          <a:prstGeom prst="rect">
            <a:avLst/>
          </a:prstGeom>
        </p:spPr>
      </p:pic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5B15CA20-EC1D-C855-BA5C-C9F865F6C66D}"/>
              </a:ext>
            </a:extLst>
          </p:cNvPr>
          <p:cNvSpPr/>
          <p:nvPr/>
        </p:nvSpPr>
        <p:spPr>
          <a:xfrm>
            <a:off x="7812911" y="4145057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6CDD700-83C7-AFB0-46A5-BCC92521601C}"/>
              </a:ext>
            </a:extLst>
          </p:cNvPr>
          <p:cNvSpPr txBox="1"/>
          <p:nvPr/>
        </p:nvSpPr>
        <p:spPr>
          <a:xfrm>
            <a:off x="752355" y="6040821"/>
            <a:ext cx="7674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Diretiva </a:t>
            </a:r>
            <a:r>
              <a:rPr lang="pt-BR" b="1" dirty="0" err="1"/>
              <a:t>label</a:t>
            </a:r>
            <a:r>
              <a:rPr lang="pt-BR" dirty="0"/>
              <a:t> : pode-se criar “etiquetas” que podem ser “chamadas” no programa. No exemplo a “etiqueta” é FIM.</a:t>
            </a:r>
          </a:p>
        </p:txBody>
      </p:sp>
    </p:spTree>
    <p:extLst>
      <p:ext uri="{BB962C8B-B14F-4D97-AF65-F5344CB8AC3E}">
        <p14:creationId xmlns:p14="http://schemas.microsoft.com/office/powerpoint/2010/main" val="1306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1D24D10-54C2-3B79-43F5-F928024E99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06" t="31041" r="16836" b="7524"/>
          <a:stretch/>
        </p:blipFill>
        <p:spPr>
          <a:xfrm>
            <a:off x="648181" y="1665394"/>
            <a:ext cx="8271368" cy="4561786"/>
          </a:xfrm>
          <a:prstGeom prst="rect">
            <a:avLst/>
          </a:prstGeom>
        </p:spPr>
      </p:pic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5B15CA20-EC1D-C855-BA5C-C9F865F6C66D}"/>
              </a:ext>
            </a:extLst>
          </p:cNvPr>
          <p:cNvSpPr/>
          <p:nvPr/>
        </p:nvSpPr>
        <p:spPr>
          <a:xfrm>
            <a:off x="4635661" y="4475335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1FF2C2-A698-00DC-8301-267BEF71F2C7}"/>
              </a:ext>
            </a:extLst>
          </p:cNvPr>
          <p:cNvSpPr txBox="1"/>
          <p:nvPr/>
        </p:nvSpPr>
        <p:spPr>
          <a:xfrm>
            <a:off x="752355" y="6040821"/>
            <a:ext cx="7674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Diretiva </a:t>
            </a:r>
            <a:r>
              <a:rPr lang="pt-BR" b="1" dirty="0" err="1"/>
              <a:t>label</a:t>
            </a:r>
            <a:r>
              <a:rPr lang="pt-BR" dirty="0"/>
              <a:t> : pode-se criar “etiquetas” que podem ser “chamadas” no programa. No exemplo a “etiqueta” é FIM.</a:t>
            </a:r>
          </a:p>
        </p:txBody>
      </p:sp>
    </p:spTree>
    <p:extLst>
      <p:ext uri="{BB962C8B-B14F-4D97-AF65-F5344CB8AC3E}">
        <p14:creationId xmlns:p14="http://schemas.microsoft.com/office/powerpoint/2010/main" val="697028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87B50B8-858C-0743-07A0-AA4B6DE14E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55" t="30346" r="16444" b="8164"/>
          <a:stretch/>
        </p:blipFill>
        <p:spPr>
          <a:xfrm>
            <a:off x="588042" y="1610658"/>
            <a:ext cx="8391645" cy="4607208"/>
          </a:xfrm>
          <a:prstGeom prst="rect">
            <a:avLst/>
          </a:prstGeom>
        </p:spPr>
      </p:pic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5B15CA20-EC1D-C855-BA5C-C9F865F6C66D}"/>
              </a:ext>
            </a:extLst>
          </p:cNvPr>
          <p:cNvSpPr/>
          <p:nvPr/>
        </p:nvSpPr>
        <p:spPr>
          <a:xfrm>
            <a:off x="1486061" y="2544935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1FF2C2-A698-00DC-8301-267BEF71F2C7}"/>
              </a:ext>
            </a:extLst>
          </p:cNvPr>
          <p:cNvSpPr txBox="1"/>
          <p:nvPr/>
        </p:nvSpPr>
        <p:spPr>
          <a:xfrm>
            <a:off x="752355" y="6040821"/>
            <a:ext cx="7674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Diretiva </a:t>
            </a:r>
            <a:r>
              <a:rPr lang="pt-BR" b="1" dirty="0" err="1"/>
              <a:t>db</a:t>
            </a:r>
            <a:r>
              <a:rPr lang="pt-BR" dirty="0"/>
              <a:t> : permite a criação de variáveis </a:t>
            </a:r>
            <a:r>
              <a:rPr lang="pt-BR" b="1" dirty="0"/>
              <a:t>variáveis</a:t>
            </a:r>
            <a:r>
              <a:rPr lang="pt-BR" dirty="0"/>
              <a:t> que podem ser “chamadas” no programa. No exemplo a “etiqueta” é 7.</a:t>
            </a:r>
          </a:p>
        </p:txBody>
      </p:sp>
    </p:spTree>
    <p:extLst>
      <p:ext uri="{BB962C8B-B14F-4D97-AF65-F5344CB8AC3E}">
        <p14:creationId xmlns:p14="http://schemas.microsoft.com/office/powerpoint/2010/main" val="386668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8B0CFA7-7A5F-04A4-9B87-A2F96CA81C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96" t="30938" r="16251" b="6977"/>
          <a:stretch/>
        </p:blipFill>
        <p:spPr>
          <a:xfrm>
            <a:off x="588041" y="1689766"/>
            <a:ext cx="8391645" cy="4647919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1FF2C2-A698-00DC-8301-267BEF71F2C7}"/>
              </a:ext>
            </a:extLst>
          </p:cNvPr>
          <p:cNvSpPr txBox="1"/>
          <p:nvPr/>
        </p:nvSpPr>
        <p:spPr>
          <a:xfrm>
            <a:off x="752355" y="6040821"/>
            <a:ext cx="7674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Diretiva </a:t>
            </a:r>
            <a:r>
              <a:rPr lang="pt-BR" b="1" dirty="0" err="1"/>
              <a:t>db</a:t>
            </a:r>
            <a:r>
              <a:rPr lang="pt-BR" dirty="0"/>
              <a:t> : permite a criação de variáveis </a:t>
            </a:r>
            <a:r>
              <a:rPr lang="pt-BR" b="1" dirty="0"/>
              <a:t>variáveis</a:t>
            </a:r>
            <a:r>
              <a:rPr lang="pt-BR" dirty="0"/>
              <a:t> que podem ser “chamadas” no programa. No exemplo a “etiqueta” é 7.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FB6F7A28-A145-ADA6-0FB8-FE5572937A45}"/>
              </a:ext>
            </a:extLst>
          </p:cNvPr>
          <p:cNvGrpSpPr/>
          <p:nvPr/>
        </p:nvGrpSpPr>
        <p:grpSpPr>
          <a:xfrm>
            <a:off x="1689261" y="2385409"/>
            <a:ext cx="2565402" cy="923330"/>
            <a:chOff x="1689261" y="2385409"/>
            <a:chExt cx="2565402" cy="923330"/>
          </a:xfrm>
        </p:grpSpPr>
        <p:sp>
          <p:nvSpPr>
            <p:cNvPr id="5" name="Seta: para a Esquerda 4">
              <a:extLst>
                <a:ext uri="{FF2B5EF4-FFF2-40B4-BE49-F238E27FC236}">
                  <a16:creationId xmlns:a16="http://schemas.microsoft.com/office/drawing/2014/main" id="{5B15CA20-EC1D-C855-BA5C-C9F865F6C66D}"/>
                </a:ext>
              </a:extLst>
            </p:cNvPr>
            <p:cNvSpPr/>
            <p:nvPr/>
          </p:nvSpPr>
          <p:spPr>
            <a:xfrm>
              <a:off x="1689261" y="2458575"/>
              <a:ext cx="406400" cy="213360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BD971F8C-2AD2-8C55-B456-7E196C1437CE}"/>
                </a:ext>
              </a:extLst>
            </p:cNvPr>
            <p:cNvSpPr txBox="1"/>
            <p:nvPr/>
          </p:nvSpPr>
          <p:spPr>
            <a:xfrm>
              <a:off x="2095661" y="2385409"/>
              <a:ext cx="215900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rgbClr val="FF0000"/>
                  </a:solidFill>
                </a:rPr>
                <a:t>Insiramos um </a:t>
              </a:r>
              <a:r>
                <a:rPr lang="pt-BR" b="1" dirty="0" err="1">
                  <a:solidFill>
                    <a:srgbClr val="FF0000"/>
                  </a:solidFill>
                </a:rPr>
                <a:t>org</a:t>
              </a:r>
              <a:r>
                <a:rPr lang="pt-BR" b="1" dirty="0">
                  <a:solidFill>
                    <a:srgbClr val="FF0000"/>
                  </a:solidFill>
                </a:rPr>
                <a:t> para colocar o </a:t>
              </a:r>
              <a:r>
                <a:rPr lang="pt-BR" b="1" dirty="0" err="1">
                  <a:solidFill>
                    <a:srgbClr val="FF0000"/>
                  </a:solidFill>
                </a:rPr>
                <a:t>db</a:t>
              </a:r>
              <a:r>
                <a:rPr lang="pt-BR" b="1" dirty="0">
                  <a:solidFill>
                    <a:srgbClr val="FF0000"/>
                  </a:solidFill>
                </a:rPr>
                <a:t> 7 na linha 128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160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8B0CFA7-7A5F-04A4-9B87-A2F96CA81C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96" t="30938" r="16251" b="6977"/>
          <a:stretch/>
        </p:blipFill>
        <p:spPr>
          <a:xfrm>
            <a:off x="588041" y="1689766"/>
            <a:ext cx="8391645" cy="4647919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1FF2C2-A698-00DC-8301-267BEF71F2C7}"/>
              </a:ext>
            </a:extLst>
          </p:cNvPr>
          <p:cNvSpPr txBox="1"/>
          <p:nvPr/>
        </p:nvSpPr>
        <p:spPr>
          <a:xfrm>
            <a:off x="752355" y="6040821"/>
            <a:ext cx="7674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Diretiva </a:t>
            </a:r>
            <a:r>
              <a:rPr lang="pt-BR" b="1" dirty="0" err="1"/>
              <a:t>db</a:t>
            </a:r>
            <a:r>
              <a:rPr lang="pt-BR" dirty="0"/>
              <a:t> : permite a criação de variáveis </a:t>
            </a:r>
            <a:r>
              <a:rPr lang="pt-BR" b="1" dirty="0"/>
              <a:t>variáveis</a:t>
            </a:r>
            <a:r>
              <a:rPr lang="pt-BR" dirty="0"/>
              <a:t> que podem ser “chamadas” no programa. No exemplo a “etiqueta” é 7.</a:t>
            </a:r>
          </a:p>
        </p:txBody>
      </p:sp>
      <p:sp>
        <p:nvSpPr>
          <p:cNvPr id="3" name="Seta: para a Esquerda 2">
            <a:extLst>
              <a:ext uri="{FF2B5EF4-FFF2-40B4-BE49-F238E27FC236}">
                <a16:creationId xmlns:a16="http://schemas.microsoft.com/office/drawing/2014/main" id="{CCCDFCEA-FF0F-651F-9610-98A9C1483B61}"/>
              </a:ext>
            </a:extLst>
          </p:cNvPr>
          <p:cNvSpPr/>
          <p:nvPr/>
        </p:nvSpPr>
        <p:spPr>
          <a:xfrm>
            <a:off x="8019970" y="4202370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04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8A341C0-330F-A870-F3BD-ACB0CB304D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55" t="32716" r="16556" b="8515"/>
          <a:stretch/>
        </p:blipFill>
        <p:spPr>
          <a:xfrm>
            <a:off x="752354" y="1797336"/>
            <a:ext cx="8227331" cy="439460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1FF2C2-A698-00DC-8301-267BEF71F2C7}"/>
              </a:ext>
            </a:extLst>
          </p:cNvPr>
          <p:cNvSpPr txBox="1"/>
          <p:nvPr/>
        </p:nvSpPr>
        <p:spPr>
          <a:xfrm>
            <a:off x="752355" y="6040821"/>
            <a:ext cx="7674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Diretiva </a:t>
            </a:r>
            <a:r>
              <a:rPr lang="pt-BR" b="1" dirty="0" err="1"/>
              <a:t>db</a:t>
            </a:r>
            <a:r>
              <a:rPr lang="pt-BR" dirty="0"/>
              <a:t> : permite a criação de variáveis </a:t>
            </a:r>
            <a:r>
              <a:rPr lang="pt-BR" b="1" dirty="0"/>
              <a:t>variáveis</a:t>
            </a:r>
            <a:r>
              <a:rPr lang="pt-BR" dirty="0"/>
              <a:t> que podem ser “chamadas” no programa. No exemplo a “etiqueta” é 7.</a:t>
            </a:r>
          </a:p>
        </p:txBody>
      </p:sp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5B15CA20-EC1D-C855-BA5C-C9F865F6C66D}"/>
              </a:ext>
            </a:extLst>
          </p:cNvPr>
          <p:cNvSpPr/>
          <p:nvPr/>
        </p:nvSpPr>
        <p:spPr>
          <a:xfrm>
            <a:off x="5702461" y="2637730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678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8C0DA15-C2AB-93AC-11E3-E6667B1B91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66" t="29951" r="15778" b="8514"/>
          <a:stretch/>
        </p:blipFill>
        <p:spPr>
          <a:xfrm>
            <a:off x="588041" y="1628806"/>
            <a:ext cx="8391644" cy="4570220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1FF2C2-A698-00DC-8301-267BEF71F2C7}"/>
              </a:ext>
            </a:extLst>
          </p:cNvPr>
          <p:cNvSpPr txBox="1"/>
          <p:nvPr/>
        </p:nvSpPr>
        <p:spPr>
          <a:xfrm>
            <a:off x="752355" y="6040821"/>
            <a:ext cx="7674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Diretiva </a:t>
            </a:r>
            <a:r>
              <a:rPr lang="pt-BR" b="1" dirty="0" err="1"/>
              <a:t>db</a:t>
            </a:r>
            <a:r>
              <a:rPr lang="pt-BR" dirty="0"/>
              <a:t> : permite a criação de variáveis </a:t>
            </a:r>
            <a:r>
              <a:rPr lang="pt-BR" b="1" dirty="0"/>
              <a:t>variáveis</a:t>
            </a:r>
            <a:r>
              <a:rPr lang="pt-BR" dirty="0"/>
              <a:t> que podem ser “chamadas” no programa. No exemplo a “etiqueta” é 7.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FB6F7A28-A145-ADA6-0FB8-FE5572937A45}"/>
              </a:ext>
            </a:extLst>
          </p:cNvPr>
          <p:cNvGrpSpPr/>
          <p:nvPr/>
        </p:nvGrpSpPr>
        <p:grpSpPr>
          <a:xfrm>
            <a:off x="1902621" y="2517489"/>
            <a:ext cx="2565402" cy="1200329"/>
            <a:chOff x="1689261" y="2385409"/>
            <a:chExt cx="2565402" cy="1200329"/>
          </a:xfrm>
        </p:grpSpPr>
        <p:sp>
          <p:nvSpPr>
            <p:cNvPr id="5" name="Seta: para a Esquerda 4">
              <a:extLst>
                <a:ext uri="{FF2B5EF4-FFF2-40B4-BE49-F238E27FC236}">
                  <a16:creationId xmlns:a16="http://schemas.microsoft.com/office/drawing/2014/main" id="{5B15CA20-EC1D-C855-BA5C-C9F865F6C66D}"/>
                </a:ext>
              </a:extLst>
            </p:cNvPr>
            <p:cNvSpPr/>
            <p:nvPr/>
          </p:nvSpPr>
          <p:spPr>
            <a:xfrm>
              <a:off x="1689261" y="2458575"/>
              <a:ext cx="406400" cy="213360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BD971F8C-2AD2-8C55-B456-7E196C1437CE}"/>
                </a:ext>
              </a:extLst>
            </p:cNvPr>
            <p:cNvSpPr txBox="1"/>
            <p:nvPr/>
          </p:nvSpPr>
          <p:spPr>
            <a:xfrm>
              <a:off x="2095661" y="2385409"/>
              <a:ext cx="215900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rgbClr val="FF0000"/>
                  </a:solidFill>
                </a:rPr>
                <a:t>Podemos dar um nome para a variável, neste caso </a:t>
              </a:r>
              <a:r>
                <a:rPr lang="pt-BR" b="1" dirty="0">
                  <a:solidFill>
                    <a:srgbClr val="0070C0"/>
                  </a:solidFill>
                </a:rPr>
                <a:t>var_1: </a:t>
              </a:r>
              <a:r>
                <a:rPr lang="pt-BR" b="1" dirty="0" err="1">
                  <a:solidFill>
                    <a:srgbClr val="0070C0"/>
                  </a:solidFill>
                </a:rPr>
                <a:t>db</a:t>
              </a:r>
              <a:r>
                <a:rPr lang="pt-BR" b="1" dirty="0">
                  <a:solidFill>
                    <a:srgbClr val="0070C0"/>
                  </a:solidFill>
                </a:rPr>
                <a:t> 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844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8C0DA15-C2AB-93AC-11E3-E6667B1B91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66" t="29951" r="15778" b="8514"/>
          <a:stretch/>
        </p:blipFill>
        <p:spPr>
          <a:xfrm>
            <a:off x="588041" y="1628806"/>
            <a:ext cx="8391644" cy="4570220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1FF2C2-A698-00DC-8301-267BEF71F2C7}"/>
              </a:ext>
            </a:extLst>
          </p:cNvPr>
          <p:cNvSpPr txBox="1"/>
          <p:nvPr/>
        </p:nvSpPr>
        <p:spPr>
          <a:xfrm>
            <a:off x="752355" y="6040821"/>
            <a:ext cx="7674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Diretiva </a:t>
            </a:r>
            <a:r>
              <a:rPr lang="pt-BR" b="1" dirty="0" err="1"/>
              <a:t>db</a:t>
            </a:r>
            <a:r>
              <a:rPr lang="pt-BR" dirty="0"/>
              <a:t> : permite a criação de variáveis </a:t>
            </a:r>
            <a:r>
              <a:rPr lang="pt-BR" b="1" dirty="0"/>
              <a:t>variáveis</a:t>
            </a:r>
            <a:r>
              <a:rPr lang="pt-BR" dirty="0"/>
              <a:t> que podem ser “chamadas” no programa. No exemplo a “etiqueta” é 7.</a:t>
            </a:r>
          </a:p>
        </p:txBody>
      </p:sp>
      <p:sp>
        <p:nvSpPr>
          <p:cNvPr id="3" name="Seta: para a Esquerda 2">
            <a:extLst>
              <a:ext uri="{FF2B5EF4-FFF2-40B4-BE49-F238E27FC236}">
                <a16:creationId xmlns:a16="http://schemas.microsoft.com/office/drawing/2014/main" id="{9E46EC1B-EDAB-6053-BEAC-7EAE65DE67B4}"/>
              </a:ext>
            </a:extLst>
          </p:cNvPr>
          <p:cNvSpPr/>
          <p:nvPr/>
        </p:nvSpPr>
        <p:spPr>
          <a:xfrm>
            <a:off x="7673501" y="4209058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5190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10DE108-8891-7DAC-72A6-F7E4F27676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34" t="30938" r="16000" b="7329"/>
          <a:stretch/>
        </p:blipFill>
        <p:spPr>
          <a:xfrm>
            <a:off x="588040" y="1698841"/>
            <a:ext cx="8391643" cy="4576888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11FF2C2-A698-00DC-8301-267BEF71F2C7}"/>
              </a:ext>
            </a:extLst>
          </p:cNvPr>
          <p:cNvSpPr txBox="1"/>
          <p:nvPr/>
        </p:nvSpPr>
        <p:spPr>
          <a:xfrm>
            <a:off x="752355" y="6040821"/>
            <a:ext cx="7674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Diretiva </a:t>
            </a:r>
            <a:r>
              <a:rPr lang="pt-BR" b="1" dirty="0" err="1"/>
              <a:t>db</a:t>
            </a:r>
            <a:r>
              <a:rPr lang="pt-BR" dirty="0"/>
              <a:t> : permite a criação de variáveis </a:t>
            </a:r>
            <a:r>
              <a:rPr lang="pt-BR" b="1" dirty="0"/>
              <a:t>variáveis</a:t>
            </a:r>
            <a:r>
              <a:rPr lang="pt-BR" dirty="0"/>
              <a:t> que podem ser “chamadas” no programa. No exemplo a “etiqueta” é 7.</a:t>
            </a:r>
          </a:p>
        </p:txBody>
      </p:sp>
      <p:sp>
        <p:nvSpPr>
          <p:cNvPr id="3" name="Seta: para a Esquerda 2">
            <a:extLst>
              <a:ext uri="{FF2B5EF4-FFF2-40B4-BE49-F238E27FC236}">
                <a16:creationId xmlns:a16="http://schemas.microsoft.com/office/drawing/2014/main" id="{B8AF5CB4-A29F-B5F6-FFDE-F5E7542FE630}"/>
              </a:ext>
            </a:extLst>
          </p:cNvPr>
          <p:cNvSpPr/>
          <p:nvPr/>
        </p:nvSpPr>
        <p:spPr>
          <a:xfrm>
            <a:off x="6261261" y="2668210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5334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8C0DA15-C2AB-93AC-11E3-E6667B1B91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66" t="29951" r="15778" b="8514"/>
          <a:stretch/>
        </p:blipFill>
        <p:spPr>
          <a:xfrm>
            <a:off x="588041" y="1628806"/>
            <a:ext cx="8391644" cy="4570220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689A469E-24BC-3604-C097-F46145852923}"/>
              </a:ext>
            </a:extLst>
          </p:cNvPr>
          <p:cNvGrpSpPr/>
          <p:nvPr/>
        </p:nvGrpSpPr>
        <p:grpSpPr>
          <a:xfrm>
            <a:off x="1668941" y="2757398"/>
            <a:ext cx="2565402" cy="923330"/>
            <a:chOff x="1689261" y="2385409"/>
            <a:chExt cx="2565402" cy="923330"/>
          </a:xfrm>
        </p:grpSpPr>
        <p:sp>
          <p:nvSpPr>
            <p:cNvPr id="8" name="Seta: para a Esquerda 7">
              <a:extLst>
                <a:ext uri="{FF2B5EF4-FFF2-40B4-BE49-F238E27FC236}">
                  <a16:creationId xmlns:a16="http://schemas.microsoft.com/office/drawing/2014/main" id="{E6F3C991-D8C5-E670-D5B5-B38A1A59A163}"/>
                </a:ext>
              </a:extLst>
            </p:cNvPr>
            <p:cNvSpPr/>
            <p:nvPr/>
          </p:nvSpPr>
          <p:spPr>
            <a:xfrm>
              <a:off x="1689261" y="2458575"/>
              <a:ext cx="406400" cy="213360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CA13B36-4E88-DDA3-AD69-8718A2D2A027}"/>
                </a:ext>
              </a:extLst>
            </p:cNvPr>
            <p:cNvSpPr txBox="1"/>
            <p:nvPr/>
          </p:nvSpPr>
          <p:spPr>
            <a:xfrm>
              <a:off x="2095661" y="2385409"/>
              <a:ext cx="215900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rgbClr val="FF0000"/>
                  </a:solidFill>
                </a:rPr>
                <a:t>Vamos renomear o endereço 128, para: </a:t>
              </a:r>
              <a:r>
                <a:rPr lang="pt-BR" b="1" dirty="0">
                  <a:solidFill>
                    <a:srgbClr val="0070C0"/>
                  </a:solidFill>
                </a:rPr>
                <a:t>var_1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327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BF0C4BA-91D1-1540-0789-7601C9A16F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221" t="30938" r="16778" b="7329"/>
          <a:stretch/>
        </p:blipFill>
        <p:spPr>
          <a:xfrm>
            <a:off x="670560" y="1739480"/>
            <a:ext cx="8229600" cy="460916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sp>
        <p:nvSpPr>
          <p:cNvPr id="9" name="Seta: para a Esquerda 8">
            <a:extLst>
              <a:ext uri="{FF2B5EF4-FFF2-40B4-BE49-F238E27FC236}">
                <a16:creationId xmlns:a16="http://schemas.microsoft.com/office/drawing/2014/main" id="{360B4B25-ED6F-CA5D-4ED9-3165A06CCCA6}"/>
              </a:ext>
            </a:extLst>
          </p:cNvPr>
          <p:cNvSpPr/>
          <p:nvPr/>
        </p:nvSpPr>
        <p:spPr>
          <a:xfrm>
            <a:off x="1831501" y="2912050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55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BF0C4BA-91D1-1540-0789-7601C9A16F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221" t="30938" r="16778" b="7329"/>
          <a:stretch/>
        </p:blipFill>
        <p:spPr>
          <a:xfrm>
            <a:off x="670560" y="1739480"/>
            <a:ext cx="8229600" cy="460916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sp>
        <p:nvSpPr>
          <p:cNvPr id="9" name="Seta: para a Esquerda 8">
            <a:extLst>
              <a:ext uri="{FF2B5EF4-FFF2-40B4-BE49-F238E27FC236}">
                <a16:creationId xmlns:a16="http://schemas.microsoft.com/office/drawing/2014/main" id="{360B4B25-ED6F-CA5D-4ED9-3165A06CCCA6}"/>
              </a:ext>
            </a:extLst>
          </p:cNvPr>
          <p:cNvSpPr/>
          <p:nvPr/>
        </p:nvSpPr>
        <p:spPr>
          <a:xfrm>
            <a:off x="7825901" y="4253170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773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BF0C4BA-91D1-1540-0789-7601C9A16F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221" t="30938" r="16778" b="7329"/>
          <a:stretch/>
        </p:blipFill>
        <p:spPr>
          <a:xfrm>
            <a:off x="670560" y="1739480"/>
            <a:ext cx="8229600" cy="460916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00D99DA-A5A9-F9CE-2FE1-E521433BDC90}"/>
              </a:ext>
            </a:extLst>
          </p:cNvPr>
          <p:cNvGrpSpPr/>
          <p:nvPr/>
        </p:nvGrpSpPr>
        <p:grpSpPr>
          <a:xfrm>
            <a:off x="4432461" y="3905478"/>
            <a:ext cx="2565402" cy="1477328"/>
            <a:chOff x="1689261" y="2385409"/>
            <a:chExt cx="2565402" cy="1477328"/>
          </a:xfrm>
        </p:grpSpPr>
        <p:sp>
          <p:nvSpPr>
            <p:cNvPr id="4" name="Seta: para a Esquerda 3">
              <a:extLst>
                <a:ext uri="{FF2B5EF4-FFF2-40B4-BE49-F238E27FC236}">
                  <a16:creationId xmlns:a16="http://schemas.microsoft.com/office/drawing/2014/main" id="{A4EA3DAE-CB5B-D319-C0F0-826688A1AC74}"/>
                </a:ext>
              </a:extLst>
            </p:cNvPr>
            <p:cNvSpPr/>
            <p:nvPr/>
          </p:nvSpPr>
          <p:spPr>
            <a:xfrm>
              <a:off x="1689261" y="2458575"/>
              <a:ext cx="406400" cy="213360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DF4EDCBA-ED49-6AA7-95B9-A12B05A9585B}"/>
                </a:ext>
              </a:extLst>
            </p:cNvPr>
            <p:cNvSpPr txBox="1"/>
            <p:nvPr/>
          </p:nvSpPr>
          <p:spPr>
            <a:xfrm>
              <a:off x="2095661" y="2385409"/>
              <a:ext cx="2159002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rgbClr val="FF0000"/>
                  </a:solidFill>
                </a:rPr>
                <a:t>Observe que o código de máquina não foi alterado com a renomeação da variável.</a:t>
              </a:r>
              <a:endParaRPr lang="pt-BR" b="1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196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6A150642-0F93-791B-C2A0-DA421DE167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66" t="31334" r="16555" b="7630"/>
          <a:stretch/>
        </p:blipFill>
        <p:spPr>
          <a:xfrm>
            <a:off x="670560" y="1839284"/>
            <a:ext cx="8229600" cy="4500790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00D99DA-A5A9-F9CE-2FE1-E521433BDC90}"/>
              </a:ext>
            </a:extLst>
          </p:cNvPr>
          <p:cNvGrpSpPr/>
          <p:nvPr/>
        </p:nvGrpSpPr>
        <p:grpSpPr>
          <a:xfrm>
            <a:off x="2054440" y="2755316"/>
            <a:ext cx="2883320" cy="1200329"/>
            <a:chOff x="1689261" y="2385409"/>
            <a:chExt cx="2565402" cy="1200329"/>
          </a:xfrm>
        </p:grpSpPr>
        <p:sp>
          <p:nvSpPr>
            <p:cNvPr id="4" name="Seta: para a Esquerda 3">
              <a:extLst>
                <a:ext uri="{FF2B5EF4-FFF2-40B4-BE49-F238E27FC236}">
                  <a16:creationId xmlns:a16="http://schemas.microsoft.com/office/drawing/2014/main" id="{A4EA3DAE-CB5B-D319-C0F0-826688A1AC74}"/>
                </a:ext>
              </a:extLst>
            </p:cNvPr>
            <p:cNvSpPr/>
            <p:nvPr/>
          </p:nvSpPr>
          <p:spPr>
            <a:xfrm>
              <a:off x="1689261" y="2458575"/>
              <a:ext cx="406400" cy="213360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DF4EDCBA-ED49-6AA7-95B9-A12B05A9585B}"/>
                </a:ext>
              </a:extLst>
            </p:cNvPr>
            <p:cNvSpPr txBox="1"/>
            <p:nvPr/>
          </p:nvSpPr>
          <p:spPr>
            <a:xfrm>
              <a:off x="2095661" y="2385409"/>
              <a:ext cx="215900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rgbClr val="FF0000"/>
                  </a:solidFill>
                </a:rPr>
                <a:t>Vamos criar um segunda variável, chamada: </a:t>
              </a:r>
              <a:r>
                <a:rPr lang="pt-BR" b="1" dirty="0">
                  <a:solidFill>
                    <a:srgbClr val="0070C0"/>
                  </a:solidFill>
                </a:rPr>
                <a:t>var_2: </a:t>
              </a:r>
              <a:r>
                <a:rPr lang="pt-BR" b="1" dirty="0" err="1">
                  <a:solidFill>
                    <a:srgbClr val="0070C0"/>
                  </a:solidFill>
                </a:rPr>
                <a:t>db</a:t>
              </a:r>
              <a:r>
                <a:rPr lang="pt-BR" b="1" dirty="0">
                  <a:solidFill>
                    <a:srgbClr val="0070C0"/>
                  </a:solidFill>
                </a:rPr>
                <a:t> 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103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6A150642-0F93-791B-C2A0-DA421DE167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66" t="31334" r="16555" b="7630"/>
          <a:stretch/>
        </p:blipFill>
        <p:spPr>
          <a:xfrm>
            <a:off x="670560" y="1839284"/>
            <a:ext cx="8229600" cy="4500790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sp>
        <p:nvSpPr>
          <p:cNvPr id="5" name="Seta: para a Esquerda 4">
            <a:extLst>
              <a:ext uri="{FF2B5EF4-FFF2-40B4-BE49-F238E27FC236}">
                <a16:creationId xmlns:a16="http://schemas.microsoft.com/office/drawing/2014/main" id="{152DBC4D-10DC-3D86-CF4E-AF486375E20F}"/>
              </a:ext>
            </a:extLst>
          </p:cNvPr>
          <p:cNvSpPr/>
          <p:nvPr/>
        </p:nvSpPr>
        <p:spPr>
          <a:xfrm>
            <a:off x="7825901" y="4283650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574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8759878-C041-8435-008B-303423C87C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55" t="30741" r="16111" b="7827"/>
          <a:stretch/>
        </p:blipFill>
        <p:spPr>
          <a:xfrm>
            <a:off x="670560" y="1783367"/>
            <a:ext cx="8351520" cy="455670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0431E04B-62DF-6CC4-8B08-89ABEEC30660}"/>
              </a:ext>
            </a:extLst>
          </p:cNvPr>
          <p:cNvSpPr/>
          <p:nvPr/>
        </p:nvSpPr>
        <p:spPr>
          <a:xfrm>
            <a:off x="6190141" y="2962850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18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2CC4C0A-AE0C-FDE9-52D8-2809F09A57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78" t="30938" r="17445" b="8222"/>
          <a:stretch/>
        </p:blipFill>
        <p:spPr>
          <a:xfrm>
            <a:off x="721874" y="1823720"/>
            <a:ext cx="8117325" cy="4496648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20D07624-842D-A1FC-805B-9EA285BAFE12}"/>
              </a:ext>
            </a:extLst>
          </p:cNvPr>
          <p:cNvGrpSpPr/>
          <p:nvPr/>
        </p:nvGrpSpPr>
        <p:grpSpPr>
          <a:xfrm>
            <a:off x="2013800" y="3273476"/>
            <a:ext cx="2883320" cy="646331"/>
            <a:chOff x="1689261" y="2385409"/>
            <a:chExt cx="2565402" cy="646331"/>
          </a:xfrm>
        </p:grpSpPr>
        <p:sp>
          <p:nvSpPr>
            <p:cNvPr id="9" name="Seta: para a Esquerda 8">
              <a:extLst>
                <a:ext uri="{FF2B5EF4-FFF2-40B4-BE49-F238E27FC236}">
                  <a16:creationId xmlns:a16="http://schemas.microsoft.com/office/drawing/2014/main" id="{AC7F23BB-4D06-15DB-F99B-0FB021D42646}"/>
                </a:ext>
              </a:extLst>
            </p:cNvPr>
            <p:cNvSpPr/>
            <p:nvPr/>
          </p:nvSpPr>
          <p:spPr>
            <a:xfrm>
              <a:off x="1689261" y="2458575"/>
              <a:ext cx="406400" cy="213360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924FD4AE-7286-8B6B-C2E2-28C614084574}"/>
                </a:ext>
              </a:extLst>
            </p:cNvPr>
            <p:cNvSpPr txBox="1"/>
            <p:nvPr/>
          </p:nvSpPr>
          <p:spPr>
            <a:xfrm>
              <a:off x="2095661" y="2385409"/>
              <a:ext cx="215900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rgbClr val="FF0000"/>
                  </a:solidFill>
                </a:rPr>
                <a:t>Vamos salvar </a:t>
              </a:r>
              <a:r>
                <a:rPr lang="pt-BR" b="1" dirty="0">
                  <a:solidFill>
                    <a:srgbClr val="0070C0"/>
                  </a:solidFill>
                </a:rPr>
                <a:t>var_2</a:t>
              </a:r>
              <a:r>
                <a:rPr lang="pt-BR" b="1" dirty="0">
                  <a:solidFill>
                    <a:srgbClr val="FF0000"/>
                  </a:solidFill>
                </a:rPr>
                <a:t> na memória</a:t>
              </a:r>
              <a:endParaRPr lang="pt-BR" b="1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370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2CC4C0A-AE0C-FDE9-52D8-2809F09A57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78" t="30938" r="17445" b="8222"/>
          <a:stretch/>
        </p:blipFill>
        <p:spPr>
          <a:xfrm>
            <a:off x="721874" y="1823720"/>
            <a:ext cx="8117325" cy="4496648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sp>
        <p:nvSpPr>
          <p:cNvPr id="3" name="Seta: para a Esquerda 2">
            <a:extLst>
              <a:ext uri="{FF2B5EF4-FFF2-40B4-BE49-F238E27FC236}">
                <a16:creationId xmlns:a16="http://schemas.microsoft.com/office/drawing/2014/main" id="{C9A0C6BE-6D11-7023-F6EC-9D857B092CE2}"/>
              </a:ext>
            </a:extLst>
          </p:cNvPr>
          <p:cNvSpPr/>
          <p:nvPr/>
        </p:nvSpPr>
        <p:spPr>
          <a:xfrm>
            <a:off x="7785261" y="4314130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752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0A0A664-0F53-3685-20FA-C309BDCB70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11" t="31730" r="16000" b="8222"/>
          <a:stretch/>
        </p:blipFill>
        <p:spPr>
          <a:xfrm>
            <a:off x="812799" y="1884680"/>
            <a:ext cx="8258551" cy="4435688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sp>
        <p:nvSpPr>
          <p:cNvPr id="3" name="Seta: para a Esquerda 2">
            <a:extLst>
              <a:ext uri="{FF2B5EF4-FFF2-40B4-BE49-F238E27FC236}">
                <a16:creationId xmlns:a16="http://schemas.microsoft.com/office/drawing/2014/main" id="{C9A0C6BE-6D11-7023-F6EC-9D857B092CE2}"/>
              </a:ext>
            </a:extLst>
          </p:cNvPr>
          <p:cNvSpPr/>
          <p:nvPr/>
        </p:nvSpPr>
        <p:spPr>
          <a:xfrm>
            <a:off x="4759194" y="4237930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33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0A0A664-0F53-3685-20FA-C309BDCB70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11" t="31730" r="16000" b="8222"/>
          <a:stretch/>
        </p:blipFill>
        <p:spPr>
          <a:xfrm>
            <a:off x="812799" y="1884680"/>
            <a:ext cx="8258551" cy="4435688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sp>
        <p:nvSpPr>
          <p:cNvPr id="3" name="Seta: para a Esquerda 2">
            <a:extLst>
              <a:ext uri="{FF2B5EF4-FFF2-40B4-BE49-F238E27FC236}">
                <a16:creationId xmlns:a16="http://schemas.microsoft.com/office/drawing/2014/main" id="{C9A0C6BE-6D11-7023-F6EC-9D857B092CE2}"/>
              </a:ext>
            </a:extLst>
          </p:cNvPr>
          <p:cNvSpPr/>
          <p:nvPr/>
        </p:nvSpPr>
        <p:spPr>
          <a:xfrm>
            <a:off x="7786874" y="4552890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7529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A916E2D-778C-D9C1-C912-885698D226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55" t="30741" r="16888" b="9013"/>
          <a:stretch/>
        </p:blipFill>
        <p:spPr>
          <a:xfrm>
            <a:off x="812798" y="1854200"/>
            <a:ext cx="8097521" cy="4386756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Diretiva </a:t>
            </a:r>
            <a:r>
              <a:rPr lang="pt-BR" altLang="pt-BR" sz="2800" b="1" dirty="0" err="1">
                <a:solidFill>
                  <a:srgbClr val="FF0000"/>
                </a:solidFill>
              </a:rPr>
              <a:t>label</a:t>
            </a:r>
            <a:r>
              <a:rPr lang="pt-BR" altLang="pt-BR" sz="2800" b="1" dirty="0">
                <a:solidFill>
                  <a:srgbClr val="FF0000"/>
                </a:solidFill>
              </a:rPr>
              <a:t> (rótulo)</a:t>
            </a:r>
          </a:p>
        </p:txBody>
      </p:sp>
      <p:sp>
        <p:nvSpPr>
          <p:cNvPr id="3" name="Seta: para a Esquerda 2">
            <a:extLst>
              <a:ext uri="{FF2B5EF4-FFF2-40B4-BE49-F238E27FC236}">
                <a16:creationId xmlns:a16="http://schemas.microsoft.com/office/drawing/2014/main" id="{C9A0C6BE-6D11-7023-F6EC-9D857B092CE2}"/>
              </a:ext>
            </a:extLst>
          </p:cNvPr>
          <p:cNvSpPr/>
          <p:nvPr/>
        </p:nvSpPr>
        <p:spPr>
          <a:xfrm>
            <a:off x="8331202" y="3516570"/>
            <a:ext cx="406400" cy="21336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00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093B343-12D4-1A2D-60DA-E3CBEC7F00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55" t="31532" r="17111" b="7431"/>
          <a:stretch/>
        </p:blipFill>
        <p:spPr>
          <a:xfrm>
            <a:off x="873759" y="1906210"/>
            <a:ext cx="8016239" cy="4415362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3219857-CEE8-A68D-23C2-427BAFC6E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4695"/>
            <a:ext cx="914399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2800" b="1" dirty="0">
                <a:solidFill>
                  <a:srgbClr val="FF0000"/>
                </a:solidFill>
              </a:rPr>
              <a:t>	Montador Hidra: Comentários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88E32901-8953-BD87-7922-8697C49ED291}"/>
              </a:ext>
            </a:extLst>
          </p:cNvPr>
          <p:cNvGrpSpPr/>
          <p:nvPr/>
        </p:nvGrpSpPr>
        <p:grpSpPr>
          <a:xfrm>
            <a:off x="3130340" y="2782669"/>
            <a:ext cx="2426560" cy="1477328"/>
            <a:chOff x="1689261" y="2385409"/>
            <a:chExt cx="2159005" cy="1477328"/>
          </a:xfrm>
        </p:grpSpPr>
        <p:sp>
          <p:nvSpPr>
            <p:cNvPr id="8" name="Seta: para a Esquerda 7">
              <a:extLst>
                <a:ext uri="{FF2B5EF4-FFF2-40B4-BE49-F238E27FC236}">
                  <a16:creationId xmlns:a16="http://schemas.microsoft.com/office/drawing/2014/main" id="{4C06B09A-DB93-F3EF-6B5E-C46D71442F6B}"/>
                </a:ext>
              </a:extLst>
            </p:cNvPr>
            <p:cNvSpPr/>
            <p:nvPr/>
          </p:nvSpPr>
          <p:spPr>
            <a:xfrm>
              <a:off x="1689261" y="2458575"/>
              <a:ext cx="406400" cy="213360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CAFAB41E-6CE7-DEF4-6BE8-4853147BB50C}"/>
                </a:ext>
              </a:extLst>
            </p:cNvPr>
            <p:cNvSpPr txBox="1"/>
            <p:nvPr/>
          </p:nvSpPr>
          <p:spPr>
            <a:xfrm>
              <a:off x="2095662" y="2385409"/>
              <a:ext cx="1752604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rgbClr val="FF0000"/>
                  </a:solidFill>
                </a:rPr>
                <a:t>Podemos inserir um comentário </a:t>
              </a:r>
              <a:r>
                <a:rPr lang="pt-BR" b="1" dirty="0" err="1">
                  <a:solidFill>
                    <a:srgbClr val="FF0000"/>
                  </a:solidFill>
                </a:rPr>
                <a:t>inserino</a:t>
              </a:r>
              <a:r>
                <a:rPr lang="pt-BR" b="1" dirty="0">
                  <a:solidFill>
                    <a:srgbClr val="FF0000"/>
                  </a:solidFill>
                </a:rPr>
                <a:t> </a:t>
              </a:r>
              <a:r>
                <a:rPr lang="pt-BR" b="1" dirty="0">
                  <a:solidFill>
                    <a:srgbClr val="0070C0"/>
                  </a:solidFill>
                </a:rPr>
                <a:t>;</a:t>
              </a:r>
              <a:r>
                <a:rPr lang="pt-BR" b="1" dirty="0">
                  <a:solidFill>
                    <a:srgbClr val="FF0000"/>
                  </a:solidFill>
                </a:rPr>
                <a:t> e depois à direita o comentário.</a:t>
              </a:r>
              <a:endParaRPr lang="pt-BR" b="1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176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>
            <a:extLst>
              <a:ext uri="{FF2B5EF4-FFF2-40B4-BE49-F238E27FC236}">
                <a16:creationId xmlns:a16="http://schemas.microsoft.com/office/drawing/2014/main" id="{3CD65825-C88D-4673-6E51-161A46C5F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773238"/>
            <a:ext cx="5543550" cy="437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Título 1">
            <a:extLst>
              <a:ext uri="{FF2B5EF4-FFF2-40B4-BE49-F238E27FC236}">
                <a16:creationId xmlns:a16="http://schemas.microsoft.com/office/drawing/2014/main" id="{8B929C0E-D817-B08E-8AE2-63F44E997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>
                <a:latin typeface="Gotham HTF" charset="0"/>
                <a:ea typeface="MS PGothic" panose="020B0600070205080204" pitchFamily="34" charset="-128"/>
              </a:rPr>
              <a:t>Dúvidas?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54A8286-346A-32B6-0EDC-04B1E2E3C0E5}"/>
              </a:ext>
            </a:extLst>
          </p:cNvPr>
          <p:cNvSpPr txBox="1"/>
          <p:nvPr/>
        </p:nvSpPr>
        <p:spPr>
          <a:xfrm>
            <a:off x="855980" y="766732"/>
            <a:ext cx="692658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AutoNum type="arabicPeriod"/>
            </a:pPr>
            <a:r>
              <a:rPr lang="pt-BR" sz="2000" dirty="0"/>
              <a:t>Monte um programa que realiza a subtração: 10 -  3</a:t>
            </a:r>
          </a:p>
          <a:p>
            <a:pPr marL="457200" indent="-457200" algn="just">
              <a:buAutoNum type="arabicPeriod"/>
            </a:pPr>
            <a:endParaRPr lang="pt-BR" sz="2000" dirty="0"/>
          </a:p>
          <a:p>
            <a:pPr marL="457200" indent="-457200" algn="just">
              <a:buAutoNum type="arabicPeriod"/>
            </a:pPr>
            <a:r>
              <a:rPr lang="pt-BR" sz="2000" dirty="0"/>
              <a:t>Monte um programa que realiza a soma: 15 + 21</a:t>
            </a:r>
          </a:p>
          <a:p>
            <a:pPr marL="457200" indent="-457200" algn="just">
              <a:buAutoNum type="arabicPeriod"/>
            </a:pPr>
            <a:endParaRPr lang="pt-BR" sz="2000" dirty="0"/>
          </a:p>
          <a:p>
            <a:pPr marL="457200" indent="-457200" algn="just">
              <a:buAutoNum type="arabicPeriod"/>
            </a:pPr>
            <a:r>
              <a:rPr lang="pt-BR" sz="2000" dirty="0"/>
              <a:t>Monte um programa que realiza a subtração: 121 - 59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4. Monte um programa que realize: (3 x  8) - 12.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5. Monte um programa que realize: (13 -  8) x 3.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6. Monte um programa que realize: 5 x 5 + 3.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7. Monte um programa que realize: (2 + 5) x 5.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8. Monte um programa que realize: 25 x 2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9. Monte um programa que realize: 16/2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10. Monte um programa que realize</a:t>
            </a:r>
            <a:r>
              <a:rPr lang="pt-BR" sz="2000"/>
              <a:t>: 90/2</a:t>
            </a:r>
            <a:endParaRPr lang="pt-BR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4D5306F-A7C7-2585-F2FE-1871420E42ED}"/>
              </a:ext>
            </a:extLst>
          </p:cNvPr>
          <p:cNvSpPr/>
          <p:nvPr/>
        </p:nvSpPr>
        <p:spPr>
          <a:xfrm>
            <a:off x="0" y="0"/>
            <a:ext cx="9144000" cy="793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2707" name="CaixaDeTexto 3">
            <a:extLst>
              <a:ext uri="{FF2B5EF4-FFF2-40B4-BE49-F238E27FC236}">
                <a16:creationId xmlns:a16="http://schemas.microsoft.com/office/drawing/2014/main" id="{C30DD4AF-878C-8AEE-787E-8B7EE3911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833438"/>
            <a:ext cx="53467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SOUZA, D.J. </a:t>
            </a:r>
            <a:r>
              <a:rPr lang="pt-BR" altLang="pt-BR" sz="1200" b="1" dirty="0">
                <a:solidFill>
                  <a:schemeClr val="tx1"/>
                </a:solidFill>
              </a:rPr>
              <a:t>Desbravando o PIC</a:t>
            </a:r>
            <a:r>
              <a:rPr lang="pt-BR" altLang="pt-BR" sz="1200" dirty="0">
                <a:solidFill>
                  <a:schemeClr val="tx1"/>
                </a:solidFill>
              </a:rPr>
              <a:t>. 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2708" name="CaixaDeTexto 4">
            <a:extLst>
              <a:ext uri="{FF2B5EF4-FFF2-40B4-BE49-F238E27FC236}">
                <a16:creationId xmlns:a16="http://schemas.microsoft.com/office/drawing/2014/main" id="{166B574B-25CD-A340-93B2-8EE0F4E5B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1193800"/>
            <a:ext cx="4897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SOUSA, D.R.; SOUZA, D.J. </a:t>
            </a:r>
            <a:r>
              <a:rPr lang="pt-BR" altLang="pt-BR" sz="1200" b="1" dirty="0">
                <a:solidFill>
                  <a:schemeClr val="tx1"/>
                </a:solidFill>
              </a:rPr>
              <a:t>Desbravando o microcontrolador PIC18</a:t>
            </a:r>
            <a:r>
              <a:rPr lang="pt-BR" altLang="pt-BR" sz="1200" dirty="0">
                <a:solidFill>
                  <a:schemeClr val="tx1"/>
                </a:solidFill>
              </a:rPr>
              <a:t>. 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2709" name="CaixaDeTexto 5">
            <a:extLst>
              <a:ext uri="{FF2B5EF4-FFF2-40B4-BE49-F238E27FC236}">
                <a16:creationId xmlns:a16="http://schemas.microsoft.com/office/drawing/2014/main" id="{6DED6231-FE00-08BD-F3FF-51F87F11D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1801813"/>
            <a:ext cx="4968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SOUSA, D.R.; SOUZA, D.J. </a:t>
            </a:r>
            <a:r>
              <a:rPr lang="pt-BR" altLang="pt-BR" sz="1200" b="1" dirty="0">
                <a:solidFill>
                  <a:schemeClr val="tx1"/>
                </a:solidFill>
              </a:rPr>
              <a:t>Desbravando o PIC24.</a:t>
            </a:r>
            <a:r>
              <a:rPr lang="pt-BR" altLang="pt-BR" sz="1200" dirty="0">
                <a:solidFill>
                  <a:schemeClr val="tx1"/>
                </a:solidFill>
              </a:rPr>
              <a:t> 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2710" name="CaixaDeTexto 6">
            <a:extLst>
              <a:ext uri="{FF2B5EF4-FFF2-40B4-BE49-F238E27FC236}">
                <a16:creationId xmlns:a16="http://schemas.microsoft.com/office/drawing/2014/main" id="{1C22C38A-BB19-84B3-5995-C7BF85F9C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2409825"/>
            <a:ext cx="50196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PEREIRA, F. </a:t>
            </a:r>
            <a:r>
              <a:rPr lang="pt-BR" altLang="pt-BR" sz="1200" b="1" dirty="0">
                <a:solidFill>
                  <a:schemeClr val="tx1"/>
                </a:solidFill>
              </a:rPr>
              <a:t>Tecnologia ARM – Microcontroladores de 32 bits. </a:t>
            </a:r>
            <a:r>
              <a:rPr lang="pt-BR" altLang="pt-BR" sz="1200" dirty="0">
                <a:solidFill>
                  <a:schemeClr val="tx1"/>
                </a:solidFill>
              </a:rPr>
              <a:t>Editora Érica Saraiva</a:t>
            </a:r>
            <a:r>
              <a:rPr lang="pt-BR" altLang="pt-BR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2711" name="CaixaDeTexto 7">
            <a:extLst>
              <a:ext uri="{FF2B5EF4-FFF2-40B4-BE49-F238E27FC236}">
                <a16:creationId xmlns:a16="http://schemas.microsoft.com/office/drawing/2014/main" id="{3F04EF15-E322-8BE8-898B-A0F43F730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2967038"/>
            <a:ext cx="5145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200" dirty="0">
                <a:solidFill>
                  <a:schemeClr val="tx1"/>
                </a:solidFill>
              </a:rPr>
              <a:t>SOUSA, D.R. </a:t>
            </a:r>
            <a:r>
              <a:rPr lang="pt-BR" altLang="pt-BR" sz="1200" b="1" dirty="0">
                <a:solidFill>
                  <a:schemeClr val="tx1"/>
                </a:solidFill>
              </a:rPr>
              <a:t>Microcontroladores ARM7 – O poder dos 32 bits.</a:t>
            </a:r>
            <a:r>
              <a:rPr lang="pt-BR" altLang="pt-BR" sz="1200" dirty="0">
                <a:solidFill>
                  <a:schemeClr val="tx1"/>
                </a:solidFill>
              </a:rPr>
              <a:t> Editora Érica Saraiva.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CCA5F36-ABF8-F515-2761-85E504568D44}"/>
              </a:ext>
            </a:extLst>
          </p:cNvPr>
          <p:cNvSpPr txBox="1"/>
          <p:nvPr/>
        </p:nvSpPr>
        <p:spPr>
          <a:xfrm>
            <a:off x="3952875" y="4008438"/>
            <a:ext cx="5033963" cy="28622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altLang="pt-BR" sz="1200" dirty="0"/>
              <a:t>OLIVEIRA, A. S., ANDRADE, F. S. </a:t>
            </a:r>
            <a:r>
              <a:rPr lang="pt-BR" altLang="pt-BR" sz="1200" b="1" dirty="0"/>
              <a:t>Sistemas Embarcados: hardware e firmware na prática. </a:t>
            </a:r>
            <a:r>
              <a:rPr lang="pt-BR" altLang="pt-BR" sz="1200" dirty="0"/>
              <a:t>Editora Érica Saraiva. </a:t>
            </a:r>
            <a:r>
              <a:rPr lang="pt-BR" altLang="pt-BR" sz="1200" dirty="0">
                <a:solidFill>
                  <a:schemeClr val="tx1">
                    <a:lumMod val="50000"/>
                  </a:schemeClr>
                </a:solidFill>
              </a:rPr>
              <a:t>(Biblioteca FIAP – livro físico)</a:t>
            </a:r>
          </a:p>
          <a:p>
            <a:pPr>
              <a:defRPr/>
            </a:pPr>
            <a:endParaRPr lang="pt-BR" altLang="pt-BR" sz="12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pt-BR" altLang="pt-BR" sz="1200" dirty="0"/>
              <a:t>SOUSA, D.R.; SOUZA, D.J., LAVÍNIA, N. C. </a:t>
            </a:r>
            <a:r>
              <a:rPr lang="pt-BR" altLang="pt-BR" sz="1200" b="1" dirty="0"/>
              <a:t>Desbravando o microcontrolador PIC18: recursos avançados</a:t>
            </a:r>
            <a:r>
              <a:rPr lang="pt-BR" altLang="pt-BR" sz="1200" dirty="0"/>
              <a:t>. Editora Érica Saraiva</a:t>
            </a:r>
            <a:r>
              <a:rPr lang="pt-BR" altLang="pt-BR" sz="1200" b="1" dirty="0"/>
              <a:t>.</a:t>
            </a:r>
          </a:p>
          <a:p>
            <a:pPr>
              <a:defRPr/>
            </a:pPr>
            <a:endParaRPr lang="pt-BR" altLang="pt-BR" sz="1200" dirty="0"/>
          </a:p>
          <a:p>
            <a:pPr>
              <a:defRPr/>
            </a:pPr>
            <a:r>
              <a:rPr lang="pt-BR" altLang="pt-BR" sz="1200" dirty="0"/>
              <a:t>PEREIRA, F. </a:t>
            </a:r>
            <a:r>
              <a:rPr lang="pt-BR" altLang="pt-BR" sz="1200" b="1" dirty="0"/>
              <a:t>Microcontroladores PIC: programação em C</a:t>
            </a:r>
            <a:r>
              <a:rPr lang="pt-BR" altLang="pt-BR" sz="1200" dirty="0"/>
              <a:t>. Editora Érica Saraiva.</a:t>
            </a:r>
          </a:p>
          <a:p>
            <a:pPr>
              <a:defRPr/>
            </a:pPr>
            <a:endParaRPr lang="pt-BR" altLang="pt-BR" sz="12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pt-BR" altLang="pt-BR" sz="1200" dirty="0"/>
              <a:t>YIU, J. </a:t>
            </a:r>
            <a:r>
              <a:rPr lang="pt-BR" altLang="pt-BR" sz="1200" b="1" dirty="0"/>
              <a:t>The </a:t>
            </a:r>
            <a:r>
              <a:rPr lang="pt-BR" altLang="pt-BR" sz="1200" b="1" dirty="0" err="1"/>
              <a:t>definitive</a:t>
            </a:r>
            <a:r>
              <a:rPr lang="pt-BR" altLang="pt-BR" sz="1200" b="1" dirty="0"/>
              <a:t> </a:t>
            </a:r>
            <a:r>
              <a:rPr lang="pt-BR" altLang="pt-BR" sz="1200" b="1" dirty="0" err="1"/>
              <a:t>guide</a:t>
            </a:r>
            <a:r>
              <a:rPr lang="pt-BR" altLang="pt-BR" sz="1200" b="1" dirty="0"/>
              <a:t> </a:t>
            </a:r>
            <a:r>
              <a:rPr lang="pt-BR" altLang="pt-BR" sz="1200" b="1" dirty="0" err="1"/>
              <a:t>to</a:t>
            </a:r>
            <a:r>
              <a:rPr lang="pt-BR" altLang="pt-BR" sz="1200" b="1" dirty="0"/>
              <a:t> ARM </a:t>
            </a:r>
            <a:r>
              <a:rPr lang="pt-BR" altLang="pt-BR" sz="1200" b="1" dirty="0" err="1"/>
              <a:t>Cortex</a:t>
            </a:r>
            <a:r>
              <a:rPr lang="pt-BR" altLang="pt-BR" sz="1200" b="1" dirty="0"/>
              <a:t> M3 </a:t>
            </a:r>
            <a:r>
              <a:rPr lang="pt-BR" altLang="pt-BR" sz="1200" b="1" dirty="0" err="1"/>
              <a:t>and</a:t>
            </a:r>
            <a:r>
              <a:rPr lang="pt-BR" altLang="pt-BR" sz="1200" b="1" dirty="0"/>
              <a:t> ARM </a:t>
            </a:r>
            <a:r>
              <a:rPr lang="pt-BR" altLang="pt-BR" sz="1200" b="1" dirty="0" err="1"/>
              <a:t>Cortex</a:t>
            </a:r>
            <a:r>
              <a:rPr lang="pt-BR" altLang="pt-BR" sz="1200" b="1" dirty="0"/>
              <a:t> M4 processors. </a:t>
            </a:r>
            <a:r>
              <a:rPr lang="pt-BR" altLang="pt-BR" sz="1200" dirty="0"/>
              <a:t>Ed. Elsevier.</a:t>
            </a:r>
          </a:p>
          <a:p>
            <a:pPr>
              <a:defRPr/>
            </a:pPr>
            <a:endParaRPr lang="pt-BR" altLang="pt-BR" sz="1200" dirty="0"/>
          </a:p>
          <a:p>
            <a:pPr>
              <a:defRPr/>
            </a:pPr>
            <a:r>
              <a:rPr lang="pt-BR" altLang="pt-BR" sz="1200" dirty="0"/>
              <a:t>SLOSS, A. N., SYMES, D., WRIGHT, C. </a:t>
            </a:r>
            <a:r>
              <a:rPr lang="pt-BR" altLang="pt-BR" sz="1200" b="1" dirty="0"/>
              <a:t>ARM System </a:t>
            </a:r>
            <a:r>
              <a:rPr lang="pt-BR" altLang="pt-BR" sz="1200" b="1" dirty="0" err="1"/>
              <a:t>Developer’s</a:t>
            </a:r>
            <a:r>
              <a:rPr lang="pt-BR" altLang="pt-BR" sz="1200" b="1" dirty="0"/>
              <a:t> </a:t>
            </a:r>
            <a:r>
              <a:rPr lang="pt-BR" altLang="pt-BR" sz="1200" b="1" dirty="0" err="1"/>
              <a:t>Guide</a:t>
            </a:r>
            <a:r>
              <a:rPr lang="pt-BR" altLang="pt-BR" sz="1200" b="1" dirty="0"/>
              <a:t>. </a:t>
            </a:r>
            <a:r>
              <a:rPr lang="pt-BR" altLang="pt-BR" sz="1200" dirty="0"/>
              <a:t>Ed. Elsevier.</a:t>
            </a:r>
          </a:p>
        </p:txBody>
      </p:sp>
      <p:sp>
        <p:nvSpPr>
          <p:cNvPr id="72713" name="CaixaDeTexto 9">
            <a:extLst>
              <a:ext uri="{FF2B5EF4-FFF2-40B4-BE49-F238E27FC236}">
                <a16:creationId xmlns:a16="http://schemas.microsoft.com/office/drawing/2014/main" id="{DF8BF2A0-02FA-25EE-E047-A475E5C0C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9075" y="404813"/>
            <a:ext cx="19431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600" b="1">
                <a:solidFill>
                  <a:srgbClr val="2E0DF1"/>
                </a:solidFill>
              </a:rPr>
              <a:t>BÁSICA</a:t>
            </a:r>
          </a:p>
        </p:txBody>
      </p:sp>
      <p:sp>
        <p:nvSpPr>
          <p:cNvPr id="72714" name="CaixaDeTexto 10">
            <a:extLst>
              <a:ext uri="{FF2B5EF4-FFF2-40B4-BE49-F238E27FC236}">
                <a16:creationId xmlns:a16="http://schemas.microsoft.com/office/drawing/2014/main" id="{ECCBAF9A-D1DD-17EE-4671-FB535F04B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1925" y="3633788"/>
            <a:ext cx="194468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600" b="1">
                <a:solidFill>
                  <a:srgbClr val="2E0DF1"/>
                </a:solidFill>
              </a:rPr>
              <a:t>COMPLEMENTAR</a:t>
            </a:r>
          </a:p>
        </p:txBody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4D5306F-A7C7-2585-F2FE-1871420E42ED}"/>
              </a:ext>
            </a:extLst>
          </p:cNvPr>
          <p:cNvSpPr/>
          <p:nvPr/>
        </p:nvSpPr>
        <p:spPr>
          <a:xfrm>
            <a:off x="0" y="0"/>
            <a:ext cx="9144000" cy="793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2713" name="CaixaDeTexto 9">
            <a:extLst>
              <a:ext uri="{FF2B5EF4-FFF2-40B4-BE49-F238E27FC236}">
                <a16:creationId xmlns:a16="http://schemas.microsoft.com/office/drawing/2014/main" id="{DF8BF2A0-02FA-25EE-E047-A475E5C0C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9075" y="404813"/>
            <a:ext cx="19431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600" b="1" dirty="0">
                <a:solidFill>
                  <a:schemeClr val="tx1"/>
                </a:solidFill>
              </a:rPr>
              <a:t>Links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BC0F584-6FAA-D56E-04AD-4DDCC89119EE}"/>
              </a:ext>
            </a:extLst>
          </p:cNvPr>
          <p:cNvSpPr txBox="1"/>
          <p:nvPr/>
        </p:nvSpPr>
        <p:spPr>
          <a:xfrm>
            <a:off x="4029074" y="1000394"/>
            <a:ext cx="44621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https://www.youtube.com/watch?v=6LFQc_0Slyw&amp;t=195s</a:t>
            </a:r>
            <a:endParaRPr lang="pt-BR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D6C556E-9E50-B087-A36A-2C0251B23C21}"/>
              </a:ext>
            </a:extLst>
          </p:cNvPr>
          <p:cNvSpPr txBox="1"/>
          <p:nvPr/>
        </p:nvSpPr>
        <p:spPr>
          <a:xfrm>
            <a:off x="4168140" y="2521577"/>
            <a:ext cx="4577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https://www.inf.ufrgs.br/arq/wiki/doku.php?id=insahmes</a:t>
            </a:r>
            <a:endParaRPr lang="pt-BR" dirty="0"/>
          </a:p>
          <a:p>
            <a:endParaRPr lang="pt-BR" dirty="0"/>
          </a:p>
        </p:txBody>
      </p:sp>
      <p:sp>
        <p:nvSpPr>
          <p:cNvPr id="5" name="CaixaDeTexto 9">
            <a:extLst>
              <a:ext uri="{FF2B5EF4-FFF2-40B4-BE49-F238E27FC236}">
                <a16:creationId xmlns:a16="http://schemas.microsoft.com/office/drawing/2014/main" id="{DFD5880B-2F98-13C9-4AA0-C3A021F56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9074" y="1923724"/>
            <a:ext cx="43630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600" b="1" dirty="0">
                <a:solidFill>
                  <a:schemeClr val="tx1"/>
                </a:solidFill>
              </a:rPr>
              <a:t>Conjunto de instruções do AHMES</a:t>
            </a:r>
          </a:p>
        </p:txBody>
      </p:sp>
      <p:sp>
        <p:nvSpPr>
          <p:cNvPr id="6" name="CaixaDeTexto 9">
            <a:extLst>
              <a:ext uri="{FF2B5EF4-FFF2-40B4-BE49-F238E27FC236}">
                <a16:creationId xmlns:a16="http://schemas.microsoft.com/office/drawing/2014/main" id="{23173858-1498-7C1C-9523-428F4542D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9074" y="3520816"/>
            <a:ext cx="43630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1600" b="1" dirty="0">
                <a:solidFill>
                  <a:schemeClr val="tx1"/>
                </a:solidFill>
              </a:rPr>
              <a:t>Download </a:t>
            </a:r>
            <a:r>
              <a:rPr lang="pt-BR" altLang="pt-BR" sz="1600" b="1" dirty="0" err="1">
                <a:solidFill>
                  <a:schemeClr val="tx1"/>
                </a:solidFill>
              </a:rPr>
              <a:t>HIdra</a:t>
            </a:r>
            <a:endParaRPr lang="pt-BR" altLang="pt-BR" sz="1600" b="1" dirty="0">
              <a:solidFill>
                <a:schemeClr val="tx1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1431965-8195-60A0-34D3-13D9CE71CA97}"/>
              </a:ext>
            </a:extLst>
          </p:cNvPr>
          <p:cNvSpPr txBox="1"/>
          <p:nvPr/>
        </p:nvSpPr>
        <p:spPr>
          <a:xfrm>
            <a:off x="4029075" y="4380279"/>
            <a:ext cx="4577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5"/>
              </a:rPr>
              <a:t>https://github.com/petcomputacaoufrgs/hidracpp/releases/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1065934"/>
      </p:ext>
    </p:extLst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Prof. Dr. Sandro A.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3310</TotalTime>
  <Words>1278</Words>
  <Application>Microsoft Office PowerPoint</Application>
  <PresentationFormat>On-screen Show (4:3)</PresentationFormat>
  <Paragraphs>119</Paragraphs>
  <Slides>44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44</vt:i4>
      </vt:variant>
    </vt:vector>
  </HeadingPairs>
  <TitlesOfParts>
    <vt:vector size="56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Dúvidas?</vt:lpstr>
      <vt:lpstr>PowerPoint Presentation</vt:lpstr>
      <vt:lpstr>PowerPoint Presentation</vt:lpstr>
      <vt:lpstr>PowerPoint Presentation</vt:lpstr>
      <vt:lpstr>PowerPoint Presentation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Laboratório FIAP</cp:lastModifiedBy>
  <cp:revision>515</cp:revision>
  <cp:lastPrinted>2016-02-15T09:06:24Z</cp:lastPrinted>
  <dcterms:created xsi:type="dcterms:W3CDTF">2015-02-07T21:24:47Z</dcterms:created>
  <dcterms:modified xsi:type="dcterms:W3CDTF">2024-08-06T23:53:00Z</dcterms:modified>
</cp:coreProperties>
</file>