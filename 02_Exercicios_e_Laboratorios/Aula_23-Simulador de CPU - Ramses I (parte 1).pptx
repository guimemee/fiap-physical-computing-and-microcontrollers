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60"/>
  </p:notesMasterIdLst>
  <p:handoutMasterIdLst>
    <p:handoutMasterId r:id="rId61"/>
  </p:handoutMasterIdLst>
  <p:sldIdLst>
    <p:sldId id="256" r:id="rId6"/>
    <p:sldId id="487" r:id="rId7"/>
    <p:sldId id="532" r:id="rId8"/>
    <p:sldId id="444" r:id="rId9"/>
    <p:sldId id="453" r:id="rId10"/>
    <p:sldId id="454" r:id="rId11"/>
    <p:sldId id="533" r:id="rId12"/>
    <p:sldId id="501" r:id="rId13"/>
    <p:sldId id="495" r:id="rId14"/>
    <p:sldId id="539" r:id="rId15"/>
    <p:sldId id="455" r:id="rId16"/>
    <p:sldId id="534" r:id="rId17"/>
    <p:sldId id="527" r:id="rId18"/>
    <p:sldId id="593" r:id="rId19"/>
    <p:sldId id="535" r:id="rId20"/>
    <p:sldId id="594" r:id="rId21"/>
    <p:sldId id="595" r:id="rId22"/>
    <p:sldId id="596" r:id="rId23"/>
    <p:sldId id="597" r:id="rId24"/>
    <p:sldId id="598" r:id="rId25"/>
    <p:sldId id="599" r:id="rId26"/>
    <p:sldId id="600" r:id="rId27"/>
    <p:sldId id="536" r:id="rId28"/>
    <p:sldId id="601" r:id="rId29"/>
    <p:sldId id="604" r:id="rId30"/>
    <p:sldId id="602" r:id="rId31"/>
    <p:sldId id="603" r:id="rId32"/>
    <p:sldId id="605" r:id="rId33"/>
    <p:sldId id="537" r:id="rId34"/>
    <p:sldId id="606" r:id="rId35"/>
    <p:sldId id="613" r:id="rId36"/>
    <p:sldId id="614" r:id="rId37"/>
    <p:sldId id="612" r:id="rId38"/>
    <p:sldId id="615" r:id="rId39"/>
    <p:sldId id="611" r:id="rId40"/>
    <p:sldId id="616" r:id="rId41"/>
    <p:sldId id="617" r:id="rId42"/>
    <p:sldId id="618" r:id="rId43"/>
    <p:sldId id="619" r:id="rId44"/>
    <p:sldId id="621" r:id="rId45"/>
    <p:sldId id="620" r:id="rId46"/>
    <p:sldId id="622" r:id="rId47"/>
    <p:sldId id="624" r:id="rId48"/>
    <p:sldId id="625" r:id="rId49"/>
    <p:sldId id="626" r:id="rId50"/>
    <p:sldId id="627" r:id="rId51"/>
    <p:sldId id="628" r:id="rId52"/>
    <p:sldId id="629" r:id="rId53"/>
    <p:sldId id="307" r:id="rId54"/>
    <p:sldId id="657" r:id="rId55"/>
    <p:sldId id="498" r:id="rId56"/>
    <p:sldId id="658" r:id="rId57"/>
    <p:sldId id="592" r:id="rId58"/>
    <p:sldId id="265" r:id="rId5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000"/>
    <a:srgbClr val="F0265D"/>
    <a:srgbClr val="000000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73" autoAdjust="0"/>
    <p:restoredTop sz="94786" autoAdjust="0"/>
  </p:normalViewPr>
  <p:slideViewPr>
    <p:cSldViewPr snapToGrid="0" snapToObjects="1">
      <p:cViewPr>
        <p:scale>
          <a:sx n="75" d="100"/>
          <a:sy n="75" d="100"/>
        </p:scale>
        <p:origin x="1987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5" Type="http://schemas.openxmlformats.org/officeDocument/2006/relationships/slideMaster" Target="slideMasters/slideMaster5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06/09/2024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ço Reservado para Imagem de Slide 1">
            <a:extLst>
              <a:ext uri="{FF2B5EF4-FFF2-40B4-BE49-F238E27FC236}">
                <a16:creationId xmlns:a16="http://schemas.microsoft.com/office/drawing/2014/main" id="{2E5EAA4D-734C-FB2B-5805-93F6F42ACF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Espaço Reservado para Anotações 2">
            <a:extLst>
              <a:ext uri="{FF2B5EF4-FFF2-40B4-BE49-F238E27FC236}">
                <a16:creationId xmlns:a16="http://schemas.microsoft.com/office/drawing/2014/main" id="{65460698-FC29-6A3E-74F5-58B9BB385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pt-BR">
              <a:latin typeface="Arial" panose="020B0604020202020204" pitchFamily="34" charset="0"/>
            </a:endParaRPr>
          </a:p>
        </p:txBody>
      </p:sp>
      <p:sp>
        <p:nvSpPr>
          <p:cNvPr id="73732" name="Espaço Reservado para Número de Slide 3">
            <a:extLst>
              <a:ext uri="{FF2B5EF4-FFF2-40B4-BE49-F238E27FC236}">
                <a16:creationId xmlns:a16="http://schemas.microsoft.com/office/drawing/2014/main" id="{A035F7C8-9F59-BDC4-BA1A-3BF8398FF8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F3ECB2A-6AF7-410F-A7D7-63C12142FD9A}" type="slidenum">
              <a:rPr lang="en-US" altLang="pt-BR"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pPr/>
              <a:t>53</a:t>
            </a:fld>
            <a:endParaRPr lang="en-US" altLang="pt-BR" sz="1200">
              <a:solidFill>
                <a:schemeClr val="tx1"/>
              </a:solidFill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11881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806178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</a:t>
            </a:r>
            <a:r>
              <a:rPr lang="en-US" sz="2800" b="1" kern="1200" dirty="0">
                <a:solidFill>
                  <a:srgbClr val="303030"/>
                </a:solidFill>
                <a:latin typeface="Gotham HTF" pitchFamily="2" charset="0"/>
                <a:ea typeface="+mn-ea"/>
                <a:cs typeface="Gotham-Book"/>
              </a:rPr>
              <a:t>Physical Computing &amp; Microcontrollers – PC_&amp;_M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  <a:p>
            <a:pPr>
              <a:lnSpc>
                <a:spcPct val="90000"/>
              </a:lnSpc>
            </a:pP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37627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4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  <p:sldLayoutId id="2147483754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2BB401F-2946-FAB8-CB40-AC40FAEA3076}"/>
              </a:ext>
            </a:extLst>
          </p:cNvPr>
          <p:cNvSpPr/>
          <p:nvPr/>
        </p:nvSpPr>
        <p:spPr>
          <a:xfrm>
            <a:off x="0" y="-36512"/>
            <a:ext cx="9144000" cy="68580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88A5E8-D33C-9865-B585-B91DAF0FF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4617" y="2661263"/>
            <a:ext cx="4999383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800" b="1" dirty="0">
                <a:solidFill>
                  <a:srgbClr val="FF0000"/>
                </a:solidFill>
              </a:rPr>
              <a:t>O Computador </a:t>
            </a:r>
            <a:r>
              <a:rPr lang="pt-BR" altLang="pt-BR" sz="2800" b="1" dirty="0" err="1">
                <a:solidFill>
                  <a:srgbClr val="FF0000"/>
                </a:solidFill>
              </a:rPr>
              <a:t>Ramses</a:t>
            </a:r>
            <a:endParaRPr lang="pt-BR" altLang="pt-BR" sz="2800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História Mundi: Ramsés II: faraó do Egito Antigo">
            <a:extLst>
              <a:ext uri="{FF2B5EF4-FFF2-40B4-BE49-F238E27FC236}">
                <a16:creationId xmlns:a16="http://schemas.microsoft.com/office/drawing/2014/main" id="{19E2E6CE-452D-1E8D-7857-92D0EAB3C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6512"/>
            <a:ext cx="398206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892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60323" y="742950"/>
            <a:ext cx="7423354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O Simulador Ramses</a:t>
            </a:r>
          </a:p>
          <a:p>
            <a:pPr algn="just" eaLnBrk="1" hangingPunct="1"/>
            <a:endParaRPr lang="pt-BR" altLang="pt-BR" sz="1000" u="none" dirty="0"/>
          </a:p>
          <a:p>
            <a:pPr algn="just" eaLnBrk="1" hangingPunct="1"/>
            <a:r>
              <a:rPr lang="pt-BR" altLang="pt-BR" sz="2000" u="none" dirty="0"/>
              <a:t>O simulador Ramses apresenta como diferenciais o acréscimo de </a:t>
            </a:r>
            <a:r>
              <a:rPr lang="pt-BR" altLang="pt-BR" sz="2000" b="1" u="none" dirty="0"/>
              <a:t>dois registradores de uso geral </a:t>
            </a:r>
            <a:r>
              <a:rPr lang="pt-BR" altLang="pt-BR" sz="2000" u="none" dirty="0"/>
              <a:t>e alguns </a:t>
            </a:r>
            <a:r>
              <a:rPr lang="pt-BR" altLang="pt-BR" sz="2000" b="1" u="none" dirty="0"/>
              <a:t>novos modos de endereçamento</a:t>
            </a:r>
            <a:r>
              <a:rPr lang="pt-BR" altLang="pt-BR" sz="2000" u="none" dirty="0"/>
              <a:t>.</a:t>
            </a:r>
          </a:p>
          <a:p>
            <a:pPr algn="just" eaLnBrk="1" hangingPunct="1"/>
            <a:endParaRPr lang="pt-BR" altLang="pt-BR" sz="2000" dirty="0"/>
          </a:p>
          <a:p>
            <a:pPr algn="just" eaLnBrk="1" hangingPunct="1"/>
            <a:r>
              <a:rPr lang="pt-BR" altLang="pt-BR" sz="2000" u="none" dirty="0"/>
              <a:t>Ramsés  foi um dos maiores faraós que o Egito já teve. Governou por 70 anos, talvez nenhum faraó tenha governado tanto. Foi um grande construtor e um grande lutador. Ficou famoso por causa da grande  batalha de </a:t>
            </a:r>
            <a:r>
              <a:rPr lang="pt-BR" altLang="pt-BR" sz="2000" u="none" dirty="0" err="1"/>
              <a:t>Kadesh</a:t>
            </a:r>
            <a:r>
              <a:rPr lang="pt-BR" altLang="pt-BR" sz="2000" u="none" dirty="0"/>
              <a:t>.</a:t>
            </a:r>
          </a:p>
        </p:txBody>
      </p:sp>
      <p:pic>
        <p:nvPicPr>
          <p:cNvPr id="7" name="Picture 6" descr="RamsesIIEgypt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904" y="3844976"/>
            <a:ext cx="2302523" cy="27450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800px-Abu_Simbel,_Ramesses_Temple,_front,_Egypt,_Oct_200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568" y="3844976"/>
            <a:ext cx="4119920" cy="27450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155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17755" y="735679"/>
            <a:ext cx="786580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</a:t>
            </a:r>
            <a:r>
              <a:rPr lang="pt-BR" altLang="pt-BR" sz="2800" b="1" u="none" dirty="0">
                <a:solidFill>
                  <a:srgbClr val="FF0000"/>
                </a:solidFill>
              </a:rPr>
              <a:t>Características:</a:t>
            </a:r>
          </a:p>
          <a:p>
            <a:pPr algn="just" eaLnBrk="1" hangingPunct="1"/>
            <a:endParaRPr lang="pt-BR" altLang="pt-BR" sz="2200" u="none" dirty="0"/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pt-BR" altLang="pt-BR" sz="2200" u="none" dirty="0"/>
              <a:t>Largura de dados e de endereços de 8 bits, isto é, as posições de memória são capazes de guardar variáveis de 8 bits e os endereços de memória são apontados por uma palavra de 8 bits.</a:t>
            </a:r>
          </a:p>
          <a:p>
            <a:pPr marL="171450" indent="-171450" algn="just" eaLnBrk="1" hangingPunct="1">
              <a:buFont typeface="Arial" panose="020B0604020202020204" pitchFamily="34" charset="0"/>
              <a:buChar char="•"/>
            </a:pPr>
            <a:endParaRPr lang="pt-BR" altLang="pt-BR" sz="1000" u="none" dirty="0"/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pt-BR" altLang="pt-BR" sz="2200" u="none" dirty="0"/>
              <a:t>Dados representados em complemento de dois;</a:t>
            </a:r>
          </a:p>
          <a:p>
            <a:pPr marL="171450" indent="-171450" algn="just" eaLnBrk="1" hangingPunct="1">
              <a:buFont typeface="Arial" panose="020B0604020202020204" pitchFamily="34" charset="0"/>
              <a:buChar char="•"/>
            </a:pPr>
            <a:endParaRPr lang="pt-BR" altLang="pt-BR" sz="1000" u="none" dirty="0"/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pt-BR" altLang="pt-BR" sz="2200" u="none" dirty="0"/>
              <a:t>2 registradores de uso geral (</a:t>
            </a:r>
            <a:r>
              <a:rPr lang="pt-BR" altLang="pt-BR" sz="2200" b="1" u="none" dirty="0"/>
              <a:t>A</a:t>
            </a:r>
            <a:r>
              <a:rPr lang="pt-BR" altLang="pt-BR" sz="2200" u="none" dirty="0"/>
              <a:t> e </a:t>
            </a:r>
            <a:r>
              <a:rPr lang="pt-BR" altLang="pt-BR" sz="2200" b="1" u="none" dirty="0"/>
              <a:t>B</a:t>
            </a:r>
            <a:r>
              <a:rPr lang="pt-BR" altLang="pt-BR" sz="2200" u="none" dirty="0"/>
              <a:t>) de 8 bits;</a:t>
            </a:r>
          </a:p>
          <a:p>
            <a:pPr marL="171450" indent="-171450" algn="just" eaLnBrk="1" hangingPunct="1">
              <a:buFont typeface="Arial" panose="020B0604020202020204" pitchFamily="34" charset="0"/>
              <a:buChar char="•"/>
            </a:pPr>
            <a:endParaRPr lang="pt-BR" altLang="pt-BR" sz="1000" u="none" dirty="0"/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pt-BR" altLang="pt-BR" sz="2200" u="none" dirty="0"/>
              <a:t>1 registrador de índice (</a:t>
            </a:r>
            <a:r>
              <a:rPr lang="pt-BR" altLang="pt-BR" sz="2200" b="1" u="none" dirty="0"/>
              <a:t>X</a:t>
            </a:r>
            <a:r>
              <a:rPr lang="pt-BR" altLang="pt-BR" sz="2200" u="none" dirty="0"/>
              <a:t>) de oito bits;</a:t>
            </a:r>
          </a:p>
          <a:p>
            <a:pPr marL="171450" indent="-171450" algn="just" eaLnBrk="1" hangingPunct="1">
              <a:buFont typeface="Arial" panose="020B0604020202020204" pitchFamily="34" charset="0"/>
              <a:buChar char="•"/>
            </a:pPr>
            <a:endParaRPr lang="pt-BR" altLang="pt-BR" sz="1000" u="none" dirty="0"/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pt-BR" altLang="pt-BR" sz="2200" u="none" dirty="0"/>
              <a:t>1 apontador de programa de 8 bits (</a:t>
            </a:r>
            <a:r>
              <a:rPr lang="pt-BR" altLang="pt-BR" sz="2200" b="1" u="none" dirty="0"/>
              <a:t>PC</a:t>
            </a:r>
            <a:r>
              <a:rPr lang="pt-BR" altLang="pt-BR" sz="2200" u="none" dirty="0"/>
              <a:t>);</a:t>
            </a:r>
          </a:p>
          <a:p>
            <a:pPr marL="171450" indent="-171450" algn="just" eaLnBrk="1" hangingPunct="1">
              <a:buFont typeface="Arial" panose="020B0604020202020204" pitchFamily="34" charset="0"/>
              <a:buChar char="•"/>
            </a:pPr>
            <a:endParaRPr lang="pt-BR" altLang="pt-BR" sz="1000" u="none" dirty="0"/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pt-BR" altLang="pt-BR" sz="2200" u="none" dirty="0"/>
              <a:t>Registradores de estado (Flags): </a:t>
            </a:r>
            <a:r>
              <a:rPr lang="pt-BR" altLang="pt-BR" sz="2200" b="1" u="none" dirty="0"/>
              <a:t>N</a:t>
            </a:r>
            <a:r>
              <a:rPr lang="pt-BR" altLang="pt-BR" sz="2200" u="none" dirty="0"/>
              <a:t>, </a:t>
            </a:r>
            <a:r>
              <a:rPr lang="pt-BR" altLang="pt-BR" sz="2200" b="1" u="none" dirty="0"/>
              <a:t>Z</a:t>
            </a:r>
            <a:r>
              <a:rPr lang="pt-BR" altLang="pt-BR" sz="2200" u="none" dirty="0"/>
              <a:t> e </a:t>
            </a:r>
            <a:r>
              <a:rPr lang="pt-BR" altLang="pt-BR" sz="2200" b="1" u="none" dirty="0"/>
              <a:t>C</a:t>
            </a:r>
            <a:r>
              <a:rPr lang="pt-BR" altLang="pt-BR" sz="2200" u="none" dirty="0"/>
              <a:t>;</a:t>
            </a:r>
          </a:p>
          <a:p>
            <a:pPr marL="171450" indent="-171450" algn="just" eaLnBrk="1" hangingPunct="1">
              <a:buFont typeface="Arial" panose="020B0604020202020204" pitchFamily="34" charset="0"/>
              <a:buChar char="•"/>
            </a:pPr>
            <a:endParaRPr lang="pt-BR" altLang="pt-BR" sz="1000" u="none" dirty="0"/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pt-BR" altLang="pt-BR" sz="2200" u="none" dirty="0"/>
              <a:t>3 novos modos de endereçamento.</a:t>
            </a:r>
          </a:p>
        </p:txBody>
      </p:sp>
    </p:spTree>
    <p:extLst>
      <p:ext uri="{BB962C8B-B14F-4D97-AF65-F5344CB8AC3E}">
        <p14:creationId xmlns:p14="http://schemas.microsoft.com/office/powerpoint/2010/main" val="229286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96414" y="745511"/>
            <a:ext cx="740369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</a:t>
            </a:r>
            <a:r>
              <a:rPr lang="pt-BR" altLang="pt-BR" sz="2800" b="1" u="none" dirty="0">
                <a:solidFill>
                  <a:srgbClr val="FF0000"/>
                </a:solidFill>
              </a:rPr>
              <a:t>O formato das instruções</a:t>
            </a:r>
          </a:p>
          <a:p>
            <a:pPr algn="just" eaLnBrk="1" hangingPunct="1"/>
            <a:endParaRPr lang="pt-BR" altLang="pt-BR" sz="1800" b="1" u="none" dirty="0">
              <a:solidFill>
                <a:srgbClr val="FF0000"/>
              </a:solidFill>
            </a:endParaRPr>
          </a:p>
          <a:p>
            <a:pPr algn="just" eaLnBrk="1" hangingPunct="1"/>
            <a:r>
              <a:rPr lang="pt-BR" altLang="pt-BR" sz="1800" u="none" dirty="0"/>
              <a:t>As instruções no Ramses são formadas por um ou dois bytes, ou seja, ocupam uma ou duas posições na memória de programa. A figura seguinte apresenta os campos de uma instrução no Ramses.</a:t>
            </a:r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r>
              <a:rPr lang="pt-BR" altLang="pt-BR" sz="1800" u="none" dirty="0"/>
              <a:t>opcode:	Define a operação associada a instrução;</a:t>
            </a:r>
          </a:p>
          <a:p>
            <a:pPr algn="just" eaLnBrk="1" hangingPunct="1"/>
            <a:r>
              <a:rPr lang="pt-BR" altLang="pt-BR" sz="1800" u="none" dirty="0" err="1"/>
              <a:t>reg</a:t>
            </a:r>
            <a:r>
              <a:rPr lang="pt-BR" altLang="pt-BR" sz="1800" u="none" dirty="0"/>
              <a:t>:	Define qual registrador de uso geral será usado na instrução;</a:t>
            </a:r>
          </a:p>
          <a:p>
            <a:pPr algn="just" eaLnBrk="1" hangingPunct="1"/>
            <a:r>
              <a:rPr lang="pt-BR" altLang="pt-BR" sz="1800" u="none" dirty="0"/>
              <a:t>modo:	Define o modo de endereçamento usado.</a:t>
            </a:r>
          </a:p>
        </p:txBody>
      </p:sp>
      <p:pic>
        <p:nvPicPr>
          <p:cNvPr id="8" name="Picture 55" descr="Figura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257"/>
          <a:stretch>
            <a:fillRect/>
          </a:stretch>
        </p:blipFill>
        <p:spPr bwMode="auto">
          <a:xfrm>
            <a:off x="1077990" y="2612155"/>
            <a:ext cx="6840538" cy="205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CEB675F6-EBE6-5702-67CF-3E4330134CF7}"/>
              </a:ext>
            </a:extLst>
          </p:cNvPr>
          <p:cNvSpPr/>
          <p:nvPr/>
        </p:nvSpPr>
        <p:spPr>
          <a:xfrm>
            <a:off x="2536723" y="3510116"/>
            <a:ext cx="1425677" cy="4227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67F645A-95C8-D34A-FADE-E83D6FDE1FBA}"/>
              </a:ext>
            </a:extLst>
          </p:cNvPr>
          <p:cNvSpPr/>
          <p:nvPr/>
        </p:nvSpPr>
        <p:spPr>
          <a:xfrm>
            <a:off x="6484375" y="3515032"/>
            <a:ext cx="1425677" cy="4227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489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96414" y="745511"/>
            <a:ext cx="7895302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</a:t>
            </a:r>
            <a:r>
              <a:rPr lang="pt-BR" altLang="pt-BR" sz="2800" b="1" u="none" dirty="0">
                <a:solidFill>
                  <a:srgbClr val="FF0000"/>
                </a:solidFill>
              </a:rPr>
              <a:t>O formato das instruções</a:t>
            </a:r>
          </a:p>
          <a:p>
            <a:pPr algn="just" eaLnBrk="1" hangingPunct="1"/>
            <a:endParaRPr lang="pt-BR" altLang="pt-BR" sz="1800" b="1" u="none" dirty="0">
              <a:solidFill>
                <a:srgbClr val="FF0000"/>
              </a:solidFill>
            </a:endParaRPr>
          </a:p>
          <a:p>
            <a:pPr algn="just" eaLnBrk="1" hangingPunct="1"/>
            <a:r>
              <a:rPr lang="pt-BR" altLang="pt-BR" sz="1800" u="none" dirty="0"/>
              <a:t>As instruções no Ramses são formadas por um ou dois bytes, ou seja, ocupam uma ou duas posições na memória de programa. A figura seguinte apresenta os campos de uma instrução no Ramses.</a:t>
            </a:r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endParaRPr lang="pt-BR" altLang="pt-BR" dirty="0"/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r>
              <a:rPr lang="pt-BR" altLang="pt-BR" sz="1800" b="1" u="none" dirty="0"/>
              <a:t>opcode</a:t>
            </a:r>
            <a:r>
              <a:rPr lang="pt-BR" altLang="pt-BR" sz="1800" u="none" dirty="0"/>
              <a:t>:	Define a </a:t>
            </a:r>
            <a:r>
              <a:rPr lang="pt-BR" altLang="pt-BR" sz="1800" b="1" u="none" dirty="0"/>
              <a:t>operação</a:t>
            </a:r>
            <a:r>
              <a:rPr lang="pt-BR" altLang="pt-BR" sz="1800" u="none" dirty="0"/>
              <a:t> associada a instrução;</a:t>
            </a:r>
          </a:p>
          <a:p>
            <a:pPr algn="just" eaLnBrk="1" hangingPunct="1"/>
            <a:r>
              <a:rPr lang="pt-BR" altLang="pt-BR" sz="1800" b="1" u="none" dirty="0" err="1"/>
              <a:t>reg</a:t>
            </a:r>
            <a:r>
              <a:rPr lang="pt-BR" altLang="pt-BR" sz="1800" u="none" dirty="0"/>
              <a:t>:	Define qual registrador de uso geral será usado na instrução (</a:t>
            </a:r>
            <a:r>
              <a:rPr lang="pt-BR" altLang="pt-BR" sz="1800" b="1" u="none" dirty="0"/>
              <a:t>A</a:t>
            </a:r>
            <a:r>
              <a:rPr lang="pt-BR" altLang="pt-BR" sz="1800" u="none" dirty="0"/>
              <a:t>, </a:t>
            </a:r>
            <a:r>
              <a:rPr lang="pt-BR" altLang="pt-BR" sz="1800" b="1" u="none" dirty="0"/>
              <a:t>B</a:t>
            </a:r>
            <a:r>
              <a:rPr lang="pt-BR" altLang="pt-BR" sz="1800" u="none" dirty="0"/>
              <a:t> ou </a:t>
            </a:r>
            <a:r>
              <a:rPr lang="pt-BR" altLang="pt-BR" sz="1800" b="1" u="none" dirty="0"/>
              <a:t>X</a:t>
            </a:r>
            <a:r>
              <a:rPr lang="pt-BR" altLang="pt-BR" sz="1800" u="none" dirty="0"/>
              <a:t>);</a:t>
            </a:r>
          </a:p>
          <a:p>
            <a:pPr algn="just" eaLnBrk="1" hangingPunct="1"/>
            <a:r>
              <a:rPr lang="pt-BR" altLang="pt-BR" sz="1800" b="1" u="none" dirty="0"/>
              <a:t>modo</a:t>
            </a:r>
            <a:r>
              <a:rPr lang="pt-BR" altLang="pt-BR" sz="1800" u="none" dirty="0"/>
              <a:t>:	Define o </a:t>
            </a:r>
            <a:r>
              <a:rPr lang="pt-BR" altLang="pt-BR" sz="1800" b="1" u="none" dirty="0"/>
              <a:t>modo de endereçamento usado</a:t>
            </a:r>
            <a:r>
              <a:rPr lang="pt-BR" altLang="pt-BR" sz="1800" u="none" dirty="0"/>
              <a:t>.</a:t>
            </a:r>
          </a:p>
        </p:txBody>
      </p:sp>
      <p:pic>
        <p:nvPicPr>
          <p:cNvPr id="8" name="Picture 55" descr="Figura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257"/>
          <a:stretch>
            <a:fillRect/>
          </a:stretch>
        </p:blipFill>
        <p:spPr bwMode="auto">
          <a:xfrm>
            <a:off x="1077990" y="2612155"/>
            <a:ext cx="6840538" cy="205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CEB675F6-EBE6-5702-67CF-3E4330134CF7}"/>
              </a:ext>
            </a:extLst>
          </p:cNvPr>
          <p:cNvSpPr/>
          <p:nvPr/>
        </p:nvSpPr>
        <p:spPr>
          <a:xfrm>
            <a:off x="1068158" y="4240418"/>
            <a:ext cx="2913907" cy="4227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67F645A-95C8-D34A-FADE-E83D6FDE1FBA}"/>
              </a:ext>
            </a:extLst>
          </p:cNvPr>
          <p:cNvSpPr/>
          <p:nvPr/>
        </p:nvSpPr>
        <p:spPr>
          <a:xfrm>
            <a:off x="5009538" y="4240418"/>
            <a:ext cx="2913907" cy="4227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Texto Explicativo: Seta para Cima 3">
            <a:extLst>
              <a:ext uri="{FF2B5EF4-FFF2-40B4-BE49-F238E27FC236}">
                <a16:creationId xmlns:a16="http://schemas.microsoft.com/office/drawing/2014/main" id="{F735AEEC-BA7B-F8FF-6DF2-2C828607F4C3}"/>
              </a:ext>
            </a:extLst>
          </p:cNvPr>
          <p:cNvSpPr/>
          <p:nvPr/>
        </p:nvSpPr>
        <p:spPr>
          <a:xfrm>
            <a:off x="1950347" y="4524197"/>
            <a:ext cx="1995948" cy="648929"/>
          </a:xfrm>
          <a:prstGeom prst="up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próprio dado</a:t>
            </a:r>
          </a:p>
        </p:txBody>
      </p:sp>
    </p:spTree>
    <p:extLst>
      <p:ext uri="{BB962C8B-B14F-4D97-AF65-F5344CB8AC3E}">
        <p14:creationId xmlns:p14="http://schemas.microsoft.com/office/powerpoint/2010/main" val="873161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29"/>
          <p:cNvSpPr>
            <a:spLocks noChangeArrowheads="1"/>
          </p:cNvSpPr>
          <p:nvPr/>
        </p:nvSpPr>
        <p:spPr bwMode="auto">
          <a:xfrm>
            <a:off x="363795" y="725846"/>
            <a:ext cx="8386916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     </a:t>
            </a:r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</a:p>
          <a:p>
            <a:pPr algn="just" eaLnBrk="1" hangingPunct="1"/>
            <a:endParaRPr lang="pt-BR" altLang="pt-BR" b="1" u="none" dirty="0">
              <a:solidFill>
                <a:srgbClr val="FF0000"/>
              </a:solidFill>
            </a:endParaRPr>
          </a:p>
          <a:p>
            <a:pPr algn="just" eaLnBrk="1" hangingPunct="1"/>
            <a:r>
              <a:rPr lang="pt-BR" altLang="pt-BR" u="none" dirty="0"/>
              <a:t>Quando a máquina executa uma instrução quase sempre ela precisa usar um valor numérico (</a:t>
            </a:r>
            <a:r>
              <a:rPr lang="pt-BR" altLang="pt-BR" b="1" u="none" dirty="0"/>
              <a:t>operando</a:t>
            </a:r>
            <a:r>
              <a:rPr lang="pt-BR" altLang="pt-BR" u="none" dirty="0"/>
              <a:t>). Até o presente momento o valor numérico era o conteúdo do endereço apontado no argumento da instrução. A partir de agora descobriremos novas maneiras de apontar este conteúdo, dentre elas uma que coloca o valor numérico diretamente na instrução. Os modos pelos quais o valor numérico pode ser apontado em uma instrução são conhecidos como modos de endereçamento.</a:t>
            </a:r>
          </a:p>
          <a:p>
            <a:pPr algn="just" eaLnBrk="1" hangingPunct="1"/>
            <a:endParaRPr lang="pt-BR" altLang="pt-BR" u="none" dirty="0"/>
          </a:p>
          <a:p>
            <a:pPr algn="just" eaLnBrk="1" hangingPunct="1"/>
            <a:r>
              <a:rPr lang="pt-BR" altLang="pt-BR" u="none" dirty="0"/>
              <a:t>	Vejamos os modos de endereçamento disponíveis no Ramses.</a:t>
            </a:r>
          </a:p>
          <a:p>
            <a:pPr algn="just" eaLnBrk="1" hangingPunct="1"/>
            <a:endParaRPr lang="pt-BR" altLang="pt-BR" u="none" dirty="0"/>
          </a:p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00</a:t>
            </a:r>
            <a:r>
              <a:rPr lang="pt-BR" altLang="pt-BR" u="none" dirty="0"/>
              <a:t>   </a:t>
            </a:r>
            <a:r>
              <a:rPr lang="pt-BR" altLang="pt-BR" b="1" u="none" dirty="0"/>
              <a:t>Direto</a:t>
            </a:r>
            <a:r>
              <a:rPr lang="pt-BR" altLang="pt-BR" u="none" dirty="0"/>
              <a:t>:       o argumento </a:t>
            </a:r>
            <a:r>
              <a:rPr lang="pt-BR" altLang="pt-BR" b="1" u="none" dirty="0"/>
              <a:t>indica o endereço onde está o valor desejado</a:t>
            </a:r>
            <a:r>
              <a:rPr lang="pt-BR" altLang="pt-BR" u="none" dirty="0"/>
              <a:t>;</a:t>
            </a:r>
          </a:p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01</a:t>
            </a:r>
            <a:r>
              <a:rPr lang="pt-BR" altLang="pt-BR" u="none" dirty="0"/>
              <a:t>   </a:t>
            </a:r>
            <a:r>
              <a:rPr lang="pt-BR" altLang="pt-BR" b="1" u="none" dirty="0"/>
              <a:t>Indireto</a:t>
            </a:r>
            <a:r>
              <a:rPr lang="pt-BR" altLang="pt-BR" u="none" dirty="0"/>
              <a:t>:    o argumento </a:t>
            </a:r>
            <a:r>
              <a:rPr lang="pt-BR" altLang="pt-BR" b="1" u="none" dirty="0"/>
              <a:t>indica um novo endereço onde está o valor desejado</a:t>
            </a:r>
            <a:r>
              <a:rPr lang="pt-BR" altLang="pt-BR" u="none" dirty="0"/>
              <a:t>;</a:t>
            </a:r>
            <a:endParaRPr lang="pt-BR" altLang="pt-BR" b="1" u="none" dirty="0">
              <a:solidFill>
                <a:srgbClr val="FF0000"/>
              </a:solidFill>
            </a:endParaRPr>
          </a:p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10</a:t>
            </a:r>
            <a:r>
              <a:rPr lang="pt-BR" altLang="pt-BR" u="none" dirty="0"/>
              <a:t>   </a:t>
            </a:r>
            <a:r>
              <a:rPr lang="pt-BR" altLang="pt-BR" b="1" u="none" dirty="0"/>
              <a:t>Imediato</a:t>
            </a:r>
            <a:r>
              <a:rPr lang="pt-BR" altLang="pt-BR" u="none" dirty="0"/>
              <a:t>:  o argumento </a:t>
            </a:r>
            <a:r>
              <a:rPr lang="pt-BR" altLang="pt-BR" b="1" u="none" dirty="0"/>
              <a:t>é o próprio valor desejado</a:t>
            </a:r>
            <a:r>
              <a:rPr lang="pt-BR" altLang="pt-BR" u="none" dirty="0"/>
              <a:t>; e</a:t>
            </a:r>
          </a:p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pic>
        <p:nvPicPr>
          <p:cNvPr id="4" name="Picture 230" descr="Figura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58" r="56920"/>
          <a:stretch>
            <a:fillRect/>
          </a:stretch>
        </p:blipFill>
        <p:spPr bwMode="auto">
          <a:xfrm>
            <a:off x="3311525" y="5434648"/>
            <a:ext cx="2520950" cy="125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6EBC908-A853-012D-7A39-6B3675902A59}"/>
              </a:ext>
            </a:extLst>
          </p:cNvPr>
          <p:cNvSpPr/>
          <p:nvPr/>
        </p:nvSpPr>
        <p:spPr>
          <a:xfrm>
            <a:off x="5143179" y="5691681"/>
            <a:ext cx="629428" cy="3798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8313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51841" y="714375"/>
            <a:ext cx="7630160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</a:t>
            </a:r>
            <a:r>
              <a:rPr lang="pt-BR" altLang="pt-BR" sz="2800" b="1" u="none" dirty="0">
                <a:solidFill>
                  <a:srgbClr val="FF0000"/>
                </a:solidFill>
              </a:rPr>
              <a:t>Registradores</a:t>
            </a:r>
          </a:p>
          <a:p>
            <a:pPr algn="just" eaLnBrk="1" hangingPunct="1"/>
            <a:endParaRPr lang="pt-BR" altLang="pt-BR" b="1" u="none" dirty="0">
              <a:solidFill>
                <a:srgbClr val="FF0000"/>
              </a:solidFill>
            </a:endParaRPr>
          </a:p>
          <a:p>
            <a:pPr algn="just" eaLnBrk="1" hangingPunct="1"/>
            <a:r>
              <a:rPr lang="pt-BR" altLang="pt-BR" sz="1800" u="none" dirty="0"/>
              <a:t>Como já observado o Ramses possui </a:t>
            </a:r>
            <a:r>
              <a:rPr lang="pt-BR" altLang="pt-BR" sz="1800" b="1" u="none" dirty="0"/>
              <a:t>dois registradores de uso geral A (RA) </a:t>
            </a:r>
            <a:r>
              <a:rPr lang="pt-BR" altLang="pt-BR" sz="1800" u="none" dirty="0"/>
              <a:t>e</a:t>
            </a:r>
            <a:r>
              <a:rPr lang="pt-BR" altLang="pt-BR" sz="1800" b="1" u="none" dirty="0"/>
              <a:t> B (RB)</a:t>
            </a:r>
            <a:r>
              <a:rPr lang="pt-BR" altLang="pt-BR" sz="1800" u="none" dirty="0"/>
              <a:t>, além disso, </a:t>
            </a:r>
            <a:r>
              <a:rPr lang="pt-BR" altLang="pt-BR" sz="1800" b="1" u="none" dirty="0"/>
              <a:t>ele possui o registrado X (RX)</a:t>
            </a:r>
            <a:r>
              <a:rPr lang="pt-BR" altLang="pt-BR" sz="1800" u="none" dirty="0"/>
              <a:t>.</a:t>
            </a:r>
            <a:r>
              <a:rPr lang="pt-BR" altLang="pt-BR" sz="1800" b="1" u="none" dirty="0"/>
              <a:t> </a:t>
            </a:r>
            <a:r>
              <a:rPr lang="pt-BR" altLang="pt-BR" sz="1800" u="none" dirty="0"/>
              <a:t>Para especificar qual registrador será usado na instrução, reserva-se um espaço de dois bits na instrução. A codificação segue a tabela seguinte.</a:t>
            </a:r>
          </a:p>
        </p:txBody>
      </p:sp>
      <p:pic>
        <p:nvPicPr>
          <p:cNvPr id="6" name="Picture 49" descr="Figura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915"/>
          <a:stretch>
            <a:fillRect/>
          </a:stretch>
        </p:blipFill>
        <p:spPr bwMode="auto">
          <a:xfrm>
            <a:off x="5837193" y="3433762"/>
            <a:ext cx="2452688" cy="163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Group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46427"/>
              </p:ext>
            </p:extLst>
          </p:nvPr>
        </p:nvGraphicFramePr>
        <p:xfrm>
          <a:off x="1489710" y="3068638"/>
          <a:ext cx="3816350" cy="2247902"/>
        </p:xfrm>
        <a:graphic>
          <a:graphicData uri="http://schemas.openxmlformats.org/drawingml/2006/table">
            <a:tbl>
              <a:tblPr/>
              <a:tblGrid>
                <a:gridCol w="1797050">
                  <a:extLst>
                    <a:ext uri="{9D8B030D-6E8A-4147-A177-3AD203B41FA5}">
                      <a16:colId xmlns:a16="http://schemas.microsoft.com/office/drawing/2014/main" val="677194238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716165480"/>
                    </a:ext>
                  </a:extLst>
                </a:gridCol>
              </a:tblGrid>
              <a:tr h="4492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Código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Registrador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06546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00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A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5871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01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B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588948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10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X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130643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11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nenhum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518558"/>
                  </a:ext>
                </a:extLst>
              </a:tr>
            </a:tbl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7EED45D4-C128-45D5-F522-68649C28C602}"/>
              </a:ext>
            </a:extLst>
          </p:cNvPr>
          <p:cNvSpPr/>
          <p:nvPr/>
        </p:nvSpPr>
        <p:spPr>
          <a:xfrm>
            <a:off x="7040879" y="4121038"/>
            <a:ext cx="609601" cy="3417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C0C0378-0F40-365C-12AD-B810D3AE092C}"/>
              </a:ext>
            </a:extLst>
          </p:cNvPr>
          <p:cNvSpPr/>
          <p:nvPr/>
        </p:nvSpPr>
        <p:spPr>
          <a:xfrm>
            <a:off x="3291839" y="3520440"/>
            <a:ext cx="2006601" cy="13487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18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51841" y="714375"/>
            <a:ext cx="7630160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dirty="0">
                <a:solidFill>
                  <a:srgbClr val="FF0000"/>
                </a:solidFill>
              </a:rPr>
              <a:t> </a:t>
            </a:r>
            <a:r>
              <a:rPr lang="pt-BR" altLang="pt-BR" sz="2800" b="1" u="none" dirty="0">
                <a:solidFill>
                  <a:srgbClr val="FF0000"/>
                </a:solidFill>
              </a:rPr>
              <a:t>Registradores</a:t>
            </a:r>
          </a:p>
          <a:p>
            <a:pPr algn="just" eaLnBrk="1" hangingPunct="1"/>
            <a:endParaRPr lang="pt-BR" altLang="pt-BR" b="1" u="none" dirty="0">
              <a:solidFill>
                <a:srgbClr val="FF0000"/>
              </a:solidFill>
            </a:endParaRPr>
          </a:p>
          <a:p>
            <a:pPr algn="just" eaLnBrk="1" hangingPunct="1"/>
            <a:r>
              <a:rPr lang="pt-BR" altLang="pt-BR" sz="1800" u="none" dirty="0"/>
              <a:t>Como já observado o Ramses possui </a:t>
            </a:r>
            <a:r>
              <a:rPr lang="pt-BR" altLang="pt-BR" sz="1800" b="1" u="none" dirty="0"/>
              <a:t>dois registradores de uso geral A (RA) </a:t>
            </a:r>
            <a:r>
              <a:rPr lang="pt-BR" altLang="pt-BR" sz="1800" u="none" dirty="0"/>
              <a:t>e</a:t>
            </a:r>
            <a:r>
              <a:rPr lang="pt-BR" altLang="pt-BR" sz="1800" b="1" u="none" dirty="0"/>
              <a:t> B (RB)</a:t>
            </a:r>
            <a:r>
              <a:rPr lang="pt-BR" altLang="pt-BR" sz="1800" u="none" dirty="0"/>
              <a:t>, além disso, </a:t>
            </a:r>
            <a:r>
              <a:rPr lang="pt-BR" altLang="pt-BR" sz="1800" b="1" u="none" dirty="0"/>
              <a:t>ele possui o registrado X (RX)</a:t>
            </a:r>
            <a:r>
              <a:rPr lang="pt-BR" altLang="pt-BR" sz="1800" u="none" dirty="0"/>
              <a:t>.</a:t>
            </a:r>
            <a:r>
              <a:rPr lang="pt-BR" altLang="pt-BR" sz="1800" b="1" u="none" dirty="0"/>
              <a:t> </a:t>
            </a:r>
            <a:r>
              <a:rPr lang="pt-BR" altLang="pt-BR" sz="1800" u="none" dirty="0"/>
              <a:t>Para especificar qual registrador será usado na instrução, reserva-se um espaço de dois bits na instrução. A codificação segue a tabela seguinte.</a:t>
            </a:r>
          </a:p>
        </p:txBody>
      </p:sp>
      <p:pic>
        <p:nvPicPr>
          <p:cNvPr id="6" name="Picture 49" descr="Figura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915"/>
          <a:stretch>
            <a:fillRect/>
          </a:stretch>
        </p:blipFill>
        <p:spPr bwMode="auto">
          <a:xfrm>
            <a:off x="5837193" y="3433762"/>
            <a:ext cx="2452688" cy="163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Group 81"/>
          <p:cNvGraphicFramePr>
            <a:graphicFrameLocks noGrp="1"/>
          </p:cNvGraphicFramePr>
          <p:nvPr/>
        </p:nvGraphicFramePr>
        <p:xfrm>
          <a:off x="1489710" y="3068638"/>
          <a:ext cx="3816350" cy="2247902"/>
        </p:xfrm>
        <a:graphic>
          <a:graphicData uri="http://schemas.openxmlformats.org/drawingml/2006/table">
            <a:tbl>
              <a:tblPr/>
              <a:tblGrid>
                <a:gridCol w="1797050">
                  <a:extLst>
                    <a:ext uri="{9D8B030D-6E8A-4147-A177-3AD203B41FA5}">
                      <a16:colId xmlns:a16="http://schemas.microsoft.com/office/drawing/2014/main" val="677194238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716165480"/>
                    </a:ext>
                  </a:extLst>
                </a:gridCol>
              </a:tblGrid>
              <a:tr h="4492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Código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Registrador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06546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00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A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5871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01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B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588948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10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X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130643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11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nenhum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518558"/>
                  </a:ext>
                </a:extLst>
              </a:tr>
            </a:tbl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7EED45D4-C128-45D5-F522-68649C28C602}"/>
              </a:ext>
            </a:extLst>
          </p:cNvPr>
          <p:cNvSpPr/>
          <p:nvPr/>
        </p:nvSpPr>
        <p:spPr>
          <a:xfrm>
            <a:off x="7627619" y="4121038"/>
            <a:ext cx="609601" cy="3417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C0C0378-0F40-365C-12AD-B810D3AE092C}"/>
              </a:ext>
            </a:extLst>
          </p:cNvPr>
          <p:cNvSpPr/>
          <p:nvPr/>
        </p:nvSpPr>
        <p:spPr>
          <a:xfrm>
            <a:off x="1493519" y="3520440"/>
            <a:ext cx="1805941" cy="17961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Texto Explicativo: Seta para a Direita 3">
            <a:extLst>
              <a:ext uri="{FF2B5EF4-FFF2-40B4-BE49-F238E27FC236}">
                <a16:creationId xmlns:a16="http://schemas.microsoft.com/office/drawing/2014/main" id="{882F1CB2-9BE1-73D1-F3D7-4A56CF0E133A}"/>
              </a:ext>
            </a:extLst>
          </p:cNvPr>
          <p:cNvSpPr/>
          <p:nvPr/>
        </p:nvSpPr>
        <p:spPr>
          <a:xfrm>
            <a:off x="304800" y="3591561"/>
            <a:ext cx="1351281" cy="314960"/>
          </a:xfrm>
          <a:prstGeom prst="rightArrowCallout">
            <a:avLst>
              <a:gd name="adj1" fmla="val 35427"/>
              <a:gd name="adj2" fmla="val 29074"/>
              <a:gd name="adj3" fmla="val 24385"/>
              <a:gd name="adj4" fmla="val 8057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BR" sz="1200" b="1" dirty="0">
                <a:solidFill>
                  <a:schemeClr val="tx1"/>
                </a:solidFill>
              </a:rPr>
              <a:t>DIRETO (0)</a:t>
            </a:r>
            <a:endParaRPr lang="pt-BR" sz="1200" b="1" dirty="0">
              <a:solidFill>
                <a:schemeClr val="tx1"/>
              </a:solidFill>
            </a:endParaRPr>
          </a:p>
        </p:txBody>
      </p:sp>
      <p:sp>
        <p:nvSpPr>
          <p:cNvPr id="10" name="Texto Explicativo: Seta para a Direita 9">
            <a:extLst>
              <a:ext uri="{FF2B5EF4-FFF2-40B4-BE49-F238E27FC236}">
                <a16:creationId xmlns:a16="http://schemas.microsoft.com/office/drawing/2014/main" id="{C3649619-C7F3-14A1-242A-72AFA7E4A6A2}"/>
              </a:ext>
            </a:extLst>
          </p:cNvPr>
          <p:cNvSpPr/>
          <p:nvPr/>
        </p:nvSpPr>
        <p:spPr>
          <a:xfrm>
            <a:off x="304800" y="4043681"/>
            <a:ext cx="1351281" cy="314960"/>
          </a:xfrm>
          <a:prstGeom prst="rightArrowCallout">
            <a:avLst>
              <a:gd name="adj1" fmla="val 35427"/>
              <a:gd name="adj2" fmla="val 29074"/>
              <a:gd name="adj3" fmla="val 24385"/>
              <a:gd name="adj4" fmla="val 8057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BR" sz="1200" b="1" dirty="0">
                <a:solidFill>
                  <a:schemeClr val="tx1"/>
                </a:solidFill>
              </a:rPr>
              <a:t>INDIRETO (1)</a:t>
            </a:r>
            <a:endParaRPr lang="pt-BR" sz="1200" b="1" dirty="0">
              <a:solidFill>
                <a:schemeClr val="tx1"/>
              </a:solidFill>
            </a:endParaRPr>
          </a:p>
        </p:txBody>
      </p:sp>
      <p:sp>
        <p:nvSpPr>
          <p:cNvPr id="11" name="Texto Explicativo: Seta para a Direita 10">
            <a:extLst>
              <a:ext uri="{FF2B5EF4-FFF2-40B4-BE49-F238E27FC236}">
                <a16:creationId xmlns:a16="http://schemas.microsoft.com/office/drawing/2014/main" id="{68BDA6AE-B404-D442-9D6C-C38C41897AB7}"/>
              </a:ext>
            </a:extLst>
          </p:cNvPr>
          <p:cNvSpPr/>
          <p:nvPr/>
        </p:nvSpPr>
        <p:spPr>
          <a:xfrm>
            <a:off x="304800" y="4476910"/>
            <a:ext cx="1351281" cy="314960"/>
          </a:xfrm>
          <a:prstGeom prst="rightArrowCallout">
            <a:avLst>
              <a:gd name="adj1" fmla="val 35427"/>
              <a:gd name="adj2" fmla="val 29074"/>
              <a:gd name="adj3" fmla="val 24385"/>
              <a:gd name="adj4" fmla="val 8102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BR" sz="1200" b="1" dirty="0">
                <a:solidFill>
                  <a:schemeClr val="tx1"/>
                </a:solidFill>
              </a:rPr>
              <a:t>IMEDIATO (2)</a:t>
            </a:r>
            <a:endParaRPr lang="pt-BR" sz="1200" b="1" dirty="0">
              <a:solidFill>
                <a:schemeClr val="tx1"/>
              </a:solidFill>
            </a:endParaRPr>
          </a:p>
        </p:txBody>
      </p:sp>
      <p:sp>
        <p:nvSpPr>
          <p:cNvPr id="12" name="Texto Explicativo: Seta para a Direita 11">
            <a:extLst>
              <a:ext uri="{FF2B5EF4-FFF2-40B4-BE49-F238E27FC236}">
                <a16:creationId xmlns:a16="http://schemas.microsoft.com/office/drawing/2014/main" id="{82C3A8C5-7401-3478-1B11-739C8E4D05AE}"/>
              </a:ext>
            </a:extLst>
          </p:cNvPr>
          <p:cNvSpPr/>
          <p:nvPr/>
        </p:nvSpPr>
        <p:spPr>
          <a:xfrm>
            <a:off x="304800" y="4922958"/>
            <a:ext cx="1356361" cy="314960"/>
          </a:xfrm>
          <a:prstGeom prst="rightArrowCallout">
            <a:avLst>
              <a:gd name="adj1" fmla="val 35427"/>
              <a:gd name="adj2" fmla="val 29074"/>
              <a:gd name="adj3" fmla="val 24385"/>
              <a:gd name="adj4" fmla="val 8100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BR" sz="1200" b="1" dirty="0">
                <a:solidFill>
                  <a:schemeClr val="tx1"/>
                </a:solidFill>
              </a:rPr>
              <a:t>INDEXADO (3)</a:t>
            </a:r>
            <a:endParaRPr lang="pt-BR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58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8"/>
          <p:cNvSpPr>
            <a:spLocks noChangeArrowheads="1"/>
          </p:cNvSpPr>
          <p:nvPr/>
        </p:nvSpPr>
        <p:spPr bwMode="auto">
          <a:xfrm>
            <a:off x="856932" y="1512032"/>
            <a:ext cx="747776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1800" u="none" dirty="0"/>
              <a:t>A tabela abaixo mostra os mnemônicos usados para codificar os modos de endereçamento do Ramses. Na tabela</a:t>
            </a:r>
            <a:r>
              <a:rPr lang="pt-BR" altLang="pt-BR" dirty="0"/>
              <a:t>,</a:t>
            </a:r>
            <a:r>
              <a:rPr lang="pt-BR" altLang="pt-BR" sz="1800" u="none" dirty="0"/>
              <a:t> </a:t>
            </a:r>
            <a:r>
              <a:rPr lang="pt-BR" altLang="pt-BR" sz="1800" b="1" u="none" dirty="0"/>
              <a:t>n</a:t>
            </a:r>
            <a:r>
              <a:rPr lang="pt-BR" altLang="pt-BR" sz="1800" u="none" dirty="0"/>
              <a:t> </a:t>
            </a:r>
            <a:r>
              <a:rPr lang="pt-BR" altLang="pt-BR" sz="1800" b="1" u="none" dirty="0"/>
              <a:t>representa um endereço</a:t>
            </a:r>
            <a:r>
              <a:rPr lang="pt-BR" altLang="pt-BR" sz="1800" u="none" dirty="0"/>
              <a:t>.</a:t>
            </a:r>
          </a:p>
        </p:txBody>
      </p:sp>
      <p:graphicFrame>
        <p:nvGraphicFramePr>
          <p:cNvPr id="5" name="Group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020866"/>
              </p:ext>
            </p:extLst>
          </p:nvPr>
        </p:nvGraphicFramePr>
        <p:xfrm>
          <a:off x="1547813" y="2926527"/>
          <a:ext cx="6096000" cy="2338135"/>
        </p:xfrm>
        <a:graphic>
          <a:graphicData uri="http://schemas.openxmlformats.org/drawingml/2006/table">
            <a:tbl>
              <a:tblPr/>
              <a:tblGrid>
                <a:gridCol w="1608137">
                  <a:extLst>
                    <a:ext uri="{9D8B030D-6E8A-4147-A177-3AD203B41FA5}">
                      <a16:colId xmlns:a16="http://schemas.microsoft.com/office/drawing/2014/main" val="295126264"/>
                    </a:ext>
                  </a:extLst>
                </a:gridCol>
                <a:gridCol w="2455863">
                  <a:extLst>
                    <a:ext uri="{9D8B030D-6E8A-4147-A177-3AD203B41FA5}">
                      <a16:colId xmlns:a16="http://schemas.microsoft.com/office/drawing/2014/main" val="3206348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82827275"/>
                    </a:ext>
                  </a:extLst>
                </a:gridCol>
              </a:tblGrid>
              <a:tr h="4492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Código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Modo de endereçamento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Mnemônico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751721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00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Direto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n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66227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01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Indireto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n,1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790552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10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Imediato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#n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937294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11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indexado</a:t>
                      </a: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1pPr>
                      <a:lvl2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bg2"/>
                        </a:buClr>
                        <a:defRPr sz="16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ct val="30000"/>
                        </a:spcBef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5pPr>
                      <a:lvl6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6pPr>
                      <a:lvl7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7pPr>
                      <a:lvl8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8pPr>
                      <a:lvl9pPr eaLnBrk="0" fontAlgn="base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 b="1" i="1">
                          <a:solidFill>
                            <a:srgbClr val="000000"/>
                          </a:solidFill>
                          <a:latin typeface="Square721 BT" panose="020B050402020206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anose="020B0504020202060204" pitchFamily="34" charset="0"/>
                        </a:rPr>
                        <a:t>n,X</a:t>
                      </a:r>
                      <a:endParaRPr kumimoji="0" lang="pt-BR" alt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anose="020B0504020202060204" pitchFamily="34" charset="0"/>
                      </a:endParaRPr>
                    </a:p>
                  </a:txBody>
                  <a:tcPr marB="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676421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B79C4566-EEFB-566E-DEAF-A25719C32F15}"/>
              </a:ext>
            </a:extLst>
          </p:cNvPr>
          <p:cNvSpPr txBox="1"/>
          <p:nvPr/>
        </p:nvSpPr>
        <p:spPr>
          <a:xfrm>
            <a:off x="846772" y="711450"/>
            <a:ext cx="4577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921740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5" descr="Figura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100138"/>
            <a:ext cx="6624637" cy="463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1210491" y="3232428"/>
            <a:ext cx="768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Direto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4421363" y="3200162"/>
            <a:ext cx="926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Indireto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210491" y="5300186"/>
            <a:ext cx="1021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Imediato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245706" y="5300186"/>
            <a:ext cx="1047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Indexado</a:t>
            </a:r>
          </a:p>
        </p:txBody>
      </p:sp>
    </p:spTree>
    <p:extLst>
      <p:ext uri="{BB962C8B-B14F-4D97-AF65-F5344CB8AC3E}">
        <p14:creationId xmlns:p14="http://schemas.microsoft.com/office/powerpoint/2010/main" val="1240952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5" descr="Figura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100138"/>
            <a:ext cx="6624637" cy="463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1210491" y="3232428"/>
            <a:ext cx="768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Direto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4421363" y="3200162"/>
            <a:ext cx="926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Indireto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210491" y="5300186"/>
            <a:ext cx="1021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Imediato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245706" y="5300186"/>
            <a:ext cx="1047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Indexado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60EBF04-A901-E809-D46A-EA567F3E3B67}"/>
              </a:ext>
            </a:extLst>
          </p:cNvPr>
          <p:cNvSpPr/>
          <p:nvPr/>
        </p:nvSpPr>
        <p:spPr>
          <a:xfrm>
            <a:off x="4327489" y="1112740"/>
            <a:ext cx="3413161" cy="2586959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98BCEA6-488D-D93C-C510-7CB8829A5BAB}"/>
              </a:ext>
            </a:extLst>
          </p:cNvPr>
          <p:cNvSpPr/>
          <p:nvPr/>
        </p:nvSpPr>
        <p:spPr>
          <a:xfrm>
            <a:off x="1140295" y="3699699"/>
            <a:ext cx="1907706" cy="2034351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F759A75-E67C-6079-88E9-6BC5601421E3}"/>
              </a:ext>
            </a:extLst>
          </p:cNvPr>
          <p:cNvSpPr/>
          <p:nvPr/>
        </p:nvSpPr>
        <p:spPr>
          <a:xfrm>
            <a:off x="3048001" y="3702469"/>
            <a:ext cx="4692649" cy="2031581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Texto Explicativo: Seta para a Direita 13">
            <a:extLst>
              <a:ext uri="{FF2B5EF4-FFF2-40B4-BE49-F238E27FC236}">
                <a16:creationId xmlns:a16="http://schemas.microsoft.com/office/drawing/2014/main" id="{89A753B9-ECFC-625F-8EDB-DD6578EB6F38}"/>
              </a:ext>
            </a:extLst>
          </p:cNvPr>
          <p:cNvSpPr/>
          <p:nvPr/>
        </p:nvSpPr>
        <p:spPr>
          <a:xfrm>
            <a:off x="0" y="1523999"/>
            <a:ext cx="1210491" cy="1268970"/>
          </a:xfrm>
          <a:prstGeom prst="rightArrowCallout">
            <a:avLst>
              <a:gd name="adj1" fmla="val 18102"/>
              <a:gd name="adj2" fmla="val 18102"/>
              <a:gd name="adj3" fmla="val 16878"/>
              <a:gd name="adj4" fmla="val 7634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BR" sz="1200" b="1" u="none" dirty="0">
                <a:solidFill>
                  <a:schemeClr val="tx1"/>
                </a:solidFill>
              </a:rPr>
              <a:t>O argumento indica o </a:t>
            </a:r>
            <a:r>
              <a:rPr lang="pt-BR" altLang="pt-BR" sz="1200" b="1" u="none" dirty="0">
                <a:solidFill>
                  <a:srgbClr val="FF0000"/>
                </a:solidFill>
              </a:rPr>
              <a:t>endereço </a:t>
            </a:r>
            <a:r>
              <a:rPr lang="pt-BR" altLang="pt-BR" sz="1200" b="1" u="none" dirty="0">
                <a:solidFill>
                  <a:schemeClr val="tx1"/>
                </a:solidFill>
              </a:rPr>
              <a:t>onde está o valor desejado.</a:t>
            </a:r>
            <a:endParaRPr lang="pt-BR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46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274F6CF-A650-53AE-FCA7-00C593C8C345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Direto (0: Dir)</a:t>
            </a: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500583-D1EC-73B9-1FED-D2476CCE4F2D}"/>
              </a:ext>
            </a:extLst>
          </p:cNvPr>
          <p:cNvSpPr txBox="1"/>
          <p:nvPr/>
        </p:nvSpPr>
        <p:spPr>
          <a:xfrm>
            <a:off x="706786" y="2085742"/>
            <a:ext cx="7463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00</a:t>
            </a:r>
            <a:r>
              <a:rPr lang="pt-BR" altLang="pt-BR" u="none" dirty="0"/>
              <a:t>   </a:t>
            </a:r>
            <a:r>
              <a:rPr lang="pt-BR" altLang="pt-BR" b="1" u="none" dirty="0"/>
              <a:t>Direto</a:t>
            </a:r>
            <a:r>
              <a:rPr lang="pt-BR" altLang="pt-BR" u="none" dirty="0"/>
              <a:t>:       o argumento </a:t>
            </a:r>
            <a:r>
              <a:rPr lang="pt-BR" altLang="pt-BR" b="1" u="none" dirty="0"/>
              <a:t>indica o endereço onde está o valor desejado</a:t>
            </a:r>
            <a:r>
              <a:rPr lang="pt-BR" altLang="pt-BR" dirty="0"/>
              <a:t>.</a:t>
            </a:r>
            <a:endParaRPr lang="pt-BR" altLang="pt-BR" u="none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755949" y="2615831"/>
            <a:ext cx="7955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Este modo é o que utilizamos até agora, ou seja, em todas as operações colocamos a referência (argumento) de um endereço.</a:t>
            </a:r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C10D22C-66BA-6737-19A9-24443ADF5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346" y="3422919"/>
            <a:ext cx="4182147" cy="3287885"/>
          </a:xfrm>
          <a:prstGeom prst="rect">
            <a:avLst/>
          </a:prstGeom>
        </p:spPr>
      </p:pic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D4E89C7A-26EA-CAF2-F03E-A28601A1AB1F}"/>
              </a:ext>
            </a:extLst>
          </p:cNvPr>
          <p:cNvSpPr/>
          <p:nvPr/>
        </p:nvSpPr>
        <p:spPr>
          <a:xfrm>
            <a:off x="2189480" y="3723640"/>
            <a:ext cx="497840" cy="50292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6689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5" descr="Figura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100138"/>
            <a:ext cx="6624637" cy="463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1210491" y="3232428"/>
            <a:ext cx="768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Direto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4421363" y="3200162"/>
            <a:ext cx="926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Indireto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210491" y="5300186"/>
            <a:ext cx="1021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Imediato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245706" y="5300186"/>
            <a:ext cx="1047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Indexado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0914C3B-E00A-0957-427F-C2E4FF175231}"/>
              </a:ext>
            </a:extLst>
          </p:cNvPr>
          <p:cNvSpPr/>
          <p:nvPr/>
        </p:nvSpPr>
        <p:spPr>
          <a:xfrm>
            <a:off x="1116013" y="1100138"/>
            <a:ext cx="3177159" cy="2606623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98BCEA6-488D-D93C-C510-7CB8829A5BAB}"/>
              </a:ext>
            </a:extLst>
          </p:cNvPr>
          <p:cNvSpPr/>
          <p:nvPr/>
        </p:nvSpPr>
        <p:spPr>
          <a:xfrm>
            <a:off x="1140295" y="3699699"/>
            <a:ext cx="1907706" cy="2034351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F759A75-E67C-6079-88E9-6BC5601421E3}"/>
              </a:ext>
            </a:extLst>
          </p:cNvPr>
          <p:cNvSpPr/>
          <p:nvPr/>
        </p:nvSpPr>
        <p:spPr>
          <a:xfrm>
            <a:off x="3048001" y="3702469"/>
            <a:ext cx="4692649" cy="2031581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exto Explicativo: Seta para a Direita 7">
            <a:extLst>
              <a:ext uri="{FF2B5EF4-FFF2-40B4-BE49-F238E27FC236}">
                <a16:creationId xmlns:a16="http://schemas.microsoft.com/office/drawing/2014/main" id="{784D6A2F-EB27-5616-0CC8-466DF7800363}"/>
              </a:ext>
            </a:extLst>
          </p:cNvPr>
          <p:cNvSpPr/>
          <p:nvPr/>
        </p:nvSpPr>
        <p:spPr>
          <a:xfrm>
            <a:off x="3165988" y="1396181"/>
            <a:ext cx="1398364" cy="1514775"/>
          </a:xfrm>
          <a:prstGeom prst="rightArrowCallout">
            <a:avLst>
              <a:gd name="adj1" fmla="val 18102"/>
              <a:gd name="adj2" fmla="val 18102"/>
              <a:gd name="adj3" fmla="val 16878"/>
              <a:gd name="adj4" fmla="val 7634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BR" sz="1200" b="1" dirty="0">
                <a:solidFill>
                  <a:schemeClr val="tx1"/>
                </a:solidFill>
              </a:rPr>
              <a:t>O argumento </a:t>
            </a:r>
            <a:r>
              <a:rPr lang="pt-BR" altLang="pt-BR" sz="1200" b="1" dirty="0">
                <a:solidFill>
                  <a:srgbClr val="FF0000"/>
                </a:solidFill>
              </a:rPr>
              <a:t>indica</a:t>
            </a:r>
            <a:r>
              <a:rPr lang="pt-BR" altLang="pt-BR" sz="1200" b="1" dirty="0">
                <a:solidFill>
                  <a:schemeClr val="tx1"/>
                </a:solidFill>
              </a:rPr>
              <a:t> um </a:t>
            </a:r>
            <a:r>
              <a:rPr lang="pt-BR" altLang="pt-BR" sz="1200" b="1" dirty="0">
                <a:solidFill>
                  <a:srgbClr val="FF0000"/>
                </a:solidFill>
              </a:rPr>
              <a:t>novo endereço </a:t>
            </a:r>
            <a:r>
              <a:rPr lang="pt-BR" altLang="pt-BR" sz="1200" b="1" dirty="0">
                <a:solidFill>
                  <a:schemeClr val="tx1"/>
                </a:solidFill>
              </a:rPr>
              <a:t>onde está o valor desejado.</a:t>
            </a:r>
            <a:endParaRPr lang="pt-BR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93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488281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u="none" dirty="0"/>
              <a:t>endereço</a:t>
            </a:r>
            <a:r>
              <a:rPr lang="pt-BR" altLang="pt-BR" u="none" dirty="0"/>
              <a:t>, que contém um outro endereço, que referência a localização de um dado na memória. 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DEEDC19-943B-E754-34FB-470FFAB99D76}"/>
              </a:ext>
            </a:extLst>
          </p:cNvPr>
          <p:cNvSpPr txBox="1"/>
          <p:nvPr/>
        </p:nvSpPr>
        <p:spPr>
          <a:xfrm>
            <a:off x="666664" y="2005582"/>
            <a:ext cx="7916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01</a:t>
            </a:r>
            <a:r>
              <a:rPr lang="pt-BR" altLang="pt-BR" u="none" dirty="0"/>
              <a:t>   </a:t>
            </a:r>
            <a:r>
              <a:rPr lang="pt-BR" altLang="pt-BR" b="1" u="none" dirty="0"/>
              <a:t>Indireto</a:t>
            </a:r>
            <a:r>
              <a:rPr lang="pt-BR" altLang="pt-BR" u="none" dirty="0"/>
              <a:t>:    o argumento </a:t>
            </a:r>
            <a:r>
              <a:rPr lang="pt-BR" altLang="pt-BR" b="1" u="none" dirty="0"/>
              <a:t>indica um novo endereço onde está o valor desejado</a:t>
            </a:r>
            <a:r>
              <a:rPr lang="pt-BR" altLang="pt-BR" u="none" dirty="0"/>
              <a:t>;</a:t>
            </a:r>
            <a:endParaRPr lang="pt-BR" altLang="pt-BR" b="1" u="none" dirty="0">
              <a:solidFill>
                <a:srgbClr val="FF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6CE0835-9421-8927-30EB-54D07AA48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935" y="3242769"/>
            <a:ext cx="4304592" cy="3382179"/>
          </a:xfrm>
          <a:prstGeom prst="rect">
            <a:avLst/>
          </a:prstGeom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2820596" cy="1200329"/>
            <a:chOff x="679012" y="3203992"/>
            <a:chExt cx="2820596" cy="1200329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3573324"/>
              <a:ext cx="280246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Vamos carregar o número 15 (</a:t>
              </a:r>
              <a:r>
                <a:rPr lang="pt-BR" altLang="pt-BR" sz="1600" u="none" dirty="0" err="1"/>
                <a:t>end</a:t>
              </a:r>
              <a:r>
                <a:rPr lang="pt-BR" altLang="pt-BR" sz="1600" u="none" dirty="0"/>
                <a:t>: 131), na memória RA (A), pelo modo indireto. </a:t>
              </a:r>
              <a:endParaRPr lang="pt-BR" sz="1600" dirty="0"/>
            </a:p>
          </p:txBody>
        </p: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84C27D8-5434-8AF0-D301-681D49D3592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Indireto (1: </a:t>
            </a:r>
            <a:r>
              <a:rPr lang="pt-BR" altLang="pt-BR" sz="2400" b="1" u="none" dirty="0" err="1"/>
              <a:t>Ind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37415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6E09B39B-9EB5-AC49-443B-C0CBE7F6E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422" y="3264161"/>
            <a:ext cx="4300121" cy="338217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488281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u="none" dirty="0"/>
              <a:t>endereço</a:t>
            </a:r>
            <a:r>
              <a:rPr lang="pt-BR" altLang="pt-BR" u="none" dirty="0"/>
              <a:t>, que contém um outro endereço, que referência a localização de um dado na memória. 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DEEDC19-943B-E754-34FB-470FFAB99D76}"/>
              </a:ext>
            </a:extLst>
          </p:cNvPr>
          <p:cNvSpPr txBox="1"/>
          <p:nvPr/>
        </p:nvSpPr>
        <p:spPr>
          <a:xfrm>
            <a:off x="666664" y="2005582"/>
            <a:ext cx="7916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01</a:t>
            </a:r>
            <a:r>
              <a:rPr lang="pt-BR" altLang="pt-BR" u="none" dirty="0"/>
              <a:t>   </a:t>
            </a:r>
            <a:r>
              <a:rPr lang="pt-BR" altLang="pt-BR" b="1" u="none" dirty="0"/>
              <a:t>Indireto</a:t>
            </a:r>
            <a:r>
              <a:rPr lang="pt-BR" altLang="pt-BR" u="none" dirty="0"/>
              <a:t>:    o argumento </a:t>
            </a:r>
            <a:r>
              <a:rPr lang="pt-BR" altLang="pt-BR" b="1" u="none" dirty="0"/>
              <a:t>indica um novo endereço onde está o valor desejado</a:t>
            </a:r>
            <a:r>
              <a:rPr lang="pt-BR" altLang="pt-BR" u="none" dirty="0"/>
              <a:t>;</a:t>
            </a:r>
            <a:endParaRPr lang="pt-BR" altLang="pt-BR" b="1" u="none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89FB276-8389-E7C9-705B-DAD71C407D6F}"/>
              </a:ext>
            </a:extLst>
          </p:cNvPr>
          <p:cNvSpPr txBox="1"/>
          <p:nvPr/>
        </p:nvSpPr>
        <p:spPr>
          <a:xfrm>
            <a:off x="679012" y="3203992"/>
            <a:ext cx="2802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b="1" u="none" dirty="0">
                <a:solidFill>
                  <a:srgbClr val="FF0000"/>
                </a:solidFill>
              </a:rPr>
              <a:t>Passos: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3A8BE23-2F5A-F003-EA88-53BB5235E484}"/>
              </a:ext>
            </a:extLst>
          </p:cNvPr>
          <p:cNvSpPr txBox="1"/>
          <p:nvPr/>
        </p:nvSpPr>
        <p:spPr>
          <a:xfrm>
            <a:off x="697144" y="3573324"/>
            <a:ext cx="2802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pt-BR" sz="1600" dirty="0"/>
              <a:t>Como iremos utilizar o modo indireto, temos que somar ao código da instrução o modo desejado. Assim: 32 (LDR) + </a:t>
            </a:r>
            <a:r>
              <a:rPr lang="pt-BR" sz="1600" b="1" dirty="0"/>
              <a:t>1</a:t>
            </a:r>
            <a:r>
              <a:rPr lang="pt-BR" sz="1600" dirty="0"/>
              <a:t> (</a:t>
            </a:r>
            <a:r>
              <a:rPr lang="pt-BR" sz="1600" dirty="0" err="1"/>
              <a:t>ind</a:t>
            </a:r>
            <a:r>
              <a:rPr lang="pt-BR" sz="1600" dirty="0"/>
              <a:t>), devemos </a:t>
            </a:r>
            <a:r>
              <a:rPr lang="pt-BR" sz="1600" b="1" dirty="0">
                <a:solidFill>
                  <a:srgbClr val="00B0F0"/>
                </a:solidFill>
              </a:rPr>
              <a:t>digitar: 33</a:t>
            </a:r>
          </a:p>
          <a:p>
            <a:pPr marL="342900" indent="-342900">
              <a:buAutoNum type="arabicParenR"/>
            </a:pPr>
            <a:endParaRPr lang="pt-BR" sz="1600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89F1FBD-7D0F-DF64-1045-7D24759FCC2D}"/>
              </a:ext>
            </a:extLst>
          </p:cNvPr>
          <p:cNvGrpSpPr/>
          <p:nvPr/>
        </p:nvGrpSpPr>
        <p:grpSpPr>
          <a:xfrm>
            <a:off x="4008422" y="5595633"/>
            <a:ext cx="1342724" cy="460612"/>
            <a:chOff x="4008422" y="5595633"/>
            <a:chExt cx="1342724" cy="460612"/>
          </a:xfrm>
        </p:grpSpPr>
        <p:sp>
          <p:nvSpPr>
            <p:cNvPr id="7" name="Seta: para a Direita 6">
              <a:extLst>
                <a:ext uri="{FF2B5EF4-FFF2-40B4-BE49-F238E27FC236}">
                  <a16:creationId xmlns:a16="http://schemas.microsoft.com/office/drawing/2014/main" id="{C9648746-406A-E520-47EC-7BC36F72143B}"/>
                </a:ext>
              </a:extLst>
            </p:cNvPr>
            <p:cNvSpPr/>
            <p:nvPr/>
          </p:nvSpPr>
          <p:spPr>
            <a:xfrm>
              <a:off x="4008422" y="5595633"/>
              <a:ext cx="691629" cy="46061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11E6C9F6-CA1C-6720-0AA0-DD452D024F6D}"/>
                </a:ext>
              </a:extLst>
            </p:cNvPr>
            <p:cNvSpPr/>
            <p:nvPr/>
          </p:nvSpPr>
          <p:spPr>
            <a:xfrm>
              <a:off x="4794886" y="5734050"/>
              <a:ext cx="556260" cy="1695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 w="38100">
                  <a:solidFill>
                    <a:schemeClr val="tx1"/>
                  </a:solidFill>
                </a:ln>
                <a:noFill/>
              </a:endParaRPr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313A5D3-CE3E-6F64-82F0-9F27296493F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Indireto (1: </a:t>
            </a:r>
            <a:r>
              <a:rPr lang="pt-BR" altLang="pt-BR" sz="2400" b="1" u="none" dirty="0" err="1"/>
              <a:t>Ind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812832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4FE283D7-FF71-2714-53E1-C5ECC4F71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429" y="3281283"/>
            <a:ext cx="4285897" cy="338217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488281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</a:t>
            </a:r>
            <a:r>
              <a:rPr lang="pt-BR" altLang="pt-BR" dirty="0"/>
              <a:t>o</a:t>
            </a:r>
            <a:r>
              <a:rPr lang="pt-BR" altLang="pt-BR" u="none" dirty="0"/>
              <a:t> </a:t>
            </a:r>
            <a:r>
              <a:rPr lang="pt-BR" altLang="pt-BR" b="1" u="none" dirty="0"/>
              <a:t>endereço</a:t>
            </a:r>
            <a:r>
              <a:rPr lang="pt-BR" altLang="pt-BR" u="none" dirty="0"/>
              <a:t>, que contém um outro endereço, que referência a localização de um dado na memória. 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DEEDC19-943B-E754-34FB-470FFAB99D76}"/>
              </a:ext>
            </a:extLst>
          </p:cNvPr>
          <p:cNvSpPr txBox="1"/>
          <p:nvPr/>
        </p:nvSpPr>
        <p:spPr>
          <a:xfrm>
            <a:off x="666664" y="2005582"/>
            <a:ext cx="7916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01</a:t>
            </a:r>
            <a:r>
              <a:rPr lang="pt-BR" altLang="pt-BR" u="none" dirty="0"/>
              <a:t>   </a:t>
            </a:r>
            <a:r>
              <a:rPr lang="pt-BR" altLang="pt-BR" b="1" u="none" dirty="0"/>
              <a:t>Indireto</a:t>
            </a:r>
            <a:r>
              <a:rPr lang="pt-BR" altLang="pt-BR" u="none" dirty="0"/>
              <a:t>:    o argumento </a:t>
            </a:r>
            <a:r>
              <a:rPr lang="pt-BR" altLang="pt-BR" b="1" u="none" dirty="0"/>
              <a:t>indica um novo endereço onde está o valor desejado</a:t>
            </a:r>
            <a:r>
              <a:rPr lang="pt-BR" altLang="pt-BR" u="none" dirty="0"/>
              <a:t>;</a:t>
            </a:r>
            <a:endParaRPr lang="pt-BR" altLang="pt-BR" b="1" u="none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89FB276-8389-E7C9-705B-DAD71C407D6F}"/>
              </a:ext>
            </a:extLst>
          </p:cNvPr>
          <p:cNvSpPr txBox="1"/>
          <p:nvPr/>
        </p:nvSpPr>
        <p:spPr>
          <a:xfrm>
            <a:off x="679012" y="3203992"/>
            <a:ext cx="2802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b="1" u="none" dirty="0">
                <a:solidFill>
                  <a:srgbClr val="FF0000"/>
                </a:solidFill>
              </a:rPr>
              <a:t>Passos: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3A8BE23-2F5A-F003-EA88-53BB5235E484}"/>
              </a:ext>
            </a:extLst>
          </p:cNvPr>
          <p:cNvSpPr txBox="1"/>
          <p:nvPr/>
        </p:nvSpPr>
        <p:spPr>
          <a:xfrm>
            <a:off x="697144" y="3573324"/>
            <a:ext cx="28024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pt-BR" sz="1600" dirty="0"/>
              <a:t>Como iremos utilizar o modo indireto, temos que somar ao código da instrução o modo desejado. Assim: 32 (LDR) + </a:t>
            </a:r>
            <a:r>
              <a:rPr lang="pt-BR" sz="1600" b="1" dirty="0"/>
              <a:t>1</a:t>
            </a:r>
            <a:r>
              <a:rPr lang="pt-BR" sz="1600" dirty="0"/>
              <a:t> (</a:t>
            </a:r>
            <a:r>
              <a:rPr lang="pt-BR" sz="1600" dirty="0" err="1"/>
              <a:t>ind</a:t>
            </a:r>
            <a:r>
              <a:rPr lang="pt-BR" sz="1600" dirty="0"/>
              <a:t>), devemos digitar: </a:t>
            </a:r>
            <a:r>
              <a:rPr lang="pt-BR" sz="1600" b="1" dirty="0"/>
              <a:t>33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3CE428DC-E981-C9C7-F857-B57E239BED2F}"/>
              </a:ext>
            </a:extLst>
          </p:cNvPr>
          <p:cNvGrpSpPr/>
          <p:nvPr/>
        </p:nvGrpSpPr>
        <p:grpSpPr>
          <a:xfrm>
            <a:off x="3747726" y="3666490"/>
            <a:ext cx="1412918" cy="224791"/>
            <a:chOff x="3747726" y="3666490"/>
            <a:chExt cx="1412918" cy="22479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0692BE09-4882-D6AF-DCC4-3A2A36D41E36}"/>
                </a:ext>
              </a:extLst>
            </p:cNvPr>
            <p:cNvSpPr/>
            <p:nvPr/>
          </p:nvSpPr>
          <p:spPr>
            <a:xfrm>
              <a:off x="4118609" y="3705861"/>
              <a:ext cx="1042035" cy="14605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Seta: para a Direita 16">
              <a:extLst>
                <a:ext uri="{FF2B5EF4-FFF2-40B4-BE49-F238E27FC236}">
                  <a16:creationId xmlns:a16="http://schemas.microsoft.com/office/drawing/2014/main" id="{056F27AD-27E7-B49B-86BB-2AA87E519148}"/>
                </a:ext>
              </a:extLst>
            </p:cNvPr>
            <p:cNvSpPr/>
            <p:nvPr/>
          </p:nvSpPr>
          <p:spPr>
            <a:xfrm>
              <a:off x="3747726" y="3666490"/>
              <a:ext cx="266700" cy="224791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9" name="Texto Explicativo: Seta para Baixo 18">
            <a:extLst>
              <a:ext uri="{FF2B5EF4-FFF2-40B4-BE49-F238E27FC236}">
                <a16:creationId xmlns:a16="http://schemas.microsoft.com/office/drawing/2014/main" id="{711F7667-E4DA-48BA-D4F3-0E5E2AC7F908}"/>
              </a:ext>
            </a:extLst>
          </p:cNvPr>
          <p:cNvSpPr/>
          <p:nvPr/>
        </p:nvSpPr>
        <p:spPr>
          <a:xfrm>
            <a:off x="4338281" y="2921000"/>
            <a:ext cx="1229399" cy="745490"/>
          </a:xfrm>
          <a:prstGeom prst="down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020000"/>
                </a:solidFill>
              </a:rPr>
              <a:t>32+1=33</a:t>
            </a:r>
          </a:p>
          <a:p>
            <a:pPr algn="ctr"/>
            <a:r>
              <a:rPr lang="pt-BR" sz="1000" b="1" dirty="0">
                <a:solidFill>
                  <a:srgbClr val="020000"/>
                </a:solidFill>
              </a:rPr>
              <a:t>A -&gt; RA</a:t>
            </a:r>
          </a:p>
          <a:p>
            <a:pPr algn="ctr"/>
            <a:r>
              <a:rPr lang="pt-BR" sz="1000" b="1" dirty="0">
                <a:solidFill>
                  <a:srgbClr val="020000"/>
                </a:solidFill>
              </a:rPr>
              <a:t>0,I -&gt; </a:t>
            </a:r>
            <a:r>
              <a:rPr lang="pt-BR" sz="1000" b="1" dirty="0" err="1">
                <a:solidFill>
                  <a:srgbClr val="020000"/>
                </a:solidFill>
              </a:rPr>
              <a:t>End</a:t>
            </a:r>
            <a:r>
              <a:rPr lang="pt-BR" sz="1000" b="1" dirty="0">
                <a:solidFill>
                  <a:srgbClr val="020000"/>
                </a:solidFill>
              </a:rPr>
              <a:t> e Indireto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53E8A95-C166-FE5B-B31F-2A9DE731C763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Indireto (1: </a:t>
            </a:r>
            <a:r>
              <a:rPr lang="pt-BR" altLang="pt-BR" sz="2400" b="1" u="none" dirty="0" err="1"/>
              <a:t>Ind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9759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4FE283D7-FF71-2714-53E1-C5ECC4F71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429" y="3281283"/>
            <a:ext cx="4285897" cy="338217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488281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u="none" dirty="0"/>
              <a:t>endereço</a:t>
            </a:r>
            <a:r>
              <a:rPr lang="pt-BR" altLang="pt-BR" u="none" dirty="0"/>
              <a:t>, que contém um outro endereço, que referência a localização de um dado na memória. 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DEEDC19-943B-E754-34FB-470FFAB99D76}"/>
              </a:ext>
            </a:extLst>
          </p:cNvPr>
          <p:cNvSpPr txBox="1"/>
          <p:nvPr/>
        </p:nvSpPr>
        <p:spPr>
          <a:xfrm>
            <a:off x="666664" y="2005582"/>
            <a:ext cx="7916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01</a:t>
            </a:r>
            <a:r>
              <a:rPr lang="pt-BR" altLang="pt-BR" u="none" dirty="0"/>
              <a:t>   </a:t>
            </a:r>
            <a:r>
              <a:rPr lang="pt-BR" altLang="pt-BR" b="1" u="none" dirty="0"/>
              <a:t>Indireto</a:t>
            </a:r>
            <a:r>
              <a:rPr lang="pt-BR" altLang="pt-BR" u="none" dirty="0"/>
              <a:t>:    o argumento </a:t>
            </a:r>
            <a:r>
              <a:rPr lang="pt-BR" altLang="pt-BR" b="1" u="none" dirty="0"/>
              <a:t>indica um novo endereço onde está o valor desejado</a:t>
            </a:r>
            <a:r>
              <a:rPr lang="pt-BR" altLang="pt-BR" u="none" dirty="0"/>
              <a:t>;</a:t>
            </a:r>
            <a:endParaRPr lang="pt-BR" altLang="pt-BR" b="1" u="none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89FB276-8389-E7C9-705B-DAD71C407D6F}"/>
              </a:ext>
            </a:extLst>
          </p:cNvPr>
          <p:cNvSpPr txBox="1"/>
          <p:nvPr/>
        </p:nvSpPr>
        <p:spPr>
          <a:xfrm>
            <a:off x="679012" y="3203992"/>
            <a:ext cx="2802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b="1" u="none" dirty="0">
                <a:solidFill>
                  <a:srgbClr val="FF0000"/>
                </a:solidFill>
              </a:rPr>
              <a:t>Passos: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3A8BE23-2F5A-F003-EA88-53BB5235E484}"/>
              </a:ext>
            </a:extLst>
          </p:cNvPr>
          <p:cNvSpPr txBox="1"/>
          <p:nvPr/>
        </p:nvSpPr>
        <p:spPr>
          <a:xfrm>
            <a:off x="697144" y="3573324"/>
            <a:ext cx="280246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pt-BR" sz="1600" dirty="0"/>
              <a:t>Como iremos utilizar o modo indireto, temos que somar ao código da instrução o modo desejado. Assim: 32 (LDR) + </a:t>
            </a:r>
            <a:r>
              <a:rPr lang="pt-BR" sz="1600" b="1" dirty="0"/>
              <a:t>1</a:t>
            </a:r>
            <a:r>
              <a:rPr lang="pt-BR" sz="1600" dirty="0"/>
              <a:t> (</a:t>
            </a:r>
            <a:r>
              <a:rPr lang="pt-BR" sz="1600" dirty="0" err="1"/>
              <a:t>ind</a:t>
            </a:r>
            <a:r>
              <a:rPr lang="pt-BR" sz="1600" dirty="0"/>
              <a:t>), devemos digitar: </a:t>
            </a:r>
            <a:r>
              <a:rPr lang="pt-BR" sz="1600" b="1" dirty="0"/>
              <a:t>33</a:t>
            </a:r>
          </a:p>
          <a:p>
            <a:pPr marL="342900" indent="-342900">
              <a:buAutoNum type="arabicParenR"/>
            </a:pPr>
            <a:endParaRPr lang="pt-BR" sz="1600" b="1" dirty="0"/>
          </a:p>
          <a:p>
            <a:pPr marL="342900" indent="-342900">
              <a:buAutoNum type="arabicParenR"/>
            </a:pPr>
            <a:r>
              <a:rPr lang="pt-BR" sz="1600" dirty="0"/>
              <a:t>Iremos indicar agora o endereço (</a:t>
            </a:r>
            <a:r>
              <a:rPr lang="pt-BR" sz="1600" b="1" dirty="0">
                <a:solidFill>
                  <a:srgbClr val="00B0F0"/>
                </a:solidFill>
              </a:rPr>
              <a:t>128</a:t>
            </a:r>
            <a:r>
              <a:rPr lang="pt-BR" sz="1600" dirty="0"/>
              <a:t>), que contém o endereço (</a:t>
            </a:r>
            <a:r>
              <a:rPr lang="pt-BR" sz="1600" b="1" dirty="0"/>
              <a:t>130</a:t>
            </a:r>
            <a:r>
              <a:rPr lang="pt-BR" sz="1600" dirty="0"/>
              <a:t>), este que por sua vez, referência de fato o valor (</a:t>
            </a:r>
            <a:r>
              <a:rPr lang="pt-BR" sz="1600" b="1" dirty="0"/>
              <a:t>15</a:t>
            </a:r>
            <a:r>
              <a:rPr lang="pt-BR" sz="1600" dirty="0"/>
              <a:t>) a ser gravado em RA.</a:t>
            </a:r>
          </a:p>
          <a:p>
            <a:pPr marL="342900" indent="-342900">
              <a:buAutoNum type="arabicParenR"/>
            </a:pPr>
            <a:endParaRPr lang="pt-BR" sz="1600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89F1FBD-7D0F-DF64-1045-7D24759FCC2D}"/>
              </a:ext>
            </a:extLst>
          </p:cNvPr>
          <p:cNvGrpSpPr/>
          <p:nvPr/>
        </p:nvGrpSpPr>
        <p:grpSpPr>
          <a:xfrm>
            <a:off x="4008422" y="5595633"/>
            <a:ext cx="1342724" cy="460612"/>
            <a:chOff x="4008422" y="5595633"/>
            <a:chExt cx="1342724" cy="460612"/>
          </a:xfrm>
        </p:grpSpPr>
        <p:sp>
          <p:nvSpPr>
            <p:cNvPr id="7" name="Seta: para a Direita 6">
              <a:extLst>
                <a:ext uri="{FF2B5EF4-FFF2-40B4-BE49-F238E27FC236}">
                  <a16:creationId xmlns:a16="http://schemas.microsoft.com/office/drawing/2014/main" id="{C9648746-406A-E520-47EC-7BC36F72143B}"/>
                </a:ext>
              </a:extLst>
            </p:cNvPr>
            <p:cNvSpPr/>
            <p:nvPr/>
          </p:nvSpPr>
          <p:spPr>
            <a:xfrm>
              <a:off x="4008422" y="5595633"/>
              <a:ext cx="691629" cy="46061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11E6C9F6-CA1C-6720-0AA0-DD452D024F6D}"/>
                </a:ext>
              </a:extLst>
            </p:cNvPr>
            <p:cNvSpPr/>
            <p:nvPr/>
          </p:nvSpPr>
          <p:spPr>
            <a:xfrm>
              <a:off x="4794886" y="5734050"/>
              <a:ext cx="556260" cy="1695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 w="38100">
                  <a:solidFill>
                    <a:schemeClr val="tx1"/>
                  </a:solidFill>
                </a:ln>
                <a:noFill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3CE428DC-E981-C9C7-F857-B57E239BED2F}"/>
              </a:ext>
            </a:extLst>
          </p:cNvPr>
          <p:cNvGrpSpPr/>
          <p:nvPr/>
        </p:nvGrpSpPr>
        <p:grpSpPr>
          <a:xfrm>
            <a:off x="3747726" y="3666490"/>
            <a:ext cx="1412918" cy="224791"/>
            <a:chOff x="3747726" y="3666490"/>
            <a:chExt cx="1412918" cy="22479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0692BE09-4882-D6AF-DCC4-3A2A36D41E36}"/>
                </a:ext>
              </a:extLst>
            </p:cNvPr>
            <p:cNvSpPr/>
            <p:nvPr/>
          </p:nvSpPr>
          <p:spPr>
            <a:xfrm>
              <a:off x="4118609" y="3705861"/>
              <a:ext cx="1042035" cy="14605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Seta: para a Direita 16">
              <a:extLst>
                <a:ext uri="{FF2B5EF4-FFF2-40B4-BE49-F238E27FC236}">
                  <a16:creationId xmlns:a16="http://schemas.microsoft.com/office/drawing/2014/main" id="{056F27AD-27E7-B49B-86BB-2AA87E519148}"/>
                </a:ext>
              </a:extLst>
            </p:cNvPr>
            <p:cNvSpPr/>
            <p:nvPr/>
          </p:nvSpPr>
          <p:spPr>
            <a:xfrm>
              <a:off x="3747726" y="3666490"/>
              <a:ext cx="266700" cy="224791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1883F5-0557-A74F-106F-290982BD6E54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Indireto (1: </a:t>
            </a:r>
            <a:r>
              <a:rPr lang="pt-BR" altLang="pt-BR" sz="2400" b="1" u="none" dirty="0" err="1"/>
              <a:t>Ind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41647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229813A6-2554-608D-394F-B3558C9AB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943" y="3307705"/>
            <a:ext cx="4210897" cy="331393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488281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</a:t>
            </a:r>
            <a:r>
              <a:rPr lang="pt-BR" altLang="pt-BR" dirty="0"/>
              <a:t>o</a:t>
            </a:r>
            <a:r>
              <a:rPr lang="pt-BR" altLang="pt-BR" u="none" dirty="0"/>
              <a:t> </a:t>
            </a:r>
            <a:r>
              <a:rPr lang="pt-BR" altLang="pt-BR" b="1" u="none" dirty="0"/>
              <a:t>endereço</a:t>
            </a:r>
            <a:r>
              <a:rPr lang="pt-BR" altLang="pt-BR" u="none" dirty="0"/>
              <a:t>, que contém um outro endereço, que referência a localização de um dado na memória. 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DEEDC19-943B-E754-34FB-470FFAB99D76}"/>
              </a:ext>
            </a:extLst>
          </p:cNvPr>
          <p:cNvSpPr txBox="1"/>
          <p:nvPr/>
        </p:nvSpPr>
        <p:spPr>
          <a:xfrm>
            <a:off x="666664" y="2005582"/>
            <a:ext cx="7916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01</a:t>
            </a:r>
            <a:r>
              <a:rPr lang="pt-BR" altLang="pt-BR" u="none" dirty="0"/>
              <a:t>   </a:t>
            </a:r>
            <a:r>
              <a:rPr lang="pt-BR" altLang="pt-BR" b="1" u="none" dirty="0"/>
              <a:t>Indireto</a:t>
            </a:r>
            <a:r>
              <a:rPr lang="pt-BR" altLang="pt-BR" u="none" dirty="0"/>
              <a:t>:    o argumento </a:t>
            </a:r>
            <a:r>
              <a:rPr lang="pt-BR" altLang="pt-BR" b="1" u="none" dirty="0"/>
              <a:t>indica um novo endereço onde está o valor desejado</a:t>
            </a:r>
            <a:r>
              <a:rPr lang="pt-BR" altLang="pt-BR" u="none" dirty="0"/>
              <a:t>;</a:t>
            </a:r>
            <a:endParaRPr lang="pt-BR" altLang="pt-BR" b="1" u="none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89FB276-8389-E7C9-705B-DAD71C407D6F}"/>
              </a:ext>
            </a:extLst>
          </p:cNvPr>
          <p:cNvSpPr txBox="1"/>
          <p:nvPr/>
        </p:nvSpPr>
        <p:spPr>
          <a:xfrm>
            <a:off x="679012" y="3203992"/>
            <a:ext cx="2802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b="1" u="none" dirty="0">
                <a:solidFill>
                  <a:srgbClr val="FF0000"/>
                </a:solidFill>
              </a:rPr>
              <a:t>Passos: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3A8BE23-2F5A-F003-EA88-53BB5235E484}"/>
              </a:ext>
            </a:extLst>
          </p:cNvPr>
          <p:cNvSpPr txBox="1"/>
          <p:nvPr/>
        </p:nvSpPr>
        <p:spPr>
          <a:xfrm>
            <a:off x="697144" y="3573324"/>
            <a:ext cx="280246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pt-BR" sz="1600" dirty="0"/>
              <a:t>Como iremos utilizar o modo indireto, temos que somar ao código da instrução o modo desejado. Assim: 32 (LDR) + </a:t>
            </a:r>
            <a:r>
              <a:rPr lang="pt-BR" sz="1600" b="1" dirty="0"/>
              <a:t>1</a:t>
            </a:r>
            <a:r>
              <a:rPr lang="pt-BR" sz="1600" dirty="0"/>
              <a:t> (</a:t>
            </a:r>
            <a:r>
              <a:rPr lang="pt-BR" sz="1600" dirty="0" err="1"/>
              <a:t>ind</a:t>
            </a:r>
            <a:r>
              <a:rPr lang="pt-BR" sz="1600" dirty="0"/>
              <a:t>), devemos digitar: </a:t>
            </a:r>
            <a:r>
              <a:rPr lang="pt-BR" sz="1600" b="1" dirty="0"/>
              <a:t>33</a:t>
            </a:r>
          </a:p>
          <a:p>
            <a:pPr marL="342900" indent="-342900">
              <a:buAutoNum type="arabicParenR"/>
            </a:pPr>
            <a:endParaRPr lang="pt-BR" sz="1600" b="1" dirty="0"/>
          </a:p>
          <a:p>
            <a:pPr marL="342900" indent="-342900">
              <a:buAutoNum type="arabicParenR"/>
            </a:pPr>
            <a:r>
              <a:rPr lang="pt-BR" sz="1600" dirty="0"/>
              <a:t>Iremos indicar agora o endereço (</a:t>
            </a:r>
            <a:r>
              <a:rPr lang="pt-BR" sz="1600" b="1" dirty="0">
                <a:solidFill>
                  <a:srgbClr val="00B0F0"/>
                </a:solidFill>
              </a:rPr>
              <a:t>128</a:t>
            </a:r>
            <a:r>
              <a:rPr lang="pt-BR" sz="1600" dirty="0"/>
              <a:t>), que contém o endereço (</a:t>
            </a:r>
            <a:r>
              <a:rPr lang="pt-BR" sz="1600" b="1" dirty="0"/>
              <a:t>130</a:t>
            </a:r>
            <a:r>
              <a:rPr lang="pt-BR" sz="1600" dirty="0"/>
              <a:t>), este que por sua vez, referência de fato o valor (</a:t>
            </a:r>
            <a:r>
              <a:rPr lang="pt-BR" sz="1600" b="1" dirty="0"/>
              <a:t>15</a:t>
            </a:r>
            <a:r>
              <a:rPr lang="pt-BR" sz="1600" dirty="0"/>
              <a:t>) a ser gravado em RA.</a:t>
            </a:r>
          </a:p>
          <a:p>
            <a:pPr marL="342900" indent="-342900">
              <a:buAutoNum type="arabicParenR"/>
            </a:pPr>
            <a:endParaRPr lang="pt-BR" sz="1600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3CE428DC-E981-C9C7-F857-B57E239BED2F}"/>
              </a:ext>
            </a:extLst>
          </p:cNvPr>
          <p:cNvGrpSpPr/>
          <p:nvPr/>
        </p:nvGrpSpPr>
        <p:grpSpPr>
          <a:xfrm>
            <a:off x="3747726" y="3719830"/>
            <a:ext cx="1412918" cy="273050"/>
            <a:chOff x="3747726" y="3666490"/>
            <a:chExt cx="1412918" cy="273050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0692BE09-4882-D6AF-DCC4-3A2A36D41E36}"/>
                </a:ext>
              </a:extLst>
            </p:cNvPr>
            <p:cNvSpPr/>
            <p:nvPr/>
          </p:nvSpPr>
          <p:spPr>
            <a:xfrm>
              <a:off x="4118609" y="3666490"/>
              <a:ext cx="1042035" cy="27305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Seta: para a Direita 16">
              <a:extLst>
                <a:ext uri="{FF2B5EF4-FFF2-40B4-BE49-F238E27FC236}">
                  <a16:creationId xmlns:a16="http://schemas.microsoft.com/office/drawing/2014/main" id="{056F27AD-27E7-B49B-86BB-2AA87E519148}"/>
                </a:ext>
              </a:extLst>
            </p:cNvPr>
            <p:cNvSpPr/>
            <p:nvPr/>
          </p:nvSpPr>
          <p:spPr>
            <a:xfrm>
              <a:off x="3747726" y="3695986"/>
              <a:ext cx="266700" cy="224791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4B78053-84F6-5F56-4549-67C1DDE2BCF9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Indireto (1: </a:t>
            </a:r>
            <a:r>
              <a:rPr lang="pt-BR" altLang="pt-BR" sz="2400" b="1" u="none" dirty="0" err="1"/>
              <a:t>Ind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56345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488281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</a:t>
            </a:r>
            <a:r>
              <a:rPr lang="pt-BR" altLang="pt-BR" dirty="0"/>
              <a:t>o</a:t>
            </a:r>
            <a:r>
              <a:rPr lang="pt-BR" altLang="pt-BR" u="none" dirty="0"/>
              <a:t> </a:t>
            </a:r>
            <a:r>
              <a:rPr lang="pt-BR" altLang="pt-BR" b="1" u="none" dirty="0"/>
              <a:t>endereço</a:t>
            </a:r>
            <a:r>
              <a:rPr lang="pt-BR" altLang="pt-BR" u="none" dirty="0"/>
              <a:t>, que contém um outro endereço, que referência a localização de um dado na memória. 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DEEDC19-943B-E754-34FB-470FFAB99D76}"/>
              </a:ext>
            </a:extLst>
          </p:cNvPr>
          <p:cNvSpPr txBox="1"/>
          <p:nvPr/>
        </p:nvSpPr>
        <p:spPr>
          <a:xfrm>
            <a:off x="666664" y="2005582"/>
            <a:ext cx="7916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01</a:t>
            </a:r>
            <a:r>
              <a:rPr lang="pt-BR" altLang="pt-BR" u="none" dirty="0"/>
              <a:t>   </a:t>
            </a:r>
            <a:r>
              <a:rPr lang="pt-BR" altLang="pt-BR" b="1" u="none" dirty="0"/>
              <a:t>Indireto</a:t>
            </a:r>
            <a:r>
              <a:rPr lang="pt-BR" altLang="pt-BR" u="none" dirty="0"/>
              <a:t>:    o argumento </a:t>
            </a:r>
            <a:r>
              <a:rPr lang="pt-BR" altLang="pt-BR" b="1" u="none" dirty="0"/>
              <a:t>indica um novo endereço onde está o valor desejado</a:t>
            </a:r>
            <a:r>
              <a:rPr lang="pt-BR" altLang="pt-BR" u="none" dirty="0"/>
              <a:t>;</a:t>
            </a:r>
            <a:endParaRPr lang="pt-BR" altLang="pt-BR" b="1" u="none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89FB276-8389-E7C9-705B-DAD71C407D6F}"/>
              </a:ext>
            </a:extLst>
          </p:cNvPr>
          <p:cNvSpPr txBox="1"/>
          <p:nvPr/>
        </p:nvSpPr>
        <p:spPr>
          <a:xfrm>
            <a:off x="679012" y="3203992"/>
            <a:ext cx="2802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b="1" u="none" dirty="0">
                <a:solidFill>
                  <a:srgbClr val="FF0000"/>
                </a:solidFill>
              </a:rPr>
              <a:t>Passos:</a:t>
            </a:r>
            <a:endParaRPr lang="pt-BR" b="1" dirty="0">
              <a:solidFill>
                <a:srgbClr val="FF0000"/>
              </a:solidFill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34716E8-D369-16A3-AA09-612915C881A6}"/>
              </a:ext>
            </a:extLst>
          </p:cNvPr>
          <p:cNvGrpSpPr/>
          <p:nvPr/>
        </p:nvGrpSpPr>
        <p:grpSpPr>
          <a:xfrm>
            <a:off x="4033943" y="3307705"/>
            <a:ext cx="4412913" cy="3313933"/>
            <a:chOff x="4033943" y="3307705"/>
            <a:chExt cx="4412913" cy="3313933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229813A6-2554-608D-394F-B3558C9AB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33943" y="3307705"/>
              <a:ext cx="4210897" cy="3313933"/>
            </a:xfrm>
            <a:prstGeom prst="rect">
              <a:avLst/>
            </a:prstGeom>
          </p:spPr>
        </p:pic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0692BE09-4882-D6AF-DCC4-3A2A36D41E36}"/>
                </a:ext>
              </a:extLst>
            </p:cNvPr>
            <p:cNvSpPr/>
            <p:nvPr/>
          </p:nvSpPr>
          <p:spPr>
            <a:xfrm>
              <a:off x="7688580" y="3720811"/>
              <a:ext cx="447040" cy="15522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Seta: para a Direita 16">
              <a:extLst>
                <a:ext uri="{FF2B5EF4-FFF2-40B4-BE49-F238E27FC236}">
                  <a16:creationId xmlns:a16="http://schemas.microsoft.com/office/drawing/2014/main" id="{056F27AD-27E7-B49B-86BB-2AA87E519148}"/>
                </a:ext>
              </a:extLst>
            </p:cNvPr>
            <p:cNvSpPr/>
            <p:nvPr/>
          </p:nvSpPr>
          <p:spPr>
            <a:xfrm rot="10800000">
              <a:off x="8180156" y="3686029"/>
              <a:ext cx="266700" cy="224791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1A6D8441-3F42-A61E-875E-035D9AEBB7BC}"/>
              </a:ext>
            </a:extLst>
          </p:cNvPr>
          <p:cNvSpPr txBox="1"/>
          <p:nvPr/>
        </p:nvSpPr>
        <p:spPr>
          <a:xfrm>
            <a:off x="697144" y="3573324"/>
            <a:ext cx="280246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pt-BR" sz="1600" dirty="0"/>
              <a:t>Como iremos utilizar o modo indireto, temos que somar ao código da instrução o modo desejado. Assim: 32 (LDR) + </a:t>
            </a:r>
            <a:r>
              <a:rPr lang="pt-BR" sz="1600" b="1" dirty="0"/>
              <a:t>1</a:t>
            </a:r>
            <a:r>
              <a:rPr lang="pt-BR" sz="1600" dirty="0"/>
              <a:t> (</a:t>
            </a:r>
            <a:r>
              <a:rPr lang="pt-BR" sz="1600" dirty="0" err="1"/>
              <a:t>ind</a:t>
            </a:r>
            <a:r>
              <a:rPr lang="pt-BR" sz="1600" dirty="0"/>
              <a:t>), devemos digitar: </a:t>
            </a:r>
            <a:r>
              <a:rPr lang="pt-BR" sz="1600" b="1" dirty="0"/>
              <a:t>33</a:t>
            </a:r>
          </a:p>
          <a:p>
            <a:pPr marL="342900" indent="-342900">
              <a:buAutoNum type="arabicParenR"/>
            </a:pPr>
            <a:endParaRPr lang="pt-BR" sz="1600" b="1" dirty="0"/>
          </a:p>
          <a:p>
            <a:pPr marL="342900" indent="-342900">
              <a:buAutoNum type="arabicParenR"/>
            </a:pPr>
            <a:r>
              <a:rPr lang="pt-BR" sz="1600" dirty="0"/>
              <a:t>Iremos indicar agora o endereço (</a:t>
            </a:r>
            <a:r>
              <a:rPr lang="pt-BR" sz="1600" b="1" dirty="0"/>
              <a:t>128</a:t>
            </a:r>
            <a:r>
              <a:rPr lang="pt-BR" sz="1600" dirty="0"/>
              <a:t>), que contém o endereço (</a:t>
            </a:r>
            <a:r>
              <a:rPr lang="pt-BR" sz="1600" b="1" dirty="0">
                <a:solidFill>
                  <a:srgbClr val="00B0F0"/>
                </a:solidFill>
              </a:rPr>
              <a:t>130</a:t>
            </a:r>
            <a:r>
              <a:rPr lang="pt-BR" sz="1600" dirty="0"/>
              <a:t>), este que por sua vez, referência de fato o valor (</a:t>
            </a:r>
            <a:r>
              <a:rPr lang="pt-BR" sz="1600" b="1" dirty="0"/>
              <a:t>15</a:t>
            </a:r>
            <a:r>
              <a:rPr lang="pt-BR" sz="1600" dirty="0"/>
              <a:t>) a ser gravado em RA.</a:t>
            </a:r>
          </a:p>
          <a:p>
            <a:pPr marL="342900" indent="-342900">
              <a:buAutoNum type="arabicParenR"/>
            </a:pPr>
            <a:endParaRPr lang="pt-BR" sz="16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8A57090-1D66-545E-6BF4-878222104FAF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Indireto (1: </a:t>
            </a:r>
            <a:r>
              <a:rPr lang="pt-BR" altLang="pt-BR" sz="2400" b="1" u="none" dirty="0" err="1"/>
              <a:t>Ind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91172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488281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</a:t>
            </a:r>
            <a:r>
              <a:rPr lang="pt-BR" altLang="pt-BR" dirty="0"/>
              <a:t>o</a:t>
            </a:r>
            <a:r>
              <a:rPr lang="pt-BR" altLang="pt-BR" u="none" dirty="0"/>
              <a:t> </a:t>
            </a:r>
            <a:r>
              <a:rPr lang="pt-BR" altLang="pt-BR" b="1" u="none" dirty="0"/>
              <a:t>endereço</a:t>
            </a:r>
            <a:r>
              <a:rPr lang="pt-BR" altLang="pt-BR" u="none" dirty="0"/>
              <a:t>, que contém um outro endereço, que referência a localização de um dado na memória. 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DEEDC19-943B-E754-34FB-470FFAB99D76}"/>
              </a:ext>
            </a:extLst>
          </p:cNvPr>
          <p:cNvSpPr txBox="1"/>
          <p:nvPr/>
        </p:nvSpPr>
        <p:spPr>
          <a:xfrm>
            <a:off x="666664" y="2005582"/>
            <a:ext cx="7916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01</a:t>
            </a:r>
            <a:r>
              <a:rPr lang="pt-BR" altLang="pt-BR" u="none" dirty="0"/>
              <a:t>   </a:t>
            </a:r>
            <a:r>
              <a:rPr lang="pt-BR" altLang="pt-BR" b="1" u="none" dirty="0"/>
              <a:t>Indireto</a:t>
            </a:r>
            <a:r>
              <a:rPr lang="pt-BR" altLang="pt-BR" u="none" dirty="0"/>
              <a:t>:    o argumento </a:t>
            </a:r>
            <a:r>
              <a:rPr lang="pt-BR" altLang="pt-BR" b="1" u="none" dirty="0"/>
              <a:t>indica um novo endereço onde está o valor desejado</a:t>
            </a:r>
            <a:r>
              <a:rPr lang="pt-BR" altLang="pt-BR" u="none" dirty="0"/>
              <a:t>;</a:t>
            </a:r>
            <a:endParaRPr lang="pt-BR" altLang="pt-BR" b="1" u="none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89FB276-8389-E7C9-705B-DAD71C407D6F}"/>
              </a:ext>
            </a:extLst>
          </p:cNvPr>
          <p:cNvSpPr txBox="1"/>
          <p:nvPr/>
        </p:nvSpPr>
        <p:spPr>
          <a:xfrm>
            <a:off x="679012" y="3203992"/>
            <a:ext cx="2802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b="1" u="none" dirty="0">
                <a:solidFill>
                  <a:srgbClr val="FF0000"/>
                </a:solidFill>
              </a:rPr>
              <a:t>Passos:</a:t>
            </a:r>
            <a:endParaRPr lang="pt-BR" b="1" dirty="0">
              <a:solidFill>
                <a:srgbClr val="FF0000"/>
              </a:solidFill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34716E8-D369-16A3-AA09-612915C881A6}"/>
              </a:ext>
            </a:extLst>
          </p:cNvPr>
          <p:cNvGrpSpPr/>
          <p:nvPr/>
        </p:nvGrpSpPr>
        <p:grpSpPr>
          <a:xfrm>
            <a:off x="4033943" y="3307705"/>
            <a:ext cx="4412913" cy="3313933"/>
            <a:chOff x="4033943" y="3307705"/>
            <a:chExt cx="4412913" cy="3313933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229813A6-2554-608D-394F-B3558C9AB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33943" y="3307705"/>
              <a:ext cx="4210897" cy="3313933"/>
            </a:xfrm>
            <a:prstGeom prst="rect">
              <a:avLst/>
            </a:prstGeom>
          </p:spPr>
        </p:pic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0692BE09-4882-D6AF-DCC4-3A2A36D41E36}"/>
                </a:ext>
              </a:extLst>
            </p:cNvPr>
            <p:cNvSpPr/>
            <p:nvPr/>
          </p:nvSpPr>
          <p:spPr>
            <a:xfrm>
              <a:off x="7688580" y="3964651"/>
              <a:ext cx="447040" cy="15522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Seta: para a Direita 16">
              <a:extLst>
                <a:ext uri="{FF2B5EF4-FFF2-40B4-BE49-F238E27FC236}">
                  <a16:creationId xmlns:a16="http://schemas.microsoft.com/office/drawing/2014/main" id="{056F27AD-27E7-B49B-86BB-2AA87E519148}"/>
                </a:ext>
              </a:extLst>
            </p:cNvPr>
            <p:cNvSpPr/>
            <p:nvPr/>
          </p:nvSpPr>
          <p:spPr>
            <a:xfrm rot="10800000">
              <a:off x="8180156" y="3929869"/>
              <a:ext cx="266700" cy="224791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CBF7AF94-924F-B147-CCC7-CAD57B786B3C}"/>
              </a:ext>
            </a:extLst>
          </p:cNvPr>
          <p:cNvSpPr txBox="1"/>
          <p:nvPr/>
        </p:nvSpPr>
        <p:spPr>
          <a:xfrm>
            <a:off x="697144" y="3573324"/>
            <a:ext cx="280246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pt-BR" sz="1600" dirty="0"/>
              <a:t>Como iremos utilizar o modo indireto, temos que somar ao código da instrução o modo desejado. Assim: 32 (LDR) + </a:t>
            </a:r>
            <a:r>
              <a:rPr lang="pt-BR" sz="1600" b="1" dirty="0"/>
              <a:t>1</a:t>
            </a:r>
            <a:r>
              <a:rPr lang="pt-BR" sz="1600" dirty="0"/>
              <a:t> (</a:t>
            </a:r>
            <a:r>
              <a:rPr lang="pt-BR" sz="1600" dirty="0" err="1"/>
              <a:t>ind</a:t>
            </a:r>
            <a:r>
              <a:rPr lang="pt-BR" sz="1600" dirty="0"/>
              <a:t>), devemos digitar: </a:t>
            </a:r>
            <a:r>
              <a:rPr lang="pt-BR" sz="1600" b="1" dirty="0"/>
              <a:t>33</a:t>
            </a:r>
          </a:p>
          <a:p>
            <a:pPr marL="342900" indent="-342900">
              <a:buAutoNum type="arabicParenR"/>
            </a:pPr>
            <a:endParaRPr lang="pt-BR" sz="1600" b="1" dirty="0"/>
          </a:p>
          <a:p>
            <a:pPr marL="342900" indent="-342900">
              <a:buAutoNum type="arabicParenR"/>
            </a:pPr>
            <a:r>
              <a:rPr lang="pt-BR" sz="1600" dirty="0"/>
              <a:t>Iremos indicar agora o endereço (</a:t>
            </a:r>
            <a:r>
              <a:rPr lang="pt-BR" sz="1600" b="1" dirty="0"/>
              <a:t>128</a:t>
            </a:r>
            <a:r>
              <a:rPr lang="pt-BR" sz="1600" dirty="0"/>
              <a:t>), que contém o endereço (</a:t>
            </a:r>
            <a:r>
              <a:rPr lang="pt-BR" sz="1600" b="1" dirty="0"/>
              <a:t>130</a:t>
            </a:r>
            <a:r>
              <a:rPr lang="pt-BR" sz="1600" dirty="0"/>
              <a:t>), este que por sua vez, referência de fato o valor (</a:t>
            </a:r>
            <a:r>
              <a:rPr lang="pt-BR" sz="1600" b="1" dirty="0">
                <a:solidFill>
                  <a:srgbClr val="00B0F0"/>
                </a:solidFill>
              </a:rPr>
              <a:t>15</a:t>
            </a:r>
            <a:r>
              <a:rPr lang="pt-BR" sz="1600" dirty="0"/>
              <a:t>) a ser gravado em RA.</a:t>
            </a:r>
          </a:p>
          <a:p>
            <a:pPr marL="342900" indent="-342900">
              <a:buAutoNum type="arabicParenR"/>
            </a:pPr>
            <a:endParaRPr lang="pt-BR" sz="16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C854D13-1089-B9FC-A6B6-95C8D65F4345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Indireto (1: </a:t>
            </a:r>
            <a:r>
              <a:rPr lang="pt-BR" altLang="pt-BR" sz="2400" b="1" u="none" dirty="0" err="1"/>
              <a:t>Ind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182311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5" descr="Figura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100138"/>
            <a:ext cx="6624637" cy="463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1210491" y="3232428"/>
            <a:ext cx="768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Direto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4421363" y="3200162"/>
            <a:ext cx="926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Indireto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210491" y="5300186"/>
            <a:ext cx="1021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Imediato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245706" y="5300186"/>
            <a:ext cx="1047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Indexado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0914C3B-E00A-0957-427F-C2E4FF175231}"/>
              </a:ext>
            </a:extLst>
          </p:cNvPr>
          <p:cNvSpPr/>
          <p:nvPr/>
        </p:nvSpPr>
        <p:spPr>
          <a:xfrm>
            <a:off x="1116013" y="1100138"/>
            <a:ext cx="3177159" cy="2606623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60EBF04-A901-E809-D46A-EA567F3E3B67}"/>
              </a:ext>
            </a:extLst>
          </p:cNvPr>
          <p:cNvSpPr/>
          <p:nvPr/>
        </p:nvSpPr>
        <p:spPr>
          <a:xfrm>
            <a:off x="4327489" y="1112740"/>
            <a:ext cx="3413161" cy="2606623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F759A75-E67C-6079-88E9-6BC5601421E3}"/>
              </a:ext>
            </a:extLst>
          </p:cNvPr>
          <p:cNvSpPr/>
          <p:nvPr/>
        </p:nvSpPr>
        <p:spPr>
          <a:xfrm>
            <a:off x="3048001" y="3702469"/>
            <a:ext cx="4692649" cy="2031581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exto Explicativo: Seta para a Direita 7">
            <a:extLst>
              <a:ext uri="{FF2B5EF4-FFF2-40B4-BE49-F238E27FC236}">
                <a16:creationId xmlns:a16="http://schemas.microsoft.com/office/drawing/2014/main" id="{213FD460-FBD3-15E7-30B8-2F8AA7D88EC8}"/>
              </a:ext>
            </a:extLst>
          </p:cNvPr>
          <p:cNvSpPr/>
          <p:nvPr/>
        </p:nvSpPr>
        <p:spPr>
          <a:xfrm>
            <a:off x="433207" y="4144681"/>
            <a:ext cx="1210491" cy="1060336"/>
          </a:xfrm>
          <a:prstGeom prst="rightArrowCallout">
            <a:avLst>
              <a:gd name="adj1" fmla="val 18102"/>
              <a:gd name="adj2" fmla="val 18102"/>
              <a:gd name="adj3" fmla="val 16878"/>
              <a:gd name="adj4" fmla="val 7634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BR" sz="1200" b="1" dirty="0">
                <a:solidFill>
                  <a:schemeClr val="tx1"/>
                </a:solidFill>
              </a:rPr>
              <a:t>O argumento é </a:t>
            </a:r>
            <a:r>
              <a:rPr lang="pt-BR" altLang="pt-BR" sz="1200" b="1" dirty="0">
                <a:solidFill>
                  <a:srgbClr val="FF0000"/>
                </a:solidFill>
              </a:rPr>
              <a:t>o próprio valor </a:t>
            </a:r>
            <a:r>
              <a:rPr lang="pt-BR" altLang="pt-BR" sz="1200" b="1" dirty="0">
                <a:solidFill>
                  <a:schemeClr val="tx1"/>
                </a:solidFill>
              </a:rPr>
              <a:t>desejado.</a:t>
            </a:r>
            <a:endParaRPr lang="pt-BR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53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C86A80A-92F2-ED41-2F1F-13596DE3B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030" y="3259263"/>
            <a:ext cx="4304591" cy="343712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488281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u="none" dirty="0"/>
              <a:t>dado </a:t>
            </a:r>
            <a:r>
              <a:rPr lang="pt-BR" altLang="pt-BR" u="none" dirty="0"/>
              <a:t>ou a </a:t>
            </a:r>
            <a:r>
              <a:rPr lang="pt-BR" altLang="pt-BR" b="1" u="none" dirty="0"/>
              <a:t>constante</a:t>
            </a:r>
            <a:r>
              <a:rPr lang="pt-BR" altLang="pt-BR" u="none" dirty="0"/>
              <a:t> diretamente carregada no código de instrução, ou seja, não é necessário acesso a memória de dados.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2820596" cy="1200329"/>
            <a:chOff x="679012" y="3203992"/>
            <a:chExt cx="2820596" cy="1200329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3573324"/>
              <a:ext cx="280246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Se quisermos somar a constante 1 ao registrador A (RA).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Imediato (2: </a:t>
            </a:r>
            <a:r>
              <a:rPr lang="pt-BR" altLang="pt-BR" sz="2400" b="1" u="none" dirty="0" err="1"/>
              <a:t>Imd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0B9200E-EAD0-1814-4F0D-332B64B2560E}"/>
              </a:ext>
            </a:extLst>
          </p:cNvPr>
          <p:cNvSpPr txBox="1"/>
          <p:nvPr/>
        </p:nvSpPr>
        <p:spPr>
          <a:xfrm>
            <a:off x="697144" y="1991250"/>
            <a:ext cx="7375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b="1" u="none" dirty="0">
                <a:solidFill>
                  <a:srgbClr val="FF0000"/>
                </a:solidFill>
              </a:rPr>
              <a:t>10</a:t>
            </a:r>
            <a:r>
              <a:rPr lang="pt-BR" altLang="pt-BR" u="none" dirty="0"/>
              <a:t>   </a:t>
            </a:r>
            <a:r>
              <a:rPr lang="pt-BR" altLang="pt-BR" b="1" u="none" dirty="0"/>
              <a:t>Imediato</a:t>
            </a:r>
            <a:r>
              <a:rPr lang="pt-BR" altLang="pt-BR" u="none" dirty="0"/>
              <a:t>:  o argumento </a:t>
            </a:r>
            <a:r>
              <a:rPr lang="pt-BR" altLang="pt-BR" b="1" u="none" dirty="0"/>
              <a:t>é o próprio valor desejado.</a:t>
            </a:r>
            <a:r>
              <a:rPr lang="pt-BR" altLang="pt-BR" u="none" dirty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162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C86A80A-92F2-ED41-2F1F-13596DE3B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030" y="3259263"/>
            <a:ext cx="4304591" cy="343712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488281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u="none" dirty="0"/>
              <a:t>dado </a:t>
            </a:r>
            <a:r>
              <a:rPr lang="pt-BR" altLang="pt-BR" u="none" dirty="0"/>
              <a:t>ou a </a:t>
            </a:r>
            <a:r>
              <a:rPr lang="pt-BR" altLang="pt-BR" b="1" u="none" dirty="0"/>
              <a:t>constante</a:t>
            </a:r>
            <a:r>
              <a:rPr lang="pt-BR" altLang="pt-BR" u="none" dirty="0"/>
              <a:t> diretamente carregada no código de instrução, ou seja, não é necessário acesso a memória de dados.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2820596" cy="1200329"/>
            <a:chOff x="679012" y="3203992"/>
            <a:chExt cx="2820596" cy="1200329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Passos: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3573324"/>
              <a:ext cx="280246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Para isso, usamos um ADD 1, representado pelo número </a:t>
              </a:r>
              <a:r>
                <a:rPr lang="pt-BR" altLang="pt-BR" sz="1600" b="1" u="none" dirty="0"/>
                <a:t>50</a:t>
              </a:r>
              <a:r>
                <a:rPr lang="pt-BR" altLang="pt-BR" sz="1600" u="none" dirty="0"/>
                <a:t>, que é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48</a:t>
              </a:r>
              <a:r>
                <a:rPr lang="pt-BR" altLang="pt-BR" sz="1600" u="none" dirty="0"/>
                <a:t> (ADD) </a:t>
              </a:r>
              <a:r>
                <a:rPr lang="pt-BR" altLang="pt-BR" sz="1600" b="1" u="none" dirty="0"/>
                <a:t>+</a:t>
              </a:r>
              <a:r>
                <a:rPr lang="pt-BR" altLang="pt-BR" sz="1600" u="none" dirty="0"/>
                <a:t>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2</a:t>
              </a:r>
              <a:r>
                <a:rPr lang="pt-BR" altLang="pt-BR" sz="1600" u="none" dirty="0"/>
                <a:t> (</a:t>
              </a:r>
              <a:r>
                <a:rPr lang="pt-BR" altLang="pt-BR" sz="1600" u="none" dirty="0" err="1"/>
                <a:t>Imd</a:t>
              </a:r>
              <a:r>
                <a:rPr lang="pt-BR" altLang="pt-BR" sz="1600" u="none" dirty="0"/>
                <a:t>).  </a:t>
              </a:r>
              <a:endParaRPr lang="pt-BR" sz="1600" dirty="0"/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Imediato (2: </a:t>
            </a:r>
            <a:r>
              <a:rPr lang="pt-BR" altLang="pt-BR" sz="2400" b="1" u="none" dirty="0" err="1"/>
              <a:t>Imd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0B9200E-EAD0-1814-4F0D-332B64B2560E}"/>
              </a:ext>
            </a:extLst>
          </p:cNvPr>
          <p:cNvSpPr txBox="1"/>
          <p:nvPr/>
        </p:nvSpPr>
        <p:spPr>
          <a:xfrm>
            <a:off x="697144" y="1991250"/>
            <a:ext cx="7375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b="1" u="none" dirty="0">
                <a:solidFill>
                  <a:srgbClr val="FF0000"/>
                </a:solidFill>
              </a:rPr>
              <a:t>10</a:t>
            </a:r>
            <a:r>
              <a:rPr lang="pt-BR" altLang="pt-BR" u="none" dirty="0"/>
              <a:t>   </a:t>
            </a:r>
            <a:r>
              <a:rPr lang="pt-BR" altLang="pt-BR" b="1" u="none" dirty="0"/>
              <a:t>Imediato</a:t>
            </a:r>
            <a:r>
              <a:rPr lang="pt-BR" altLang="pt-BR" u="none" dirty="0"/>
              <a:t>:  o argumento </a:t>
            </a:r>
            <a:r>
              <a:rPr lang="pt-BR" altLang="pt-BR" b="1" u="none" dirty="0"/>
              <a:t>é o próprio valor desejado.</a:t>
            </a:r>
            <a:r>
              <a:rPr lang="pt-BR" altLang="pt-BR" u="none" dirty="0"/>
              <a:t> </a:t>
            </a:r>
            <a:endParaRPr lang="pt-BR"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F8EECF58-9630-1493-2F2E-C29EB89627C7}"/>
              </a:ext>
            </a:extLst>
          </p:cNvPr>
          <p:cNvGrpSpPr/>
          <p:nvPr/>
        </p:nvGrpSpPr>
        <p:grpSpPr>
          <a:xfrm>
            <a:off x="4008422" y="5595633"/>
            <a:ext cx="1342724" cy="460612"/>
            <a:chOff x="4008422" y="5595633"/>
            <a:chExt cx="1342724" cy="460612"/>
          </a:xfrm>
        </p:grpSpPr>
        <p:sp>
          <p:nvSpPr>
            <p:cNvPr id="11" name="Seta: para a Direita 10">
              <a:extLst>
                <a:ext uri="{FF2B5EF4-FFF2-40B4-BE49-F238E27FC236}">
                  <a16:creationId xmlns:a16="http://schemas.microsoft.com/office/drawing/2014/main" id="{4CE8E40A-E529-8CE1-14BC-A1A6197CDCB8}"/>
                </a:ext>
              </a:extLst>
            </p:cNvPr>
            <p:cNvSpPr/>
            <p:nvPr/>
          </p:nvSpPr>
          <p:spPr>
            <a:xfrm>
              <a:off x="4008422" y="5595633"/>
              <a:ext cx="691629" cy="46061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B10D690A-360A-E99D-A2A3-A65966E5927C}"/>
                </a:ext>
              </a:extLst>
            </p:cNvPr>
            <p:cNvSpPr/>
            <p:nvPr/>
          </p:nvSpPr>
          <p:spPr>
            <a:xfrm>
              <a:off x="4794886" y="5734050"/>
              <a:ext cx="556260" cy="1695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 w="38100">
                  <a:solidFill>
                    <a:schemeClr val="tx1"/>
                  </a:solidFill>
                </a:ln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819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C86A80A-92F2-ED41-2F1F-13596DE3B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030" y="3259263"/>
            <a:ext cx="4304591" cy="343712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488281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u="none" dirty="0"/>
              <a:t>dado </a:t>
            </a:r>
            <a:r>
              <a:rPr lang="pt-BR" altLang="pt-BR" u="none" dirty="0"/>
              <a:t>ou a </a:t>
            </a:r>
            <a:r>
              <a:rPr lang="pt-BR" altLang="pt-BR" b="1" u="none" dirty="0"/>
              <a:t>constante</a:t>
            </a:r>
            <a:r>
              <a:rPr lang="pt-BR" altLang="pt-BR" u="none" dirty="0"/>
              <a:t> diretamente carregada no código de instrução, ou seja, não é necessário acesso a memória de dados.</a:t>
            </a:r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Imediato (2: </a:t>
            </a:r>
            <a:r>
              <a:rPr lang="pt-BR" altLang="pt-BR" sz="2400" b="1" u="none" dirty="0" err="1"/>
              <a:t>Imd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0B9200E-EAD0-1814-4F0D-332B64B2560E}"/>
              </a:ext>
            </a:extLst>
          </p:cNvPr>
          <p:cNvSpPr txBox="1"/>
          <p:nvPr/>
        </p:nvSpPr>
        <p:spPr>
          <a:xfrm>
            <a:off x="697144" y="1991250"/>
            <a:ext cx="7375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b="1" u="none" dirty="0">
                <a:solidFill>
                  <a:srgbClr val="FF0000"/>
                </a:solidFill>
              </a:rPr>
              <a:t>10</a:t>
            </a:r>
            <a:r>
              <a:rPr lang="pt-BR" altLang="pt-BR" u="none" dirty="0"/>
              <a:t>   </a:t>
            </a:r>
            <a:r>
              <a:rPr lang="pt-BR" altLang="pt-BR" b="1" u="none" dirty="0"/>
              <a:t>Imediato</a:t>
            </a:r>
            <a:r>
              <a:rPr lang="pt-BR" altLang="pt-BR" u="none" dirty="0"/>
              <a:t>:  o argumento </a:t>
            </a:r>
            <a:r>
              <a:rPr lang="pt-BR" altLang="pt-BR" b="1" u="none" dirty="0"/>
              <a:t>é o próprio valor desejado.</a:t>
            </a:r>
            <a:r>
              <a:rPr lang="pt-BR" altLang="pt-BR" u="none" dirty="0"/>
              <a:t> </a:t>
            </a:r>
            <a:endParaRPr lang="pt-BR"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F8EECF58-9630-1493-2F2E-C29EB89627C7}"/>
              </a:ext>
            </a:extLst>
          </p:cNvPr>
          <p:cNvGrpSpPr/>
          <p:nvPr/>
        </p:nvGrpSpPr>
        <p:grpSpPr>
          <a:xfrm>
            <a:off x="3454448" y="3535185"/>
            <a:ext cx="1716104" cy="460612"/>
            <a:chOff x="3631232" y="5595633"/>
            <a:chExt cx="1716104" cy="460612"/>
          </a:xfrm>
        </p:grpSpPr>
        <p:sp>
          <p:nvSpPr>
            <p:cNvPr id="11" name="Seta: para a Direita 10">
              <a:extLst>
                <a:ext uri="{FF2B5EF4-FFF2-40B4-BE49-F238E27FC236}">
                  <a16:creationId xmlns:a16="http://schemas.microsoft.com/office/drawing/2014/main" id="{4CE8E40A-E529-8CE1-14BC-A1A6197CDCB8}"/>
                </a:ext>
              </a:extLst>
            </p:cNvPr>
            <p:cNvSpPr/>
            <p:nvPr/>
          </p:nvSpPr>
          <p:spPr>
            <a:xfrm>
              <a:off x="3631232" y="5595633"/>
              <a:ext cx="691629" cy="46061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B10D690A-360A-E99D-A2A3-A65966E5927C}"/>
                </a:ext>
              </a:extLst>
            </p:cNvPr>
            <p:cNvSpPr/>
            <p:nvPr/>
          </p:nvSpPr>
          <p:spPr>
            <a:xfrm>
              <a:off x="4367784" y="5758053"/>
              <a:ext cx="979552" cy="1219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 w="38100">
                  <a:solidFill>
                    <a:schemeClr val="tx1"/>
                  </a:solidFill>
                </a:ln>
                <a:noFill/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E9EB534E-AD28-E375-8D99-55909FEF0C00}"/>
              </a:ext>
            </a:extLst>
          </p:cNvPr>
          <p:cNvGrpSpPr/>
          <p:nvPr/>
        </p:nvGrpSpPr>
        <p:grpSpPr>
          <a:xfrm>
            <a:off x="679012" y="3203992"/>
            <a:ext cx="2820596" cy="1200329"/>
            <a:chOff x="679012" y="3203992"/>
            <a:chExt cx="2820596" cy="1200329"/>
          </a:xfrm>
        </p:grpSpPr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82798E56-1827-1EAD-B28D-7A1EFC4E942D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Passos: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5A5239FB-94FA-8BF4-022B-C49BD61691FC}"/>
                </a:ext>
              </a:extLst>
            </p:cNvPr>
            <p:cNvSpPr txBox="1"/>
            <p:nvPr/>
          </p:nvSpPr>
          <p:spPr>
            <a:xfrm>
              <a:off x="697144" y="3573324"/>
              <a:ext cx="280246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Para isso, usamos um ADD 1, representado pelo número </a:t>
              </a:r>
              <a:r>
                <a:rPr lang="pt-BR" altLang="pt-BR" sz="1600" b="1" u="none" dirty="0"/>
                <a:t>50</a:t>
              </a:r>
              <a:r>
                <a:rPr lang="pt-BR" altLang="pt-BR" sz="1600" u="none" dirty="0"/>
                <a:t>, que é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48</a:t>
              </a:r>
              <a:r>
                <a:rPr lang="pt-BR" altLang="pt-BR" sz="1600" u="none" dirty="0"/>
                <a:t> (ADD) </a:t>
              </a:r>
              <a:r>
                <a:rPr lang="pt-BR" altLang="pt-BR" sz="1600" b="1" u="none" dirty="0"/>
                <a:t>+</a:t>
              </a:r>
              <a:r>
                <a:rPr lang="pt-BR" altLang="pt-BR" sz="1600" u="none" dirty="0"/>
                <a:t>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2</a:t>
              </a:r>
              <a:r>
                <a:rPr lang="pt-BR" altLang="pt-BR" sz="1600" u="none" dirty="0"/>
                <a:t> (</a:t>
              </a:r>
              <a:r>
                <a:rPr lang="pt-BR" altLang="pt-BR" sz="1600" u="none" dirty="0" err="1"/>
                <a:t>Imd</a:t>
              </a:r>
              <a:r>
                <a:rPr lang="pt-BR" altLang="pt-BR" sz="1600" u="none" dirty="0"/>
                <a:t>).  </a:t>
              </a:r>
              <a:endParaRPr lang="pt-BR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9911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>
            <a:extLst>
              <a:ext uri="{FF2B5EF4-FFF2-40B4-BE49-F238E27FC236}">
                <a16:creationId xmlns:a16="http://schemas.microsoft.com/office/drawing/2014/main" id="{832E5246-F6ED-0B9C-FF4E-D2F091D74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162" y="3259263"/>
            <a:ext cx="4336151" cy="343712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488281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u="none" dirty="0"/>
              <a:t>dado </a:t>
            </a:r>
            <a:r>
              <a:rPr lang="pt-BR" altLang="pt-BR" u="none" dirty="0"/>
              <a:t>ou a </a:t>
            </a:r>
            <a:r>
              <a:rPr lang="pt-BR" altLang="pt-BR" b="1" u="none" dirty="0"/>
              <a:t>constante</a:t>
            </a:r>
            <a:r>
              <a:rPr lang="pt-BR" altLang="pt-BR" u="none" dirty="0"/>
              <a:t> diretamente carregada no código de instrução, ou seja, não é necessário acesso a memória de dados.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2912548" cy="1817707"/>
            <a:chOff x="679012" y="3203992"/>
            <a:chExt cx="2912548" cy="181770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dirty="0">
                  <a:solidFill>
                    <a:srgbClr val="FF0000"/>
                  </a:solidFill>
                </a:rPr>
                <a:t>Passos</a:t>
              </a:r>
              <a:r>
                <a:rPr lang="pt-BR" altLang="pt-BR" b="1" u="none" dirty="0">
                  <a:solidFill>
                    <a:srgbClr val="FF0000"/>
                  </a:solidFill>
                </a:rPr>
                <a:t>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4436924"/>
              <a:ext cx="289441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2) Depois </a:t>
              </a:r>
              <a:r>
                <a:rPr lang="pt-BR" altLang="pt-BR" sz="1600" b="1" u="none" dirty="0"/>
                <a:t>incluímos no próximo endereço a variável 1.</a:t>
              </a:r>
              <a:endParaRPr lang="pt-BR" sz="1600" b="1" dirty="0"/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Imediato (2: </a:t>
            </a:r>
            <a:r>
              <a:rPr lang="pt-BR" altLang="pt-BR" sz="2400" b="1" u="none" dirty="0" err="1"/>
              <a:t>Imd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0B9200E-EAD0-1814-4F0D-332B64B2560E}"/>
              </a:ext>
            </a:extLst>
          </p:cNvPr>
          <p:cNvSpPr txBox="1"/>
          <p:nvPr/>
        </p:nvSpPr>
        <p:spPr>
          <a:xfrm>
            <a:off x="697144" y="1991250"/>
            <a:ext cx="7375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b="1" u="none" dirty="0">
                <a:solidFill>
                  <a:srgbClr val="FF0000"/>
                </a:solidFill>
              </a:rPr>
              <a:t>10</a:t>
            </a:r>
            <a:r>
              <a:rPr lang="pt-BR" altLang="pt-BR" u="none" dirty="0"/>
              <a:t>   </a:t>
            </a:r>
            <a:r>
              <a:rPr lang="pt-BR" altLang="pt-BR" b="1" u="none" dirty="0"/>
              <a:t>Imediato</a:t>
            </a:r>
            <a:r>
              <a:rPr lang="pt-BR" altLang="pt-BR" u="none" dirty="0"/>
              <a:t>:  o argumento </a:t>
            </a:r>
            <a:r>
              <a:rPr lang="pt-BR" altLang="pt-BR" b="1" u="none" dirty="0"/>
              <a:t>é o próprio valor desejado.</a:t>
            </a:r>
            <a:r>
              <a:rPr lang="pt-BR" altLang="pt-BR" u="none" dirty="0"/>
              <a:t> </a:t>
            </a:r>
            <a:endParaRPr lang="pt-BR"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F8EECF58-9630-1493-2F2E-C29EB89627C7}"/>
              </a:ext>
            </a:extLst>
          </p:cNvPr>
          <p:cNvGrpSpPr/>
          <p:nvPr/>
        </p:nvGrpSpPr>
        <p:grpSpPr>
          <a:xfrm>
            <a:off x="4104005" y="5604777"/>
            <a:ext cx="1203658" cy="460612"/>
            <a:chOff x="4143677" y="5595633"/>
            <a:chExt cx="1203658" cy="460612"/>
          </a:xfrm>
        </p:grpSpPr>
        <p:sp>
          <p:nvSpPr>
            <p:cNvPr id="11" name="Seta: para a Direita 10">
              <a:extLst>
                <a:ext uri="{FF2B5EF4-FFF2-40B4-BE49-F238E27FC236}">
                  <a16:creationId xmlns:a16="http://schemas.microsoft.com/office/drawing/2014/main" id="{4CE8E40A-E529-8CE1-14BC-A1A6197CDCB8}"/>
                </a:ext>
              </a:extLst>
            </p:cNvPr>
            <p:cNvSpPr/>
            <p:nvPr/>
          </p:nvSpPr>
          <p:spPr>
            <a:xfrm>
              <a:off x="4143677" y="5595633"/>
              <a:ext cx="691629" cy="46061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B10D690A-360A-E99D-A2A3-A65966E5927C}"/>
                </a:ext>
              </a:extLst>
            </p:cNvPr>
            <p:cNvSpPr/>
            <p:nvPr/>
          </p:nvSpPr>
          <p:spPr>
            <a:xfrm>
              <a:off x="4884546" y="5758053"/>
              <a:ext cx="462789" cy="1219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 w="38100">
                  <a:solidFill>
                    <a:schemeClr val="tx1"/>
                  </a:solidFill>
                </a:ln>
                <a:noFill/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E86999-82CF-E513-4CAF-6F60E991CC56}"/>
              </a:ext>
            </a:extLst>
          </p:cNvPr>
          <p:cNvSpPr txBox="1"/>
          <p:nvPr/>
        </p:nvSpPr>
        <p:spPr>
          <a:xfrm>
            <a:off x="697144" y="3573324"/>
            <a:ext cx="2802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1600" u="none" dirty="0"/>
              <a:t>1) Para isso, usamos um ADD 1, representado pelo número </a:t>
            </a:r>
            <a:r>
              <a:rPr lang="pt-BR" altLang="pt-BR" sz="1600" b="1" u="none" dirty="0"/>
              <a:t>50</a:t>
            </a:r>
            <a:r>
              <a:rPr lang="pt-BR" altLang="pt-BR" sz="1600" u="none" dirty="0"/>
              <a:t>, que é </a:t>
            </a:r>
            <a:r>
              <a:rPr lang="pt-BR" altLang="pt-BR" sz="1600" b="1" u="none" dirty="0">
                <a:solidFill>
                  <a:srgbClr val="00B0F0"/>
                </a:solidFill>
              </a:rPr>
              <a:t>48</a:t>
            </a:r>
            <a:r>
              <a:rPr lang="pt-BR" altLang="pt-BR" sz="1600" u="none" dirty="0"/>
              <a:t> (ADD) </a:t>
            </a:r>
            <a:r>
              <a:rPr lang="pt-BR" altLang="pt-BR" sz="1600" b="1" u="none" dirty="0"/>
              <a:t>+</a:t>
            </a:r>
            <a:r>
              <a:rPr lang="pt-BR" altLang="pt-BR" sz="1600" u="none" dirty="0"/>
              <a:t> </a:t>
            </a:r>
            <a:r>
              <a:rPr lang="pt-BR" altLang="pt-BR" sz="1600" b="1" u="none" dirty="0">
                <a:solidFill>
                  <a:srgbClr val="00B0F0"/>
                </a:solidFill>
              </a:rPr>
              <a:t>2</a:t>
            </a:r>
            <a:r>
              <a:rPr lang="pt-BR" altLang="pt-BR" sz="1600" u="none" dirty="0"/>
              <a:t> (</a:t>
            </a:r>
            <a:r>
              <a:rPr lang="pt-BR" altLang="pt-BR" sz="1600" u="none" dirty="0" err="1"/>
              <a:t>Imd</a:t>
            </a:r>
            <a:r>
              <a:rPr lang="pt-BR" altLang="pt-BR" sz="1600" u="none" dirty="0"/>
              <a:t>).  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77171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4B16B60C-19B7-6A2D-2C98-9E371E575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030" y="3259263"/>
            <a:ext cx="4321115" cy="343712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488281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u="none" dirty="0"/>
              <a:t>dado </a:t>
            </a:r>
            <a:r>
              <a:rPr lang="pt-BR" altLang="pt-BR" u="none" dirty="0"/>
              <a:t>ou a </a:t>
            </a:r>
            <a:r>
              <a:rPr lang="pt-BR" altLang="pt-BR" b="1" u="none" dirty="0"/>
              <a:t>constante</a:t>
            </a:r>
            <a:r>
              <a:rPr lang="pt-BR" altLang="pt-BR" u="none" dirty="0"/>
              <a:t> diretamente carregada no código de instrução, ou seja, não é necessário acesso a memória de dados.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2912548" cy="1817707"/>
            <a:chOff x="679012" y="3203992"/>
            <a:chExt cx="2912548" cy="181770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dirty="0">
                  <a:solidFill>
                    <a:srgbClr val="FF0000"/>
                  </a:solidFill>
                </a:rPr>
                <a:t>Passos</a:t>
              </a:r>
              <a:r>
                <a:rPr lang="pt-BR" altLang="pt-BR" b="1" u="none" dirty="0">
                  <a:solidFill>
                    <a:srgbClr val="FF0000"/>
                  </a:solidFill>
                </a:rPr>
                <a:t>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4436924"/>
              <a:ext cx="289441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2) Depois </a:t>
              </a:r>
              <a:r>
                <a:rPr lang="pt-BR" altLang="pt-BR" sz="1600" b="1" u="none" dirty="0"/>
                <a:t>incluímos no próximo endereço a variável 1.</a:t>
              </a:r>
              <a:endParaRPr lang="pt-BR" sz="1600" b="1" dirty="0"/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Imediato (2: </a:t>
            </a:r>
            <a:r>
              <a:rPr lang="pt-BR" altLang="pt-BR" sz="2400" b="1" u="none" dirty="0" err="1"/>
              <a:t>Imd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0B9200E-EAD0-1814-4F0D-332B64B2560E}"/>
              </a:ext>
            </a:extLst>
          </p:cNvPr>
          <p:cNvSpPr txBox="1"/>
          <p:nvPr/>
        </p:nvSpPr>
        <p:spPr>
          <a:xfrm>
            <a:off x="697144" y="1991250"/>
            <a:ext cx="7375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b="1" u="none" dirty="0">
                <a:solidFill>
                  <a:srgbClr val="FF0000"/>
                </a:solidFill>
              </a:rPr>
              <a:t>10</a:t>
            </a:r>
            <a:r>
              <a:rPr lang="pt-BR" altLang="pt-BR" u="none" dirty="0"/>
              <a:t>   </a:t>
            </a:r>
            <a:r>
              <a:rPr lang="pt-BR" altLang="pt-BR" b="1" u="none" dirty="0"/>
              <a:t>Imediato</a:t>
            </a:r>
            <a:r>
              <a:rPr lang="pt-BR" altLang="pt-BR" u="none" dirty="0"/>
              <a:t>:  o argumento </a:t>
            </a:r>
            <a:r>
              <a:rPr lang="pt-BR" altLang="pt-BR" b="1" u="none" dirty="0"/>
              <a:t>é o próprio valor desejado.</a:t>
            </a:r>
            <a:r>
              <a:rPr lang="pt-BR" altLang="pt-BR" u="none" dirty="0"/>
              <a:t> </a:t>
            </a:r>
            <a:endParaRPr lang="pt-BR"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F8EECF58-9630-1493-2F2E-C29EB89627C7}"/>
              </a:ext>
            </a:extLst>
          </p:cNvPr>
          <p:cNvGrpSpPr/>
          <p:nvPr/>
        </p:nvGrpSpPr>
        <p:grpSpPr>
          <a:xfrm>
            <a:off x="3454448" y="3669297"/>
            <a:ext cx="1716104" cy="460612"/>
            <a:chOff x="3631232" y="5595633"/>
            <a:chExt cx="1716104" cy="460612"/>
          </a:xfrm>
        </p:grpSpPr>
        <p:sp>
          <p:nvSpPr>
            <p:cNvPr id="11" name="Seta: para a Direita 10">
              <a:extLst>
                <a:ext uri="{FF2B5EF4-FFF2-40B4-BE49-F238E27FC236}">
                  <a16:creationId xmlns:a16="http://schemas.microsoft.com/office/drawing/2014/main" id="{4CE8E40A-E529-8CE1-14BC-A1A6197CDCB8}"/>
                </a:ext>
              </a:extLst>
            </p:cNvPr>
            <p:cNvSpPr/>
            <p:nvPr/>
          </p:nvSpPr>
          <p:spPr>
            <a:xfrm>
              <a:off x="3631232" y="5595633"/>
              <a:ext cx="691629" cy="46061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B10D690A-360A-E99D-A2A3-A65966E5927C}"/>
                </a:ext>
              </a:extLst>
            </p:cNvPr>
            <p:cNvSpPr/>
            <p:nvPr/>
          </p:nvSpPr>
          <p:spPr>
            <a:xfrm>
              <a:off x="4367784" y="5758053"/>
              <a:ext cx="979552" cy="1219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 w="38100">
                  <a:solidFill>
                    <a:schemeClr val="tx1"/>
                  </a:solidFill>
                </a:ln>
                <a:noFill/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E86999-82CF-E513-4CAF-6F60E991CC56}"/>
              </a:ext>
            </a:extLst>
          </p:cNvPr>
          <p:cNvSpPr txBox="1"/>
          <p:nvPr/>
        </p:nvSpPr>
        <p:spPr>
          <a:xfrm>
            <a:off x="697144" y="3573324"/>
            <a:ext cx="2802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1600" u="none" dirty="0"/>
              <a:t>1) Para isso, usamos um ADD 1, representado pelo número </a:t>
            </a:r>
            <a:r>
              <a:rPr lang="pt-BR" altLang="pt-BR" sz="1600" b="1" u="none" dirty="0"/>
              <a:t>50</a:t>
            </a:r>
            <a:r>
              <a:rPr lang="pt-BR" altLang="pt-BR" sz="1600" u="none" dirty="0"/>
              <a:t>, que é </a:t>
            </a:r>
            <a:r>
              <a:rPr lang="pt-BR" altLang="pt-BR" sz="1600" b="1" u="none" dirty="0">
                <a:solidFill>
                  <a:srgbClr val="00B0F0"/>
                </a:solidFill>
              </a:rPr>
              <a:t>48</a:t>
            </a:r>
            <a:r>
              <a:rPr lang="pt-BR" altLang="pt-BR" sz="1600" u="none" dirty="0"/>
              <a:t> (ADD) </a:t>
            </a:r>
            <a:r>
              <a:rPr lang="pt-BR" altLang="pt-BR" sz="1600" b="1" u="none" dirty="0"/>
              <a:t>+</a:t>
            </a:r>
            <a:r>
              <a:rPr lang="pt-BR" altLang="pt-BR" sz="1600" u="none" dirty="0"/>
              <a:t> </a:t>
            </a:r>
            <a:r>
              <a:rPr lang="pt-BR" altLang="pt-BR" sz="1600" b="1" u="none" dirty="0">
                <a:solidFill>
                  <a:srgbClr val="00B0F0"/>
                </a:solidFill>
              </a:rPr>
              <a:t>2</a:t>
            </a:r>
            <a:r>
              <a:rPr lang="pt-BR" altLang="pt-BR" sz="1600" u="none" dirty="0"/>
              <a:t> (</a:t>
            </a:r>
            <a:r>
              <a:rPr lang="pt-BR" altLang="pt-BR" sz="1600" u="none" dirty="0" err="1"/>
              <a:t>Imd</a:t>
            </a:r>
            <a:r>
              <a:rPr lang="pt-BR" altLang="pt-BR" sz="1600" u="none" dirty="0"/>
              <a:t>).  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291002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5" descr="Figura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100138"/>
            <a:ext cx="6624637" cy="463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1210491" y="3232428"/>
            <a:ext cx="768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Direto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4421363" y="3200162"/>
            <a:ext cx="926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Indireto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210491" y="5300186"/>
            <a:ext cx="1021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Imediato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245706" y="5300186"/>
            <a:ext cx="1047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Indexado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0914C3B-E00A-0957-427F-C2E4FF175231}"/>
              </a:ext>
            </a:extLst>
          </p:cNvPr>
          <p:cNvSpPr/>
          <p:nvPr/>
        </p:nvSpPr>
        <p:spPr>
          <a:xfrm>
            <a:off x="1116013" y="1100138"/>
            <a:ext cx="3177159" cy="2606623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60EBF04-A901-E809-D46A-EA567F3E3B67}"/>
              </a:ext>
            </a:extLst>
          </p:cNvPr>
          <p:cNvSpPr/>
          <p:nvPr/>
        </p:nvSpPr>
        <p:spPr>
          <a:xfrm>
            <a:off x="4327489" y="1112740"/>
            <a:ext cx="3413161" cy="2606623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98BCEA6-488D-D93C-C510-7CB8829A5BAB}"/>
              </a:ext>
            </a:extLst>
          </p:cNvPr>
          <p:cNvSpPr/>
          <p:nvPr/>
        </p:nvSpPr>
        <p:spPr>
          <a:xfrm>
            <a:off x="1140295" y="3699699"/>
            <a:ext cx="1907706" cy="2034351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exto Explicativo: Seta para a Direita 7">
            <a:extLst>
              <a:ext uri="{FF2B5EF4-FFF2-40B4-BE49-F238E27FC236}">
                <a16:creationId xmlns:a16="http://schemas.microsoft.com/office/drawing/2014/main" id="{F2C1EFF4-E63E-81EF-B1A2-C9B51A6BC3AF}"/>
              </a:ext>
            </a:extLst>
          </p:cNvPr>
          <p:cNvSpPr/>
          <p:nvPr/>
        </p:nvSpPr>
        <p:spPr>
          <a:xfrm>
            <a:off x="1502717" y="3827363"/>
            <a:ext cx="1854724" cy="1710660"/>
          </a:xfrm>
          <a:prstGeom prst="rightArrowCallout">
            <a:avLst>
              <a:gd name="adj1" fmla="val 18102"/>
              <a:gd name="adj2" fmla="val 18102"/>
              <a:gd name="adj3" fmla="val 16878"/>
              <a:gd name="adj4" fmla="val 7634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pt-BR" sz="1200" b="1" dirty="0">
                <a:solidFill>
                  <a:schemeClr val="tx1"/>
                </a:solidFill>
              </a:rPr>
              <a:t>O valor do argumento é </a:t>
            </a:r>
            <a:r>
              <a:rPr lang="pt-BR" altLang="pt-BR" sz="1200" b="1" dirty="0">
                <a:solidFill>
                  <a:srgbClr val="FF0000"/>
                </a:solidFill>
              </a:rPr>
              <a:t>somado</a:t>
            </a:r>
            <a:r>
              <a:rPr lang="pt-BR" altLang="pt-BR" sz="1200" b="1" dirty="0">
                <a:solidFill>
                  <a:schemeClr val="tx1"/>
                </a:solidFill>
              </a:rPr>
              <a:t> ao </a:t>
            </a:r>
            <a:r>
              <a:rPr lang="pt-BR" altLang="pt-BR" sz="1200" b="1" dirty="0">
                <a:solidFill>
                  <a:srgbClr val="FF0000"/>
                </a:solidFill>
              </a:rPr>
              <a:t>valor</a:t>
            </a:r>
            <a:r>
              <a:rPr lang="pt-BR" altLang="pt-BR" sz="1200" b="1" dirty="0">
                <a:solidFill>
                  <a:schemeClr val="tx1"/>
                </a:solidFill>
              </a:rPr>
              <a:t> do </a:t>
            </a:r>
            <a:r>
              <a:rPr lang="pt-BR" altLang="pt-BR" sz="1200" b="1" dirty="0">
                <a:solidFill>
                  <a:srgbClr val="FF0000"/>
                </a:solidFill>
              </a:rPr>
              <a:t>registrador X</a:t>
            </a:r>
            <a:r>
              <a:rPr lang="pt-BR" altLang="pt-BR" sz="1200" b="1" dirty="0">
                <a:solidFill>
                  <a:schemeClr val="tx1"/>
                </a:solidFill>
              </a:rPr>
              <a:t> e o </a:t>
            </a:r>
            <a:r>
              <a:rPr lang="pt-BR" altLang="pt-BR" sz="1200" b="1" dirty="0">
                <a:solidFill>
                  <a:srgbClr val="FF0000"/>
                </a:solidFill>
              </a:rPr>
              <a:t>resultado</a:t>
            </a:r>
            <a:r>
              <a:rPr lang="pt-BR" altLang="pt-BR" sz="1200" b="1" dirty="0">
                <a:solidFill>
                  <a:schemeClr val="tx1"/>
                </a:solidFill>
              </a:rPr>
              <a:t> aponta para o </a:t>
            </a:r>
            <a:r>
              <a:rPr lang="pt-BR" altLang="pt-BR" sz="1200" b="1" dirty="0">
                <a:solidFill>
                  <a:srgbClr val="FF0000"/>
                </a:solidFill>
              </a:rPr>
              <a:t>endereço </a:t>
            </a:r>
            <a:r>
              <a:rPr lang="pt-BR" altLang="pt-BR" sz="1200" b="1" dirty="0">
                <a:solidFill>
                  <a:schemeClr val="tx1"/>
                </a:solidFill>
              </a:rPr>
              <a:t>onde está o valor desejado.</a:t>
            </a:r>
            <a:endParaRPr lang="pt-BR" sz="1200" b="1" dirty="0">
              <a:solidFill>
                <a:schemeClr val="tx1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194C814-E503-6E61-B903-C280CF35ABCA}"/>
              </a:ext>
            </a:extLst>
          </p:cNvPr>
          <p:cNvSpPr/>
          <p:nvPr/>
        </p:nvSpPr>
        <p:spPr>
          <a:xfrm>
            <a:off x="5178405" y="4558665"/>
            <a:ext cx="245130" cy="24003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925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94FD1CF7-A025-CC4F-99AA-CFF5B877E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162" y="3259263"/>
            <a:ext cx="4286459" cy="342264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165400" cy="954107"/>
            <a:chOff x="679012" y="3203992"/>
            <a:chExt cx="3165400" cy="95410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3" y="3573324"/>
              <a:ext cx="314726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128.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16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FC12337-62D1-253A-8CF5-FD8470E85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294" y="3259262"/>
            <a:ext cx="4286459" cy="342268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1" y="3203992"/>
            <a:ext cx="3086743" cy="954107"/>
            <a:chOff x="679012" y="3203992"/>
            <a:chExt cx="2820596" cy="95410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3573324"/>
              <a:ext cx="280246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128.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77E95374-59ED-5809-F25D-0EB8EACF2772}"/>
              </a:ext>
            </a:extLst>
          </p:cNvPr>
          <p:cNvSpPr/>
          <p:nvPr/>
        </p:nvSpPr>
        <p:spPr>
          <a:xfrm>
            <a:off x="6137910" y="3406125"/>
            <a:ext cx="422910" cy="28194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763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FC12337-62D1-253A-8CF5-FD8470E85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294" y="3259262"/>
            <a:ext cx="4286459" cy="342268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076911" cy="954107"/>
            <a:chOff x="679012" y="3203992"/>
            <a:chExt cx="3076911" cy="95410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3" y="3573324"/>
              <a:ext cx="305878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128.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77E95374-59ED-5809-F25D-0EB8EACF2772}"/>
              </a:ext>
            </a:extLst>
          </p:cNvPr>
          <p:cNvSpPr/>
          <p:nvPr/>
        </p:nvSpPr>
        <p:spPr>
          <a:xfrm>
            <a:off x="6290310" y="4229085"/>
            <a:ext cx="422910" cy="28194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14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E00C8DD-A4F0-1F13-5399-01B5BAC4D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162" y="3286606"/>
            <a:ext cx="4286459" cy="344875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096575" cy="954107"/>
            <a:chOff x="679012" y="3203992"/>
            <a:chExt cx="3096575" cy="95410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3" y="3573324"/>
              <a:ext cx="307844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128.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01DFD31-6848-20AB-0308-C54D5E7C2B2A}"/>
              </a:ext>
            </a:extLst>
          </p:cNvPr>
          <p:cNvSpPr/>
          <p:nvPr/>
        </p:nvSpPr>
        <p:spPr>
          <a:xfrm>
            <a:off x="4316469" y="4579850"/>
            <a:ext cx="422910" cy="28194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BE859DC-845D-5884-1C58-1510362E3830}"/>
              </a:ext>
            </a:extLst>
          </p:cNvPr>
          <p:cNvSpPr/>
          <p:nvPr/>
        </p:nvSpPr>
        <p:spPr>
          <a:xfrm>
            <a:off x="4793156" y="4659860"/>
            <a:ext cx="1660983" cy="1219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23565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A074A04-12F4-E00A-43F4-8444ED731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294" y="3326403"/>
            <a:ext cx="4286458" cy="34291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096575" cy="954107"/>
            <a:chOff x="679012" y="3203992"/>
            <a:chExt cx="3096575" cy="95410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3" y="3573324"/>
              <a:ext cx="307844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128.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01DFD31-6848-20AB-0308-C54D5E7C2B2A}"/>
              </a:ext>
            </a:extLst>
          </p:cNvPr>
          <p:cNvSpPr/>
          <p:nvPr/>
        </p:nvSpPr>
        <p:spPr>
          <a:xfrm>
            <a:off x="6184859" y="3816551"/>
            <a:ext cx="422910" cy="28194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661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6EB8CD0-40CA-98C7-0773-487EEABC8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162" y="3267409"/>
            <a:ext cx="4321829" cy="342898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076911" cy="1692771"/>
            <a:chOff x="679012" y="3203992"/>
            <a:chExt cx="3076911" cy="1692771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3" y="3573324"/>
              <a:ext cx="3058780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128.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2) O endereço de memória 130 com a constante 100.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01C49D5D-D57F-7546-2731-9FC7F7B84503}"/>
              </a:ext>
            </a:extLst>
          </p:cNvPr>
          <p:cNvSpPr/>
          <p:nvPr/>
        </p:nvSpPr>
        <p:spPr>
          <a:xfrm rot="10800000">
            <a:off x="8333518" y="5698691"/>
            <a:ext cx="422910" cy="28194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E3CA8F-1EF7-671A-2152-C50114AF5CB5}"/>
              </a:ext>
            </a:extLst>
          </p:cNvPr>
          <p:cNvSpPr/>
          <p:nvPr/>
        </p:nvSpPr>
        <p:spPr>
          <a:xfrm>
            <a:off x="8094345" y="5778701"/>
            <a:ext cx="217780" cy="1219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93147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987F4311-F643-B3E7-3EE8-BA6813CD5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294" y="3287639"/>
            <a:ext cx="4272224" cy="341237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126072" cy="1692771"/>
            <a:chOff x="679012" y="3203992"/>
            <a:chExt cx="3126072" cy="1692771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3573324"/>
              <a:ext cx="3107940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128.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2) O endereço de memória 130 com a constante 100.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01C49D5D-D57F-7546-2731-9FC7F7B84503}"/>
              </a:ext>
            </a:extLst>
          </p:cNvPr>
          <p:cNvSpPr/>
          <p:nvPr/>
        </p:nvSpPr>
        <p:spPr>
          <a:xfrm rot="10800000">
            <a:off x="8254778" y="3910531"/>
            <a:ext cx="422910" cy="28194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E3CA8F-1EF7-671A-2152-C50114AF5CB5}"/>
              </a:ext>
            </a:extLst>
          </p:cNvPr>
          <p:cNvSpPr/>
          <p:nvPr/>
        </p:nvSpPr>
        <p:spPr>
          <a:xfrm>
            <a:off x="7761604" y="3990541"/>
            <a:ext cx="450215" cy="1219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08109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98BE572-2B00-4954-AE70-D71FE0C02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3283068"/>
            <a:ext cx="4211098" cy="336031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117776" cy="2677656"/>
            <a:chOff x="679012" y="3203992"/>
            <a:chExt cx="3117776" cy="2677656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3573324"/>
              <a:ext cx="3099644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128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2) O endereço de memória 130 com a constante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100</a:t>
              </a:r>
              <a:r>
                <a:rPr lang="pt-BR" altLang="pt-BR" sz="1600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u="none" dirty="0"/>
                <a:t>3) Agora vamos fazer um LDR (32) indexado! Onde temos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32</a:t>
              </a:r>
              <a:r>
                <a:rPr lang="pt-BR" altLang="pt-BR" sz="1600" u="none" dirty="0"/>
                <a:t> (LDR) +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</a:t>
              </a:r>
              <a:r>
                <a:rPr lang="pt-BR" altLang="pt-BR" sz="1600" u="none" dirty="0"/>
                <a:t> (</a:t>
              </a:r>
              <a:r>
                <a:rPr lang="pt-BR" altLang="pt-BR" sz="1600" u="none" dirty="0" err="1"/>
                <a:t>Idx</a:t>
              </a:r>
              <a:r>
                <a:rPr lang="pt-BR" altLang="pt-BR" sz="1600" u="none" dirty="0"/>
                <a:t>) =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35</a:t>
              </a:r>
              <a:r>
                <a:rPr lang="pt-BR" altLang="pt-BR" sz="1600" u="none" dirty="0"/>
                <a:t>.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01C49D5D-D57F-7546-2731-9FC7F7B84503}"/>
              </a:ext>
            </a:extLst>
          </p:cNvPr>
          <p:cNvSpPr/>
          <p:nvPr/>
        </p:nvSpPr>
        <p:spPr>
          <a:xfrm>
            <a:off x="4379312" y="5658686"/>
            <a:ext cx="422910" cy="28194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E3CA8F-1EF7-671A-2152-C50114AF5CB5}"/>
              </a:ext>
            </a:extLst>
          </p:cNvPr>
          <p:cNvSpPr/>
          <p:nvPr/>
        </p:nvSpPr>
        <p:spPr>
          <a:xfrm>
            <a:off x="4851313" y="5738696"/>
            <a:ext cx="513167" cy="1219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84347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CB817EF-7DB9-C12C-55FE-5D2015DAE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132" y="3283068"/>
            <a:ext cx="4211098" cy="336459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145736" cy="2677656"/>
            <a:chOff x="679012" y="3203992"/>
            <a:chExt cx="3145736" cy="2677656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3573324"/>
              <a:ext cx="3127604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128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2) O endereço de memória 130 com a constante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100</a:t>
              </a:r>
              <a:r>
                <a:rPr lang="pt-BR" altLang="pt-BR" sz="1600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u="none" dirty="0"/>
                <a:t>3) Agora vamos fazer um LDR (32) indexado! Onde temos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32</a:t>
              </a:r>
              <a:r>
                <a:rPr lang="pt-BR" altLang="pt-BR" sz="1600" u="none" dirty="0"/>
                <a:t> (LDR) + 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</a:t>
              </a:r>
              <a:r>
                <a:rPr lang="pt-BR" altLang="pt-BR" sz="1600" u="none" dirty="0"/>
                <a:t> (</a:t>
              </a:r>
              <a:r>
                <a:rPr lang="pt-BR" altLang="pt-BR" sz="1600" u="none" dirty="0" err="1"/>
                <a:t>Idx</a:t>
              </a:r>
              <a:r>
                <a:rPr lang="pt-BR" altLang="pt-BR" sz="1600" u="none" dirty="0"/>
                <a:t>) =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35</a:t>
              </a:r>
              <a:r>
                <a:rPr lang="pt-BR" altLang="pt-BR" sz="1600" u="none" dirty="0"/>
                <a:t>.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01C49D5D-D57F-7546-2731-9FC7F7B84503}"/>
              </a:ext>
            </a:extLst>
          </p:cNvPr>
          <p:cNvSpPr/>
          <p:nvPr/>
        </p:nvSpPr>
        <p:spPr>
          <a:xfrm>
            <a:off x="4166674" y="3634020"/>
            <a:ext cx="422910" cy="28194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E3CA8F-1EF7-671A-2152-C50114AF5CB5}"/>
              </a:ext>
            </a:extLst>
          </p:cNvPr>
          <p:cNvSpPr/>
          <p:nvPr/>
        </p:nvSpPr>
        <p:spPr>
          <a:xfrm>
            <a:off x="4646295" y="3714030"/>
            <a:ext cx="565785" cy="1219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68949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060C05C-44C6-5D71-24D6-835255B8D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328" y="3346067"/>
            <a:ext cx="4211098" cy="332315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116240" cy="3170099"/>
            <a:chOff x="679012" y="3203992"/>
            <a:chExt cx="3116240" cy="3170099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3573324"/>
              <a:ext cx="3098108" cy="28007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128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2) O endereço de memória 130 com a constante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100</a:t>
              </a:r>
              <a:r>
                <a:rPr lang="pt-BR" altLang="pt-BR" sz="1600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u="none" dirty="0"/>
                <a:t>3) Agora vamos fazer um LDR (32) indexado! Onde temos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32</a:t>
              </a:r>
              <a:r>
                <a:rPr lang="pt-BR" altLang="pt-BR" sz="1600" u="none" dirty="0"/>
                <a:t> (LDR) +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</a:t>
              </a:r>
              <a:r>
                <a:rPr lang="pt-BR" altLang="pt-BR" sz="1600" u="none" dirty="0"/>
                <a:t> (</a:t>
              </a:r>
              <a:r>
                <a:rPr lang="pt-BR" altLang="pt-BR" sz="1600" u="none" dirty="0" err="1"/>
                <a:t>Idx</a:t>
              </a:r>
              <a:r>
                <a:rPr lang="pt-BR" altLang="pt-BR" sz="1600" u="none" dirty="0"/>
                <a:t>) =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35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4) Depois digitar o valor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</a:t>
              </a:r>
              <a:r>
                <a:rPr lang="pt-BR" altLang="pt-BR" sz="1600" dirty="0"/>
                <a:t>,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01C49D5D-D57F-7546-2731-9FC7F7B84503}"/>
              </a:ext>
            </a:extLst>
          </p:cNvPr>
          <p:cNvSpPr/>
          <p:nvPr/>
        </p:nvSpPr>
        <p:spPr>
          <a:xfrm>
            <a:off x="4418134" y="5683800"/>
            <a:ext cx="380192" cy="28194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E3CA8F-1EF7-671A-2152-C50114AF5CB5}"/>
              </a:ext>
            </a:extLst>
          </p:cNvPr>
          <p:cNvSpPr/>
          <p:nvPr/>
        </p:nvSpPr>
        <p:spPr>
          <a:xfrm>
            <a:off x="4897755" y="5763810"/>
            <a:ext cx="508635" cy="1219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00112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4A5CFC6-2702-F532-28FB-D46BDFFA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328" y="3346067"/>
            <a:ext cx="4211098" cy="334864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116240" cy="3170099"/>
            <a:chOff x="679012" y="3203992"/>
            <a:chExt cx="3116240" cy="3170099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3573324"/>
              <a:ext cx="3098108" cy="28007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128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2) O endereço de memória 130 com a constante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100</a:t>
              </a:r>
              <a:r>
                <a:rPr lang="pt-BR" altLang="pt-BR" sz="1600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u="none" dirty="0"/>
                <a:t>3) Agora vamos fazer um LDR (32) indexado! Onde temos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32</a:t>
              </a:r>
              <a:r>
                <a:rPr lang="pt-BR" altLang="pt-BR" sz="1600" u="none" dirty="0"/>
                <a:t> (LDR) +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</a:t>
              </a:r>
              <a:r>
                <a:rPr lang="pt-BR" altLang="pt-BR" sz="1600" u="none" dirty="0"/>
                <a:t> (</a:t>
              </a:r>
              <a:r>
                <a:rPr lang="pt-BR" altLang="pt-BR" sz="1600" u="none" dirty="0" err="1"/>
                <a:t>Idx</a:t>
              </a:r>
              <a:r>
                <a:rPr lang="pt-BR" altLang="pt-BR" sz="1600" u="none" dirty="0"/>
                <a:t>) =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35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4) Depois digitar o valor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</a:t>
              </a:r>
              <a:r>
                <a:rPr lang="pt-BR" altLang="pt-BR" sz="1600" dirty="0"/>
                <a:t>,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01C49D5D-D57F-7546-2731-9FC7F7B84503}"/>
              </a:ext>
            </a:extLst>
          </p:cNvPr>
          <p:cNvSpPr/>
          <p:nvPr/>
        </p:nvSpPr>
        <p:spPr>
          <a:xfrm>
            <a:off x="4047543" y="3823124"/>
            <a:ext cx="360257" cy="28194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E3CA8F-1EF7-671A-2152-C50114AF5CB5}"/>
              </a:ext>
            </a:extLst>
          </p:cNvPr>
          <p:cNvSpPr/>
          <p:nvPr/>
        </p:nvSpPr>
        <p:spPr>
          <a:xfrm>
            <a:off x="4493585" y="3910754"/>
            <a:ext cx="192716" cy="1219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107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E776A06-640C-8567-0F0E-25FD0AF90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328" y="3346067"/>
            <a:ext cx="4211098" cy="336566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116240" cy="3662541"/>
            <a:chOff x="679012" y="3203992"/>
            <a:chExt cx="3116240" cy="3662541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3573324"/>
              <a:ext cx="3098108" cy="32932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128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2) O endereço de memória 130 com a constante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100</a:t>
              </a:r>
              <a:r>
                <a:rPr lang="pt-BR" altLang="pt-BR" sz="1600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u="none" dirty="0"/>
                <a:t>3) Agora vamos fazer um LDR (32) indexado! Onde temos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32</a:t>
              </a:r>
              <a:r>
                <a:rPr lang="pt-BR" altLang="pt-BR" sz="1600" u="none" dirty="0"/>
                <a:t> (LDR) +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</a:t>
              </a:r>
              <a:r>
                <a:rPr lang="pt-BR" altLang="pt-BR" sz="1600" u="none" dirty="0"/>
                <a:t> (</a:t>
              </a:r>
              <a:r>
                <a:rPr lang="pt-BR" altLang="pt-BR" sz="1600" u="none" dirty="0" err="1"/>
                <a:t>Idx</a:t>
              </a:r>
              <a:r>
                <a:rPr lang="pt-BR" altLang="pt-BR" sz="1600" u="none" dirty="0"/>
                <a:t>) =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35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4) Depois digitar o valor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</a:t>
              </a:r>
              <a:r>
                <a:rPr lang="pt-BR" altLang="pt-BR" sz="1600" dirty="0"/>
                <a:t>, e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5) HLT (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240</a:t>
              </a:r>
              <a:r>
                <a:rPr lang="pt-BR" altLang="pt-BR" sz="1600" dirty="0"/>
                <a:t>).</a:t>
              </a:r>
              <a:endParaRPr lang="pt-BR" altLang="pt-BR" sz="1600" u="none" dirty="0"/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01C49D5D-D57F-7546-2731-9FC7F7B84503}"/>
              </a:ext>
            </a:extLst>
          </p:cNvPr>
          <p:cNvSpPr/>
          <p:nvPr/>
        </p:nvSpPr>
        <p:spPr>
          <a:xfrm>
            <a:off x="4468934" y="5734600"/>
            <a:ext cx="380192" cy="28194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E3CA8F-1EF7-671A-2152-C50114AF5CB5}"/>
              </a:ext>
            </a:extLst>
          </p:cNvPr>
          <p:cNvSpPr/>
          <p:nvPr/>
        </p:nvSpPr>
        <p:spPr>
          <a:xfrm>
            <a:off x="4930775" y="5812070"/>
            <a:ext cx="508635" cy="1219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31995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9B61D02-7E81-FD22-B8A2-F8F4FFCBC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328" y="3346067"/>
            <a:ext cx="4224529" cy="336566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116240" cy="3662541"/>
            <a:chOff x="679012" y="3203992"/>
            <a:chExt cx="3116240" cy="3662541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3573324"/>
              <a:ext cx="3098108" cy="32932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128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2) O endereço de memória 130 com a constante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100</a:t>
              </a:r>
              <a:r>
                <a:rPr lang="pt-BR" altLang="pt-BR" sz="1600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u="none" dirty="0"/>
                <a:t>3) Agora vamos fazer um LDR (32) indexado! Onde temos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32</a:t>
              </a:r>
              <a:r>
                <a:rPr lang="pt-BR" altLang="pt-BR" sz="1600" u="none" dirty="0"/>
                <a:t> (LDR) +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</a:t>
              </a:r>
              <a:r>
                <a:rPr lang="pt-BR" altLang="pt-BR" sz="1600" u="none" dirty="0"/>
                <a:t> (</a:t>
              </a:r>
              <a:r>
                <a:rPr lang="pt-BR" altLang="pt-BR" sz="1600" u="none" dirty="0" err="1"/>
                <a:t>Idx</a:t>
              </a:r>
              <a:r>
                <a:rPr lang="pt-BR" altLang="pt-BR" sz="1600" u="none" dirty="0"/>
                <a:t>) =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35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4) Depois digitar o valor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</a:t>
              </a:r>
              <a:r>
                <a:rPr lang="pt-BR" altLang="pt-BR" sz="1600" dirty="0"/>
                <a:t>, e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5) HLT (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240</a:t>
              </a:r>
              <a:r>
                <a:rPr lang="pt-BR" altLang="pt-BR" sz="1600" dirty="0"/>
                <a:t>).</a:t>
              </a:r>
              <a:endParaRPr lang="pt-BR" altLang="pt-BR" sz="1600" u="none" dirty="0"/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01C49D5D-D57F-7546-2731-9FC7F7B84503}"/>
              </a:ext>
            </a:extLst>
          </p:cNvPr>
          <p:cNvSpPr/>
          <p:nvPr/>
        </p:nvSpPr>
        <p:spPr>
          <a:xfrm>
            <a:off x="4216839" y="3961680"/>
            <a:ext cx="380192" cy="28194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E3CA8F-1EF7-671A-2152-C50114AF5CB5}"/>
              </a:ext>
            </a:extLst>
          </p:cNvPr>
          <p:cNvSpPr/>
          <p:nvPr/>
        </p:nvSpPr>
        <p:spPr>
          <a:xfrm>
            <a:off x="4678680" y="4039150"/>
            <a:ext cx="508635" cy="1219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3130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05CA247-E48B-3356-1014-21BFBE386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327" y="3388657"/>
            <a:ext cx="4224529" cy="338926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116240" cy="3662541"/>
            <a:chOff x="679012" y="3203992"/>
            <a:chExt cx="3116240" cy="3662541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3573324"/>
              <a:ext cx="3098108" cy="32932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128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2) O endereço de memória 130 com a constante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100</a:t>
              </a:r>
              <a:r>
                <a:rPr lang="pt-BR" altLang="pt-BR" sz="1600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u="none" dirty="0"/>
                <a:t>3) Agora vamos fazer um LDR (32) indexado! Onde temos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32</a:t>
              </a:r>
              <a:r>
                <a:rPr lang="pt-BR" altLang="pt-BR" sz="1600" u="none" dirty="0"/>
                <a:t> (LDR) +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</a:t>
              </a:r>
              <a:r>
                <a:rPr lang="pt-BR" altLang="pt-BR" sz="1600" u="none" dirty="0"/>
                <a:t> (</a:t>
              </a:r>
              <a:r>
                <a:rPr lang="pt-BR" altLang="pt-BR" sz="1600" u="none" dirty="0" err="1"/>
                <a:t>Idx</a:t>
              </a:r>
              <a:r>
                <a:rPr lang="pt-BR" altLang="pt-BR" sz="1600" u="none" dirty="0"/>
                <a:t>) =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35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4) Depois digitar o valor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</a:t>
              </a:r>
              <a:r>
                <a:rPr lang="pt-BR" altLang="pt-BR" sz="1600" dirty="0"/>
                <a:t>, e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5) HLT (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240</a:t>
              </a:r>
              <a:r>
                <a:rPr lang="pt-BR" altLang="pt-BR" sz="1600" dirty="0"/>
                <a:t>).</a:t>
              </a:r>
              <a:endParaRPr lang="pt-BR" altLang="pt-BR" sz="1600" u="none" dirty="0"/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01C49D5D-D57F-7546-2731-9FC7F7B84503}"/>
              </a:ext>
            </a:extLst>
          </p:cNvPr>
          <p:cNvSpPr/>
          <p:nvPr/>
        </p:nvSpPr>
        <p:spPr>
          <a:xfrm>
            <a:off x="6245591" y="3680100"/>
            <a:ext cx="380192" cy="28194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E3CA8F-1EF7-671A-2152-C50114AF5CB5}"/>
              </a:ext>
            </a:extLst>
          </p:cNvPr>
          <p:cNvSpPr/>
          <p:nvPr/>
        </p:nvSpPr>
        <p:spPr>
          <a:xfrm>
            <a:off x="6713220" y="3745230"/>
            <a:ext cx="508635" cy="1516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06574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39198E7-0ED6-DD36-DCFE-BE7E23443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327" y="3418011"/>
            <a:ext cx="4224529" cy="338177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116240" cy="3662541"/>
            <a:chOff x="679012" y="3203992"/>
            <a:chExt cx="3116240" cy="3662541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3573324"/>
              <a:ext cx="3098108" cy="32932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128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2) O endereço de memória 130 com a constante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100</a:t>
              </a:r>
              <a:r>
                <a:rPr lang="pt-BR" altLang="pt-BR" sz="1600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u="none" dirty="0"/>
                <a:t>3) Agora vamos fazer um LDR (32) indexado! Onde temos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32</a:t>
              </a:r>
              <a:r>
                <a:rPr lang="pt-BR" altLang="pt-BR" sz="1600" u="none" dirty="0"/>
                <a:t> (LDR) +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</a:t>
              </a:r>
              <a:r>
                <a:rPr lang="pt-BR" altLang="pt-BR" sz="1600" u="none" dirty="0"/>
                <a:t> (</a:t>
              </a:r>
              <a:r>
                <a:rPr lang="pt-BR" altLang="pt-BR" sz="1600" u="none" dirty="0" err="1"/>
                <a:t>Idx</a:t>
              </a:r>
              <a:r>
                <a:rPr lang="pt-BR" altLang="pt-BR" sz="1600" u="none" dirty="0"/>
                <a:t>) =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35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4) Depois digitar o valor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</a:t>
              </a:r>
              <a:r>
                <a:rPr lang="pt-BR" altLang="pt-BR" sz="1600" dirty="0"/>
                <a:t>, e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5) HLT (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240</a:t>
              </a:r>
              <a:r>
                <a:rPr lang="pt-BR" altLang="pt-BR" sz="1600" dirty="0"/>
                <a:t>).</a:t>
              </a:r>
              <a:endParaRPr lang="pt-BR" altLang="pt-BR" sz="1600" u="none" dirty="0"/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E3CA8F-1EF7-671A-2152-C50114AF5CB5}"/>
              </a:ext>
            </a:extLst>
          </p:cNvPr>
          <p:cNvSpPr/>
          <p:nvPr/>
        </p:nvSpPr>
        <p:spPr>
          <a:xfrm>
            <a:off x="6625591" y="3824520"/>
            <a:ext cx="438150" cy="3779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87253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39198E7-0ED6-DD36-DCFE-BE7E23443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327" y="3418011"/>
            <a:ext cx="4224529" cy="338177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116240" cy="3662541"/>
            <a:chOff x="679012" y="3203992"/>
            <a:chExt cx="3116240" cy="3662541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3573324"/>
              <a:ext cx="3098108" cy="32932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128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2) O endereço de memória 130 com a constante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100</a:t>
              </a:r>
              <a:r>
                <a:rPr lang="pt-BR" altLang="pt-BR" sz="1600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u="none" dirty="0"/>
                <a:t>3) Agora vamos fazer um LDR (32) indexado! Onde temos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32</a:t>
              </a:r>
              <a:r>
                <a:rPr lang="pt-BR" altLang="pt-BR" sz="1600" u="none" dirty="0"/>
                <a:t> (LDR) +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</a:t>
              </a:r>
              <a:r>
                <a:rPr lang="pt-BR" altLang="pt-BR" sz="1600" u="none" dirty="0"/>
                <a:t> (</a:t>
              </a:r>
              <a:r>
                <a:rPr lang="pt-BR" altLang="pt-BR" sz="1600" u="none" dirty="0" err="1"/>
                <a:t>Idx</a:t>
              </a:r>
              <a:r>
                <a:rPr lang="pt-BR" altLang="pt-BR" sz="1600" u="none" dirty="0"/>
                <a:t>) =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35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4) Depois digitar o valor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</a:t>
              </a:r>
              <a:r>
                <a:rPr lang="pt-BR" altLang="pt-BR" sz="1600" dirty="0"/>
                <a:t>, e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5) HLT (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240</a:t>
              </a:r>
              <a:r>
                <a:rPr lang="pt-BR" altLang="pt-BR" sz="1600" dirty="0"/>
                <a:t>).</a:t>
              </a:r>
              <a:endParaRPr lang="pt-BR" altLang="pt-BR" sz="1600" u="none" dirty="0"/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E3CA8F-1EF7-671A-2152-C50114AF5CB5}"/>
              </a:ext>
            </a:extLst>
          </p:cNvPr>
          <p:cNvSpPr/>
          <p:nvPr/>
        </p:nvSpPr>
        <p:spPr>
          <a:xfrm>
            <a:off x="6625591" y="3824520"/>
            <a:ext cx="438150" cy="3779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A0F1C39E-9569-5B5A-7CB2-9ADABB34A193}"/>
              </a:ext>
            </a:extLst>
          </p:cNvPr>
          <p:cNvSpPr/>
          <p:nvPr/>
        </p:nvSpPr>
        <p:spPr>
          <a:xfrm rot="10800000">
            <a:off x="5353050" y="3992878"/>
            <a:ext cx="1220216" cy="10477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ruz 5">
            <a:extLst>
              <a:ext uri="{FF2B5EF4-FFF2-40B4-BE49-F238E27FC236}">
                <a16:creationId xmlns:a16="http://schemas.microsoft.com/office/drawing/2014/main" id="{FEAC0928-8345-E2ED-6B88-837DB5394786}"/>
              </a:ext>
            </a:extLst>
          </p:cNvPr>
          <p:cNvSpPr/>
          <p:nvPr/>
        </p:nvSpPr>
        <p:spPr>
          <a:xfrm>
            <a:off x="5190085" y="3990972"/>
            <a:ext cx="108585" cy="104776"/>
          </a:xfrm>
          <a:prstGeom prst="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9AACA5-81D6-D4E9-44EF-72C0633A494C}"/>
              </a:ext>
            </a:extLst>
          </p:cNvPr>
          <p:cNvSpPr/>
          <p:nvPr/>
        </p:nvSpPr>
        <p:spPr>
          <a:xfrm rot="10800000">
            <a:off x="4726940" y="3990971"/>
            <a:ext cx="408766" cy="10477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024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39198E7-0ED6-DD36-DCFE-BE7E23443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327" y="3418011"/>
            <a:ext cx="4224529" cy="338177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116240" cy="3662541"/>
            <a:chOff x="679012" y="3203992"/>
            <a:chExt cx="3116240" cy="3662541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3573324"/>
              <a:ext cx="3098108" cy="32932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128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2) O endereço de memória 130 com a constante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100</a:t>
              </a:r>
              <a:r>
                <a:rPr lang="pt-BR" altLang="pt-BR" sz="1600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u="none" dirty="0"/>
                <a:t>3) Agora vamos fazer um LDR (32) indexado! Onde temos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32</a:t>
              </a:r>
              <a:r>
                <a:rPr lang="pt-BR" altLang="pt-BR" sz="1600" u="none" dirty="0"/>
                <a:t> (LDR) +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</a:t>
              </a:r>
              <a:r>
                <a:rPr lang="pt-BR" altLang="pt-BR" sz="1600" u="none" dirty="0"/>
                <a:t> (</a:t>
              </a:r>
              <a:r>
                <a:rPr lang="pt-BR" altLang="pt-BR" sz="1600" u="none" dirty="0" err="1"/>
                <a:t>Idx</a:t>
              </a:r>
              <a:r>
                <a:rPr lang="pt-BR" altLang="pt-BR" sz="1600" u="none" dirty="0"/>
                <a:t>) =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35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4) Depois digitar o valor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</a:t>
              </a:r>
              <a:r>
                <a:rPr lang="pt-BR" altLang="pt-BR" sz="1600" dirty="0"/>
                <a:t>, e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5) HLT (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240</a:t>
              </a:r>
              <a:r>
                <a:rPr lang="pt-BR" altLang="pt-BR" sz="1600" dirty="0"/>
                <a:t>).</a:t>
              </a:r>
              <a:endParaRPr lang="pt-BR" altLang="pt-BR" sz="1600" u="none" dirty="0"/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E3CA8F-1EF7-671A-2152-C50114AF5CB5}"/>
              </a:ext>
            </a:extLst>
          </p:cNvPr>
          <p:cNvSpPr/>
          <p:nvPr/>
        </p:nvSpPr>
        <p:spPr>
          <a:xfrm>
            <a:off x="6625591" y="3824520"/>
            <a:ext cx="438150" cy="3779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A0F1C39E-9569-5B5A-7CB2-9ADABB34A193}"/>
              </a:ext>
            </a:extLst>
          </p:cNvPr>
          <p:cNvSpPr/>
          <p:nvPr/>
        </p:nvSpPr>
        <p:spPr>
          <a:xfrm rot="10800000">
            <a:off x="5353050" y="3992878"/>
            <a:ext cx="1220216" cy="10477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ruz 5">
            <a:extLst>
              <a:ext uri="{FF2B5EF4-FFF2-40B4-BE49-F238E27FC236}">
                <a16:creationId xmlns:a16="http://schemas.microsoft.com/office/drawing/2014/main" id="{FEAC0928-8345-E2ED-6B88-837DB5394786}"/>
              </a:ext>
            </a:extLst>
          </p:cNvPr>
          <p:cNvSpPr/>
          <p:nvPr/>
        </p:nvSpPr>
        <p:spPr>
          <a:xfrm>
            <a:off x="5190085" y="3990972"/>
            <a:ext cx="108585" cy="104776"/>
          </a:xfrm>
          <a:prstGeom prst="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9AACA5-81D6-D4E9-44EF-72C0633A494C}"/>
              </a:ext>
            </a:extLst>
          </p:cNvPr>
          <p:cNvSpPr/>
          <p:nvPr/>
        </p:nvSpPr>
        <p:spPr>
          <a:xfrm rot="10800000">
            <a:off x="4726940" y="3990971"/>
            <a:ext cx="408766" cy="10477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C6567EB-9B78-7A8B-D658-4F57488BEC3D}"/>
              </a:ext>
            </a:extLst>
          </p:cNvPr>
          <p:cNvSpPr txBox="1"/>
          <p:nvPr/>
        </p:nvSpPr>
        <p:spPr>
          <a:xfrm>
            <a:off x="4060574" y="384075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130</a:t>
            </a:r>
          </a:p>
        </p:txBody>
      </p:sp>
    </p:spTree>
    <p:extLst>
      <p:ext uri="{BB962C8B-B14F-4D97-AF65-F5344CB8AC3E}">
        <p14:creationId xmlns:p14="http://schemas.microsoft.com/office/powerpoint/2010/main" val="211143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39198E7-0ED6-DD36-DCFE-BE7E23443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327" y="3418011"/>
            <a:ext cx="4224529" cy="338177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116240" cy="3662541"/>
            <a:chOff x="679012" y="3203992"/>
            <a:chExt cx="3116240" cy="3662541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3573324"/>
              <a:ext cx="3098108" cy="32932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128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2) O endereço de memória 130 com a constante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100</a:t>
              </a:r>
              <a:r>
                <a:rPr lang="pt-BR" altLang="pt-BR" sz="1600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u="none" dirty="0"/>
                <a:t>3) Agora vamos fazer um LDR (32) indexado! Onde temos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32</a:t>
              </a:r>
              <a:r>
                <a:rPr lang="pt-BR" altLang="pt-BR" sz="1600" u="none" dirty="0"/>
                <a:t> (LDR) +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</a:t>
              </a:r>
              <a:r>
                <a:rPr lang="pt-BR" altLang="pt-BR" sz="1600" u="none" dirty="0"/>
                <a:t> (</a:t>
              </a:r>
              <a:r>
                <a:rPr lang="pt-BR" altLang="pt-BR" sz="1600" u="none" dirty="0" err="1"/>
                <a:t>Idx</a:t>
              </a:r>
              <a:r>
                <a:rPr lang="pt-BR" altLang="pt-BR" sz="1600" u="none" dirty="0"/>
                <a:t>) =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35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4) Depois digitar o valor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</a:t>
              </a:r>
              <a:r>
                <a:rPr lang="pt-BR" altLang="pt-BR" sz="1600" dirty="0"/>
                <a:t>, e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5) HLT (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240</a:t>
              </a:r>
              <a:r>
                <a:rPr lang="pt-BR" altLang="pt-BR" sz="1600" dirty="0"/>
                <a:t>).</a:t>
              </a:r>
              <a:endParaRPr lang="pt-BR" altLang="pt-BR" sz="1600" u="none" dirty="0"/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E3CA8F-1EF7-671A-2152-C50114AF5CB5}"/>
              </a:ext>
            </a:extLst>
          </p:cNvPr>
          <p:cNvSpPr/>
          <p:nvPr/>
        </p:nvSpPr>
        <p:spPr>
          <a:xfrm>
            <a:off x="6625591" y="3824520"/>
            <a:ext cx="438150" cy="3779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0" name="Seta: Curva para a Esquerda 9">
            <a:extLst>
              <a:ext uri="{FF2B5EF4-FFF2-40B4-BE49-F238E27FC236}">
                <a16:creationId xmlns:a16="http://schemas.microsoft.com/office/drawing/2014/main" id="{46BBFF71-5DB8-70AD-B5DD-EA3D3F311C1C}"/>
              </a:ext>
            </a:extLst>
          </p:cNvPr>
          <p:cNvSpPr/>
          <p:nvPr/>
        </p:nvSpPr>
        <p:spPr>
          <a:xfrm rot="16364215">
            <a:off x="6043835" y="2030656"/>
            <a:ext cx="545011" cy="3483635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983F6F5-1023-2EC4-B2CF-1CB9F8672F69}"/>
              </a:ext>
            </a:extLst>
          </p:cNvPr>
          <p:cNvSpPr/>
          <p:nvPr/>
        </p:nvSpPr>
        <p:spPr>
          <a:xfrm>
            <a:off x="7794476" y="4115649"/>
            <a:ext cx="438150" cy="11268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07A6A02-4460-DD83-A346-EAA52A458031}"/>
              </a:ext>
            </a:extLst>
          </p:cNvPr>
          <p:cNvSpPr txBox="1"/>
          <p:nvPr/>
        </p:nvSpPr>
        <p:spPr>
          <a:xfrm>
            <a:off x="5561451" y="3119751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>
                <a:solidFill>
                  <a:srgbClr val="FF0000"/>
                </a:solidFill>
              </a:rPr>
              <a:t>End</a:t>
            </a:r>
            <a:r>
              <a:rPr lang="pt-BR" b="1" dirty="0">
                <a:solidFill>
                  <a:srgbClr val="FF0000"/>
                </a:solidFill>
              </a:rPr>
              <a:t>: 130</a:t>
            </a:r>
          </a:p>
        </p:txBody>
      </p:sp>
    </p:spTree>
    <p:extLst>
      <p:ext uri="{BB962C8B-B14F-4D97-AF65-F5344CB8AC3E}">
        <p14:creationId xmlns:p14="http://schemas.microsoft.com/office/powerpoint/2010/main" val="17902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39198E7-0ED6-DD36-DCFE-BE7E23443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327" y="3418011"/>
            <a:ext cx="4224529" cy="338177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6DE20B-C16F-A8CD-288F-473A05838BE0}"/>
              </a:ext>
            </a:extLst>
          </p:cNvPr>
          <p:cNvSpPr txBox="1"/>
          <p:nvPr/>
        </p:nvSpPr>
        <p:spPr>
          <a:xfrm>
            <a:off x="882968" y="729490"/>
            <a:ext cx="4577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u="none" dirty="0">
                <a:solidFill>
                  <a:srgbClr val="FF0000"/>
                </a:solidFill>
              </a:rPr>
              <a:t>Modos de endereçamento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0BDE0D7-E4A9-CC06-2257-FD370750274A}"/>
              </a:ext>
            </a:extLst>
          </p:cNvPr>
          <p:cNvSpPr txBox="1"/>
          <p:nvPr/>
        </p:nvSpPr>
        <p:spPr>
          <a:xfrm>
            <a:off x="679012" y="2671161"/>
            <a:ext cx="8042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u="none" dirty="0"/>
              <a:t>As instruções contém o </a:t>
            </a:r>
            <a:r>
              <a:rPr lang="pt-BR" altLang="pt-BR" b="1" dirty="0"/>
              <a:t>valor,</a:t>
            </a:r>
            <a:r>
              <a:rPr lang="pt-BR" altLang="pt-BR" b="1" u="none" dirty="0"/>
              <a:t> </a:t>
            </a:r>
            <a:r>
              <a:rPr lang="pt-BR" altLang="pt-BR" u="none" dirty="0"/>
              <a:t>que é </a:t>
            </a:r>
            <a:r>
              <a:rPr lang="pt-BR" altLang="pt-BR" b="1" u="none" dirty="0"/>
              <a:t>somado </a:t>
            </a:r>
            <a:r>
              <a:rPr lang="pt-BR" altLang="pt-BR" u="none" dirty="0"/>
              <a:t>ao </a:t>
            </a:r>
            <a:r>
              <a:rPr lang="pt-BR" altLang="pt-BR" b="1" u="none" dirty="0"/>
              <a:t>valor do Registrador de index X</a:t>
            </a:r>
            <a:r>
              <a:rPr lang="pt-BR" altLang="pt-BR" u="none" dirty="0"/>
              <a:t>. 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778D75-8CFA-DCA3-08CC-79AC4C26D794}"/>
              </a:ext>
            </a:extLst>
          </p:cNvPr>
          <p:cNvGrpSpPr/>
          <p:nvPr/>
        </p:nvGrpSpPr>
        <p:grpSpPr>
          <a:xfrm>
            <a:off x="679012" y="3203992"/>
            <a:ext cx="3116240" cy="3662541"/>
            <a:chOff x="679012" y="3203992"/>
            <a:chExt cx="3116240" cy="3662541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89FB276-8389-E7C9-705B-DAD71C407D6F}"/>
                </a:ext>
              </a:extLst>
            </p:cNvPr>
            <p:cNvSpPr txBox="1"/>
            <p:nvPr/>
          </p:nvSpPr>
          <p:spPr>
            <a:xfrm>
              <a:off x="679012" y="3203992"/>
              <a:ext cx="2802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b="1" u="none" dirty="0">
                  <a:solidFill>
                    <a:srgbClr val="FF0000"/>
                  </a:solidFill>
                </a:rPr>
                <a:t>Exemplo: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3A8BE23-2F5A-F003-EA88-53BB5235E484}"/>
                </a:ext>
              </a:extLst>
            </p:cNvPr>
            <p:cNvSpPr txBox="1"/>
            <p:nvPr/>
          </p:nvSpPr>
          <p:spPr>
            <a:xfrm>
              <a:off x="697144" y="3573324"/>
              <a:ext cx="3098108" cy="32932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u="none" dirty="0"/>
                <a:t>1) Vamos inicializar o Registrador X com a constante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128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2) O endereço de memória 130 com a constante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100</a:t>
              </a:r>
              <a:r>
                <a:rPr lang="pt-BR" altLang="pt-BR" sz="1600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u="none" dirty="0"/>
                <a:t>3) Agora vamos fazer um LDR (32) indexado! Onde temos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32</a:t>
              </a:r>
              <a:r>
                <a:rPr lang="pt-BR" altLang="pt-BR" sz="1600" u="none" dirty="0"/>
                <a:t> (LDR) +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</a:t>
              </a:r>
              <a:r>
                <a:rPr lang="pt-BR" altLang="pt-BR" sz="1600" u="none" dirty="0"/>
                <a:t> (</a:t>
              </a:r>
              <a:r>
                <a:rPr lang="pt-BR" altLang="pt-BR" sz="1600" u="none" dirty="0" err="1"/>
                <a:t>Idx</a:t>
              </a:r>
              <a:r>
                <a:rPr lang="pt-BR" altLang="pt-BR" sz="1600" u="none" dirty="0"/>
                <a:t>) = </a:t>
              </a:r>
              <a:r>
                <a:rPr lang="pt-BR" altLang="pt-BR" sz="1600" b="1" u="none" dirty="0">
                  <a:solidFill>
                    <a:srgbClr val="00B0F0"/>
                  </a:solidFill>
                </a:rPr>
                <a:t>35</a:t>
              </a:r>
              <a:r>
                <a:rPr lang="pt-BR" altLang="pt-BR" sz="1600" u="none" dirty="0"/>
                <a:t>.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4) Depois digitar o valor 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</a:t>
              </a:r>
              <a:r>
                <a:rPr lang="pt-BR" altLang="pt-BR" sz="1600" dirty="0"/>
                <a:t>, e</a:t>
              </a:r>
            </a:p>
            <a:p>
              <a:endParaRPr lang="pt-BR" altLang="pt-BR" sz="1600" dirty="0"/>
            </a:p>
            <a:p>
              <a:r>
                <a:rPr lang="pt-BR" altLang="pt-BR" sz="1600" dirty="0"/>
                <a:t>5) HLT (</a:t>
              </a:r>
              <a:r>
                <a:rPr lang="pt-BR" altLang="pt-BR" sz="1600" b="1" dirty="0">
                  <a:solidFill>
                    <a:srgbClr val="00B0F0"/>
                  </a:solidFill>
                </a:rPr>
                <a:t>240</a:t>
              </a:r>
              <a:r>
                <a:rPr lang="pt-BR" altLang="pt-BR" sz="1600" dirty="0"/>
                <a:t>).</a:t>
              </a:r>
              <a:endParaRPr lang="pt-BR" altLang="pt-BR" sz="1600" u="none" dirty="0"/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158F5F-15F1-DA18-0A11-810078DE9987}"/>
              </a:ext>
            </a:extLst>
          </p:cNvPr>
          <p:cNvSpPr txBox="1"/>
          <p:nvPr/>
        </p:nvSpPr>
        <p:spPr>
          <a:xfrm>
            <a:off x="666664" y="141403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b="1" u="none" dirty="0"/>
              <a:t>Indexado (3: </a:t>
            </a:r>
            <a:r>
              <a:rPr lang="pt-BR" altLang="pt-BR" sz="2400" b="1" u="none" dirty="0" err="1"/>
              <a:t>Idx</a:t>
            </a:r>
            <a:r>
              <a:rPr lang="pt-BR" altLang="pt-BR" sz="2400" b="1" u="none" dirty="0"/>
              <a:t>)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B87522-5E41-D28B-A630-80C912D06086}"/>
              </a:ext>
            </a:extLst>
          </p:cNvPr>
          <p:cNvSpPr txBox="1"/>
          <p:nvPr/>
        </p:nvSpPr>
        <p:spPr>
          <a:xfrm>
            <a:off x="714350" y="1976223"/>
            <a:ext cx="804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b="1" u="none" dirty="0">
                <a:solidFill>
                  <a:srgbClr val="FF0000"/>
                </a:solidFill>
              </a:rPr>
              <a:t>11</a:t>
            </a:r>
            <a:r>
              <a:rPr lang="pt-BR" altLang="pt-BR" b="1" u="none" dirty="0"/>
              <a:t>   Indexado</a:t>
            </a:r>
            <a:r>
              <a:rPr lang="pt-BR" altLang="pt-BR" u="none" dirty="0"/>
              <a:t>:  o valor do </a:t>
            </a:r>
            <a:r>
              <a:rPr lang="pt-BR" altLang="pt-BR" b="1" u="none" dirty="0"/>
              <a:t>argumento é somado ao valor do registrador X    </a:t>
            </a:r>
          </a:p>
          <a:p>
            <a:pPr algn="just" eaLnBrk="1" hangingPunct="1"/>
            <a:r>
              <a:rPr lang="pt-BR" altLang="pt-BR" dirty="0"/>
              <a:t>                           </a:t>
            </a:r>
            <a:r>
              <a:rPr lang="pt-BR" altLang="pt-BR" u="none" dirty="0"/>
              <a:t>e o </a:t>
            </a:r>
            <a:r>
              <a:rPr lang="pt-BR" altLang="pt-BR" b="1" u="none" dirty="0"/>
              <a:t>resultado aponta para o endereço onde está o valor desejado</a:t>
            </a:r>
            <a:r>
              <a:rPr lang="pt-BR" altLang="pt-BR" u="none" dirty="0"/>
              <a:t>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E3CA8F-1EF7-671A-2152-C50114AF5CB5}"/>
              </a:ext>
            </a:extLst>
          </p:cNvPr>
          <p:cNvSpPr/>
          <p:nvPr/>
        </p:nvSpPr>
        <p:spPr>
          <a:xfrm>
            <a:off x="6625591" y="3824520"/>
            <a:ext cx="438150" cy="3779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0" name="Seta: Curva para a Esquerda 9">
            <a:extLst>
              <a:ext uri="{FF2B5EF4-FFF2-40B4-BE49-F238E27FC236}">
                <a16:creationId xmlns:a16="http://schemas.microsoft.com/office/drawing/2014/main" id="{46BBFF71-5DB8-70AD-B5DD-EA3D3F311C1C}"/>
              </a:ext>
            </a:extLst>
          </p:cNvPr>
          <p:cNvSpPr/>
          <p:nvPr/>
        </p:nvSpPr>
        <p:spPr>
          <a:xfrm rot="5572788">
            <a:off x="6594260" y="3298631"/>
            <a:ext cx="545011" cy="2407166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983F6F5-1023-2EC4-B2CF-1CB9F8672F69}"/>
              </a:ext>
            </a:extLst>
          </p:cNvPr>
          <p:cNvSpPr/>
          <p:nvPr/>
        </p:nvSpPr>
        <p:spPr>
          <a:xfrm>
            <a:off x="7794476" y="4115649"/>
            <a:ext cx="438150" cy="11268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ACE2061-3BD6-D0A8-5DCD-91F1CB4F5AF8}"/>
              </a:ext>
            </a:extLst>
          </p:cNvPr>
          <p:cNvSpPr/>
          <p:nvPr/>
        </p:nvSpPr>
        <p:spPr>
          <a:xfrm>
            <a:off x="5642441" y="3940707"/>
            <a:ext cx="333544" cy="1749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34370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>
            <a:extLst>
              <a:ext uri="{FF2B5EF4-FFF2-40B4-BE49-F238E27FC236}">
                <a16:creationId xmlns:a16="http://schemas.microsoft.com/office/drawing/2014/main" id="{3CD65825-C88D-4673-6E51-161A46C5F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773238"/>
            <a:ext cx="5543550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Título 1">
            <a:extLst>
              <a:ext uri="{FF2B5EF4-FFF2-40B4-BE49-F238E27FC236}">
                <a16:creationId xmlns:a16="http://schemas.microsoft.com/office/drawing/2014/main" id="{8B929C0E-D817-B08E-8AE2-63F44E997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54792" y="705977"/>
            <a:ext cx="7886700" cy="1325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dirty="0">
                <a:latin typeface="Gotham HTF" charset="0"/>
                <a:ea typeface="MS PGothic" panose="020B0600070205080204" pitchFamily="34" charset="-128"/>
              </a:rPr>
              <a:t>Dúvidas?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Exercícios: </a:t>
            </a:r>
            <a:r>
              <a:rPr lang="pt-BR" altLang="pt-BR" sz="2600" b="1" u="none" dirty="0" err="1">
                <a:solidFill>
                  <a:srgbClr val="FF0000"/>
                </a:solidFill>
              </a:rPr>
              <a:t>Ramses</a:t>
            </a:r>
            <a:endParaRPr lang="pt-BR" altLang="pt-BR" sz="2600" b="1" u="none" dirty="0">
              <a:solidFill>
                <a:srgbClr val="FF00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C83D12-6034-C68A-FA5D-2F2539866542}"/>
              </a:ext>
            </a:extLst>
          </p:cNvPr>
          <p:cNvSpPr txBox="1"/>
          <p:nvPr/>
        </p:nvSpPr>
        <p:spPr>
          <a:xfrm>
            <a:off x="751396" y="1330875"/>
            <a:ext cx="746677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/>
              <a:t>1. Monte um programa que realize: ((5 x  8) – 20)/2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2. Monte um programa que realize: (15 +  8) x 2.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3. Monte um programa que realize: ((2 + 1)^3) / 2.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4. Monte um programa que realize: (5 + 26) / 3.</a:t>
            </a:r>
          </a:p>
          <a:p>
            <a:pPr algn="just"/>
            <a:r>
              <a:rPr lang="pt-BR" sz="1600" dirty="0"/>
              <a:t> </a:t>
            </a:r>
          </a:p>
          <a:p>
            <a:pPr algn="just"/>
            <a:r>
              <a:rPr lang="pt-BR" sz="1600" dirty="0"/>
              <a:t>5. Monte um programa que realiza a multiplicação ((2 + 1) * 3) / 2.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6. Faça um programa para realizar a operação a &gt; b. Se a &gt; b, o programa deverá realizar a operação a + b. Caso contrário, deverá realizar a operação a*b.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7. Faça um programa para calcular o Índice de Massa Corporal (IMC) de uma pessoa.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8. Execute vários valores de 8 bits: Valor1 * Valor2 * Valor3 + Valor4 + Valor5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9. Monte um programa que realize:  (A – B)^2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10. Contador: Laço de contagem regressiva de 100 até 10</a:t>
            </a:r>
          </a:p>
        </p:txBody>
      </p:sp>
    </p:spTree>
    <p:extLst>
      <p:ext uri="{BB962C8B-B14F-4D97-AF65-F5344CB8AC3E}">
        <p14:creationId xmlns:p14="http://schemas.microsoft.com/office/powerpoint/2010/main" val="11816616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86581" y="748882"/>
            <a:ext cx="7865806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u="none" dirty="0">
                <a:solidFill>
                  <a:srgbClr val="FF0000"/>
                </a:solidFill>
              </a:rPr>
              <a:t>Exercícios: </a:t>
            </a:r>
            <a:r>
              <a:rPr lang="pt-BR" altLang="pt-BR" sz="2800" b="1" u="none" dirty="0" err="1">
                <a:solidFill>
                  <a:srgbClr val="FF0000"/>
                </a:solidFill>
              </a:rPr>
              <a:t>Ramses</a:t>
            </a:r>
            <a:endParaRPr lang="pt-BR" altLang="pt-BR" sz="2800" b="1" u="none" dirty="0">
              <a:solidFill>
                <a:srgbClr val="FF0000"/>
              </a:solidFill>
            </a:endParaRPr>
          </a:p>
          <a:p>
            <a:pPr algn="just" eaLnBrk="1" hangingPunct="1"/>
            <a:endParaRPr lang="pt-BR" altLang="pt-BR" sz="1800" u="none" dirty="0"/>
          </a:p>
          <a:p>
            <a:pPr algn="just" eaLnBrk="1" hangingPunct="1"/>
            <a:r>
              <a:rPr lang="pt-BR" altLang="pt-BR" sz="1800" u="none" dirty="0"/>
              <a:t>11) Construa um programa que primeiro atribua o valor 15 ao registrador A, depois atribua o valor 20 ao registrador B, salve o valor de A na posição de memória 128 e o de B na posição de memória 129 e, por fim, chame uma sub-rotina que some os valores das posições de memória 128 e 129 e salva na 130.</a:t>
            </a:r>
          </a:p>
          <a:p>
            <a:pPr marL="342900" indent="-342900" algn="just" eaLnBrk="1" hangingPunct="1">
              <a:buAutoNum type="arabicParenR"/>
            </a:pPr>
            <a:endParaRPr lang="pt-BR" altLang="pt-BR" sz="1800" u="none" dirty="0"/>
          </a:p>
          <a:p>
            <a:pPr algn="just" eaLnBrk="1" hangingPunct="1"/>
            <a:r>
              <a:rPr lang="pt-BR" altLang="pt-BR" sz="1800" u="none" dirty="0"/>
              <a:t>12) Criar uma sub-rotina que multiplique dois números previamente salvos na memória e cujo resultado da multiplicação possa assumir valores de 0 até 6553510, ou seja, o resultado deve utilizar-se de duas posições de memória de 8 bits.</a:t>
            </a:r>
          </a:p>
        </p:txBody>
      </p:sp>
    </p:spTree>
    <p:extLst>
      <p:ext uri="{BB962C8B-B14F-4D97-AF65-F5344CB8AC3E}">
        <p14:creationId xmlns:p14="http://schemas.microsoft.com/office/powerpoint/2010/main" val="8169121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Hidra - Bomba relógio!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CBF48A8-D675-2496-6C11-779256769B1C}"/>
              </a:ext>
            </a:extLst>
          </p:cNvPr>
          <p:cNvSpPr txBox="1"/>
          <p:nvPr/>
        </p:nvSpPr>
        <p:spPr>
          <a:xfrm>
            <a:off x="677736" y="1235007"/>
            <a:ext cx="780486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O display de 7 segmentos é ainda muito utilizado em  muitos dispositivos eletrônicos.  Ele é principalmente utilizado para ilustrar valor numéricos de forma rápida e barata. Os números são apresentados, com uma sequência de leds ativados (acesos). Na imagem abaixo, vemos o display de 7 segmentos. Observe que uma sequência de leds ativados (representados pelas letras de </a:t>
            </a:r>
            <a:r>
              <a:rPr lang="pt-BR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), representam os números.</a:t>
            </a:r>
          </a:p>
          <a:p>
            <a:pPr algn="just"/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Assim, monte em Assembly (utilizando o Hidra) um programa que </a:t>
            </a:r>
            <a:r>
              <a:rPr lang="pt-BR" sz="1500" b="1" dirty="0">
                <a:latin typeface="Arial" panose="020B0604020202020204" pitchFamily="34" charset="0"/>
                <a:cs typeface="Arial" panose="020B0604020202020204" pitchFamily="34" charset="0"/>
              </a:rPr>
              <a:t>gere um contador decrescente de 9 a 0 (zero), com subtração, 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para colocar em uma bomba relógio de tempo regressivo! </a:t>
            </a:r>
          </a:p>
          <a:p>
            <a:pPr algn="just"/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Lembre-se que que 0 desativa o LED e 1 ativa o LED. Esta ativação ocorrerá, quando o seu programa enviar em um endereço correspondente a um determinado LED o valor 0 (desativado) e 1 Ativado). Utilize um display de 7 segmentos.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18B374B-298B-B830-5885-F3CE9B58034C}"/>
              </a:ext>
            </a:extLst>
          </p:cNvPr>
          <p:cNvSpPr txBox="1"/>
          <p:nvPr/>
        </p:nvSpPr>
        <p:spPr>
          <a:xfrm>
            <a:off x="5392970" y="3817445"/>
            <a:ext cx="20624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Endereços dos LEDs do display:</a:t>
            </a:r>
          </a:p>
          <a:p>
            <a:endParaRPr lang="pt-BR" b="1" dirty="0">
              <a:solidFill>
                <a:srgbClr val="FF0000"/>
              </a:solidFill>
            </a:endParaRPr>
          </a:p>
          <a:p>
            <a:r>
              <a:rPr lang="pt-BR" dirty="0">
                <a:solidFill>
                  <a:srgbClr val="FF0000"/>
                </a:solidFill>
              </a:rPr>
              <a:t>a -&gt; 244</a:t>
            </a:r>
          </a:p>
          <a:p>
            <a:r>
              <a:rPr lang="pt-BR" dirty="0">
                <a:solidFill>
                  <a:srgbClr val="FF0000"/>
                </a:solidFill>
              </a:rPr>
              <a:t>b-&gt; 245</a:t>
            </a:r>
          </a:p>
          <a:p>
            <a:r>
              <a:rPr lang="pt-BR" dirty="0">
                <a:solidFill>
                  <a:srgbClr val="FF0000"/>
                </a:solidFill>
              </a:rPr>
              <a:t>c -&gt; 246</a:t>
            </a:r>
          </a:p>
          <a:p>
            <a:r>
              <a:rPr lang="pt-BR" dirty="0">
                <a:solidFill>
                  <a:srgbClr val="FF0000"/>
                </a:solidFill>
              </a:rPr>
              <a:t>d -&gt; 247</a:t>
            </a:r>
          </a:p>
          <a:p>
            <a:r>
              <a:rPr lang="pt-BR" dirty="0">
                <a:solidFill>
                  <a:srgbClr val="FF0000"/>
                </a:solidFill>
              </a:rPr>
              <a:t>e -&gt; 248</a:t>
            </a:r>
          </a:p>
          <a:p>
            <a:r>
              <a:rPr lang="pt-BR" dirty="0">
                <a:solidFill>
                  <a:srgbClr val="FF0000"/>
                </a:solidFill>
              </a:rPr>
              <a:t>f -&gt; 249</a:t>
            </a:r>
          </a:p>
          <a:p>
            <a:r>
              <a:rPr lang="pt-BR" dirty="0">
                <a:solidFill>
                  <a:srgbClr val="FF0000"/>
                </a:solidFill>
              </a:rPr>
              <a:t>g -&gt; 250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70298AB-6440-CCA5-4E79-98C1E81F20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334" t="59980" r="52555" b="1704"/>
          <a:stretch/>
        </p:blipFill>
        <p:spPr>
          <a:xfrm>
            <a:off x="3351595" y="4474454"/>
            <a:ext cx="1381760" cy="1970786"/>
          </a:xfrm>
          <a:prstGeom prst="rect">
            <a:avLst/>
          </a:prstGeom>
        </p:spPr>
      </p:pic>
      <p:pic>
        <p:nvPicPr>
          <p:cNvPr id="7" name="Picture 2" descr="Esta bomba-relógio não deve ser levada na mala de viagem - TecMundo">
            <a:extLst>
              <a:ext uri="{FF2B5EF4-FFF2-40B4-BE49-F238E27FC236}">
                <a16:creationId xmlns:a16="http://schemas.microsoft.com/office/drawing/2014/main" id="{4F1BB3EA-75C1-278A-6D75-7B7D5EA23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49" y="3978967"/>
            <a:ext cx="2567131" cy="280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44993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4D5306F-A7C7-2585-F2FE-1871420E42ED}"/>
              </a:ext>
            </a:extLst>
          </p:cNvPr>
          <p:cNvSpPr/>
          <p:nvPr/>
        </p:nvSpPr>
        <p:spPr>
          <a:xfrm>
            <a:off x="0" y="0"/>
            <a:ext cx="9144000" cy="793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2707" name="CaixaDeTexto 3">
            <a:extLst>
              <a:ext uri="{FF2B5EF4-FFF2-40B4-BE49-F238E27FC236}">
                <a16:creationId xmlns:a16="http://schemas.microsoft.com/office/drawing/2014/main" id="{C30DD4AF-878C-8AEE-787E-8B7EE3911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833438"/>
            <a:ext cx="53467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SOUZA, D.J. </a:t>
            </a:r>
            <a:r>
              <a:rPr lang="pt-BR" altLang="pt-BR" sz="1200" b="1" dirty="0">
                <a:solidFill>
                  <a:schemeClr val="tx1"/>
                </a:solidFill>
              </a:rPr>
              <a:t>Desbravando o PIC</a:t>
            </a:r>
            <a:r>
              <a:rPr lang="pt-BR" altLang="pt-BR" sz="1200" dirty="0">
                <a:solidFill>
                  <a:schemeClr val="tx1"/>
                </a:solidFill>
              </a:rPr>
              <a:t>. 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2708" name="CaixaDeTexto 4">
            <a:extLst>
              <a:ext uri="{FF2B5EF4-FFF2-40B4-BE49-F238E27FC236}">
                <a16:creationId xmlns:a16="http://schemas.microsoft.com/office/drawing/2014/main" id="{166B574B-25CD-A340-93B2-8EE0F4E5B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1193800"/>
            <a:ext cx="4897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SOUSA, D.R.; SOUZA, D.J. </a:t>
            </a:r>
            <a:r>
              <a:rPr lang="pt-BR" altLang="pt-BR" sz="1200" b="1" dirty="0">
                <a:solidFill>
                  <a:schemeClr val="tx1"/>
                </a:solidFill>
              </a:rPr>
              <a:t>Desbravando o microcontrolador PIC18</a:t>
            </a:r>
            <a:r>
              <a:rPr lang="pt-BR" altLang="pt-BR" sz="1200" dirty="0">
                <a:solidFill>
                  <a:schemeClr val="tx1"/>
                </a:solidFill>
              </a:rPr>
              <a:t>. 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2709" name="CaixaDeTexto 5">
            <a:extLst>
              <a:ext uri="{FF2B5EF4-FFF2-40B4-BE49-F238E27FC236}">
                <a16:creationId xmlns:a16="http://schemas.microsoft.com/office/drawing/2014/main" id="{6DED6231-FE00-08BD-F3FF-51F87F11D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1801813"/>
            <a:ext cx="4968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SOUSA, D.R.; SOUZA, D.J. </a:t>
            </a:r>
            <a:r>
              <a:rPr lang="pt-BR" altLang="pt-BR" sz="1200" b="1" dirty="0">
                <a:solidFill>
                  <a:schemeClr val="tx1"/>
                </a:solidFill>
              </a:rPr>
              <a:t>Desbravando o PIC24.</a:t>
            </a:r>
            <a:r>
              <a:rPr lang="pt-BR" altLang="pt-BR" sz="1200" dirty="0">
                <a:solidFill>
                  <a:schemeClr val="tx1"/>
                </a:solidFill>
              </a:rPr>
              <a:t> 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2710" name="CaixaDeTexto 6">
            <a:extLst>
              <a:ext uri="{FF2B5EF4-FFF2-40B4-BE49-F238E27FC236}">
                <a16:creationId xmlns:a16="http://schemas.microsoft.com/office/drawing/2014/main" id="{1C22C38A-BB19-84B3-5995-C7BF85F9C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2409825"/>
            <a:ext cx="50196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PEREIRA, F. </a:t>
            </a:r>
            <a:r>
              <a:rPr lang="pt-BR" altLang="pt-BR" sz="1200" b="1" dirty="0">
                <a:solidFill>
                  <a:schemeClr val="tx1"/>
                </a:solidFill>
              </a:rPr>
              <a:t>Tecnologia ARM – Microcontroladores de 32 bits. </a:t>
            </a:r>
            <a:r>
              <a:rPr lang="pt-BR" altLang="pt-BR" sz="1200" dirty="0">
                <a:solidFill>
                  <a:schemeClr val="tx1"/>
                </a:solidFill>
              </a:rPr>
              <a:t>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2711" name="CaixaDeTexto 7">
            <a:extLst>
              <a:ext uri="{FF2B5EF4-FFF2-40B4-BE49-F238E27FC236}">
                <a16:creationId xmlns:a16="http://schemas.microsoft.com/office/drawing/2014/main" id="{3F04EF15-E322-8BE8-898B-A0F43F730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2967038"/>
            <a:ext cx="5145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SOUSA, D.R. </a:t>
            </a:r>
            <a:r>
              <a:rPr lang="pt-BR" altLang="pt-BR" sz="1200" b="1" dirty="0">
                <a:solidFill>
                  <a:schemeClr val="tx1"/>
                </a:solidFill>
              </a:rPr>
              <a:t>Microcontroladores ARM7 – O poder dos 32 bits.</a:t>
            </a:r>
            <a:r>
              <a:rPr lang="pt-BR" altLang="pt-BR" sz="1200" dirty="0">
                <a:solidFill>
                  <a:schemeClr val="tx1"/>
                </a:solidFill>
              </a:rPr>
              <a:t> Editora Érica Saraiva.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CCA5F36-ABF8-F515-2761-85E504568D44}"/>
              </a:ext>
            </a:extLst>
          </p:cNvPr>
          <p:cNvSpPr txBox="1"/>
          <p:nvPr/>
        </p:nvSpPr>
        <p:spPr>
          <a:xfrm>
            <a:off x="3952875" y="4008438"/>
            <a:ext cx="5033963" cy="2862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altLang="pt-BR" sz="1200" dirty="0"/>
              <a:t>OLIVEIRA, A. S., ANDRADE, F. S. </a:t>
            </a:r>
            <a:r>
              <a:rPr lang="pt-BR" altLang="pt-BR" sz="1200" b="1" dirty="0"/>
              <a:t>Sistemas Embarcados: hardware e firmware na prática. </a:t>
            </a:r>
            <a:r>
              <a:rPr lang="pt-BR" altLang="pt-BR" sz="1200" dirty="0"/>
              <a:t>Editora Érica Saraiva. </a:t>
            </a:r>
            <a:r>
              <a:rPr lang="pt-BR" altLang="pt-BR" sz="1200" dirty="0">
                <a:solidFill>
                  <a:schemeClr val="tx1">
                    <a:lumMod val="50000"/>
                  </a:schemeClr>
                </a:solidFill>
              </a:rPr>
              <a:t>(Biblioteca FIAP – livro físico)</a:t>
            </a:r>
          </a:p>
          <a:p>
            <a:pPr>
              <a:defRPr/>
            </a:pPr>
            <a:endParaRPr lang="pt-BR" altLang="pt-BR" sz="12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pt-BR" altLang="pt-BR" sz="1200" dirty="0"/>
              <a:t>SOUSA, D.R.; SOUZA, D.J., LAVÍNIA, N. C. </a:t>
            </a:r>
            <a:r>
              <a:rPr lang="pt-BR" altLang="pt-BR" sz="1200" b="1" dirty="0"/>
              <a:t>Desbravando o microcontrolador PIC18: recursos avançados</a:t>
            </a:r>
            <a:r>
              <a:rPr lang="pt-BR" altLang="pt-BR" sz="1200" dirty="0"/>
              <a:t>. Editora Érica Saraiva</a:t>
            </a:r>
            <a:r>
              <a:rPr lang="pt-BR" altLang="pt-BR" sz="1200" b="1" dirty="0"/>
              <a:t>.</a:t>
            </a:r>
          </a:p>
          <a:p>
            <a:pPr>
              <a:defRPr/>
            </a:pPr>
            <a:endParaRPr lang="pt-BR" altLang="pt-BR" sz="1200" dirty="0"/>
          </a:p>
          <a:p>
            <a:pPr>
              <a:defRPr/>
            </a:pPr>
            <a:r>
              <a:rPr lang="pt-BR" altLang="pt-BR" sz="1200" dirty="0"/>
              <a:t>PEREIRA, F. </a:t>
            </a:r>
            <a:r>
              <a:rPr lang="pt-BR" altLang="pt-BR" sz="1200" b="1" dirty="0"/>
              <a:t>Microcontroladores PIC: programação em C</a:t>
            </a:r>
            <a:r>
              <a:rPr lang="pt-BR" altLang="pt-BR" sz="1200" dirty="0"/>
              <a:t>. Editora Érica Saraiva.</a:t>
            </a:r>
          </a:p>
          <a:p>
            <a:pPr>
              <a:defRPr/>
            </a:pPr>
            <a:endParaRPr lang="pt-BR" altLang="pt-BR" sz="12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pt-BR" altLang="pt-BR" sz="1200" dirty="0"/>
              <a:t>YIU, J. </a:t>
            </a:r>
            <a:r>
              <a:rPr lang="pt-BR" altLang="pt-BR" sz="1200" b="1" dirty="0"/>
              <a:t>The </a:t>
            </a:r>
            <a:r>
              <a:rPr lang="pt-BR" altLang="pt-BR" sz="1200" b="1" dirty="0" err="1"/>
              <a:t>definitive</a:t>
            </a:r>
            <a:r>
              <a:rPr lang="pt-BR" altLang="pt-BR" sz="1200" b="1" dirty="0"/>
              <a:t> </a:t>
            </a:r>
            <a:r>
              <a:rPr lang="pt-BR" altLang="pt-BR" sz="1200" b="1" dirty="0" err="1"/>
              <a:t>guide</a:t>
            </a:r>
            <a:r>
              <a:rPr lang="pt-BR" altLang="pt-BR" sz="1200" b="1" dirty="0"/>
              <a:t> </a:t>
            </a:r>
            <a:r>
              <a:rPr lang="pt-BR" altLang="pt-BR" sz="1200" b="1" dirty="0" err="1"/>
              <a:t>to</a:t>
            </a:r>
            <a:r>
              <a:rPr lang="pt-BR" altLang="pt-BR" sz="1200" b="1" dirty="0"/>
              <a:t> ARM </a:t>
            </a:r>
            <a:r>
              <a:rPr lang="pt-BR" altLang="pt-BR" sz="1200" b="1" dirty="0" err="1"/>
              <a:t>Cortex</a:t>
            </a:r>
            <a:r>
              <a:rPr lang="pt-BR" altLang="pt-BR" sz="1200" b="1" dirty="0"/>
              <a:t> M3 </a:t>
            </a:r>
            <a:r>
              <a:rPr lang="pt-BR" altLang="pt-BR" sz="1200" b="1" dirty="0" err="1"/>
              <a:t>and</a:t>
            </a:r>
            <a:r>
              <a:rPr lang="pt-BR" altLang="pt-BR" sz="1200" b="1" dirty="0"/>
              <a:t> ARM </a:t>
            </a:r>
            <a:r>
              <a:rPr lang="pt-BR" altLang="pt-BR" sz="1200" b="1" dirty="0" err="1"/>
              <a:t>Cortex</a:t>
            </a:r>
            <a:r>
              <a:rPr lang="pt-BR" altLang="pt-BR" sz="1200" b="1" dirty="0"/>
              <a:t> M4 processors. </a:t>
            </a:r>
            <a:r>
              <a:rPr lang="pt-BR" altLang="pt-BR" sz="1200" dirty="0"/>
              <a:t>Ed. Elsevier.</a:t>
            </a:r>
          </a:p>
          <a:p>
            <a:pPr>
              <a:defRPr/>
            </a:pPr>
            <a:endParaRPr lang="pt-BR" altLang="pt-BR" sz="1200" dirty="0"/>
          </a:p>
          <a:p>
            <a:pPr>
              <a:defRPr/>
            </a:pPr>
            <a:r>
              <a:rPr lang="pt-BR" altLang="pt-BR" sz="1200" dirty="0"/>
              <a:t>SLOSS, A. N., SYMES, D., WRIGHT, C. </a:t>
            </a:r>
            <a:r>
              <a:rPr lang="pt-BR" altLang="pt-BR" sz="1200" b="1" dirty="0"/>
              <a:t>ARM System </a:t>
            </a:r>
            <a:r>
              <a:rPr lang="pt-BR" altLang="pt-BR" sz="1200" b="1" dirty="0" err="1"/>
              <a:t>Developer’s</a:t>
            </a:r>
            <a:r>
              <a:rPr lang="pt-BR" altLang="pt-BR" sz="1200" b="1" dirty="0"/>
              <a:t> </a:t>
            </a:r>
            <a:r>
              <a:rPr lang="pt-BR" altLang="pt-BR" sz="1200" b="1" dirty="0" err="1"/>
              <a:t>Guide</a:t>
            </a:r>
            <a:r>
              <a:rPr lang="pt-BR" altLang="pt-BR" sz="1200" b="1" dirty="0"/>
              <a:t>. </a:t>
            </a:r>
            <a:r>
              <a:rPr lang="pt-BR" altLang="pt-BR" sz="1200" dirty="0"/>
              <a:t>Ed. Elsevier.</a:t>
            </a:r>
          </a:p>
        </p:txBody>
      </p:sp>
      <p:sp>
        <p:nvSpPr>
          <p:cNvPr id="72713" name="CaixaDeTexto 9">
            <a:extLst>
              <a:ext uri="{FF2B5EF4-FFF2-40B4-BE49-F238E27FC236}">
                <a16:creationId xmlns:a16="http://schemas.microsoft.com/office/drawing/2014/main" id="{DF8BF2A0-02FA-25EE-E047-A475E5C0C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9075" y="404813"/>
            <a:ext cx="19431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600" b="1">
                <a:solidFill>
                  <a:srgbClr val="2E0DF1"/>
                </a:solidFill>
              </a:rPr>
              <a:t>BÁSICA</a:t>
            </a:r>
          </a:p>
        </p:txBody>
      </p:sp>
      <p:sp>
        <p:nvSpPr>
          <p:cNvPr id="72714" name="CaixaDeTexto 10">
            <a:extLst>
              <a:ext uri="{FF2B5EF4-FFF2-40B4-BE49-F238E27FC236}">
                <a16:creationId xmlns:a16="http://schemas.microsoft.com/office/drawing/2014/main" id="{ECCBAF9A-D1DD-17EE-4671-FB535F04B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1925" y="3633788"/>
            <a:ext cx="19446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600" b="1">
                <a:solidFill>
                  <a:srgbClr val="2E0DF1"/>
                </a:solidFill>
              </a:rPr>
              <a:t>COMPLEMENTAR</a:t>
            </a:r>
          </a:p>
        </p:txBody>
      </p:sp>
    </p:spTree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2" name="Rectangle 1026">
            <a:extLst>
              <a:ext uri="{FF2B5EF4-FFF2-40B4-BE49-F238E27FC236}">
                <a16:creationId xmlns:a16="http://schemas.microsoft.com/office/drawing/2014/main" id="{0559F948-421A-33CA-9624-407393978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371" y="3269995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Sandro A.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6576</TotalTime>
  <Words>4570</Words>
  <Application>Microsoft Office PowerPoint</Application>
  <PresentationFormat>Apresentação na tela (4:3)</PresentationFormat>
  <Paragraphs>510</Paragraphs>
  <Slides>54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54</vt:i4>
      </vt:variant>
    </vt:vector>
  </HeadingPairs>
  <TitlesOfParts>
    <vt:vector size="67" baseType="lpstr">
      <vt:lpstr>Arial</vt:lpstr>
      <vt:lpstr>Calibri</vt:lpstr>
      <vt:lpstr>Gotham HTF</vt:lpstr>
      <vt:lpstr>Gotham HTF Book</vt:lpstr>
      <vt:lpstr>Gotham-Bold</vt:lpstr>
      <vt:lpstr>Gotham-Book</vt:lpstr>
      <vt:lpstr>Square721 BT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Dúvidas?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Sandro Ferraz</cp:lastModifiedBy>
  <cp:revision>426</cp:revision>
  <cp:lastPrinted>2016-02-15T09:06:24Z</cp:lastPrinted>
  <dcterms:created xsi:type="dcterms:W3CDTF">2015-02-07T21:24:47Z</dcterms:created>
  <dcterms:modified xsi:type="dcterms:W3CDTF">2024-09-09T20:15:05Z</dcterms:modified>
</cp:coreProperties>
</file>