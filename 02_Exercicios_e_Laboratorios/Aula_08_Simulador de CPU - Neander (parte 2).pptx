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62"/>
  </p:notesMasterIdLst>
  <p:handoutMasterIdLst>
    <p:handoutMasterId r:id="rId63"/>
  </p:handoutMasterIdLst>
  <p:sldIdLst>
    <p:sldId id="256" r:id="rId6"/>
    <p:sldId id="487" r:id="rId7"/>
    <p:sldId id="534" r:id="rId8"/>
    <p:sldId id="556" r:id="rId9"/>
    <p:sldId id="558" r:id="rId10"/>
    <p:sldId id="559" r:id="rId11"/>
    <p:sldId id="560" r:id="rId12"/>
    <p:sldId id="561" r:id="rId13"/>
    <p:sldId id="562" r:id="rId14"/>
    <p:sldId id="563" r:id="rId15"/>
    <p:sldId id="539" r:id="rId16"/>
    <p:sldId id="540" r:id="rId17"/>
    <p:sldId id="541" r:id="rId18"/>
    <p:sldId id="564" r:id="rId19"/>
    <p:sldId id="495" r:id="rId20"/>
    <p:sldId id="566" r:id="rId21"/>
    <p:sldId id="567" r:id="rId22"/>
    <p:sldId id="568" r:id="rId23"/>
    <p:sldId id="569" r:id="rId24"/>
    <p:sldId id="570" r:id="rId25"/>
    <p:sldId id="572" r:id="rId26"/>
    <p:sldId id="573" r:id="rId27"/>
    <p:sldId id="574" r:id="rId28"/>
    <p:sldId id="575" r:id="rId29"/>
    <p:sldId id="576" r:id="rId30"/>
    <p:sldId id="577" r:id="rId31"/>
    <p:sldId id="578" r:id="rId32"/>
    <p:sldId id="571" r:id="rId33"/>
    <p:sldId id="579" r:id="rId34"/>
    <p:sldId id="580" r:id="rId35"/>
    <p:sldId id="583" r:id="rId36"/>
    <p:sldId id="582" r:id="rId37"/>
    <p:sldId id="584" r:id="rId38"/>
    <p:sldId id="585" r:id="rId39"/>
    <p:sldId id="587" r:id="rId40"/>
    <p:sldId id="588" r:id="rId41"/>
    <p:sldId id="589" r:id="rId42"/>
    <p:sldId id="591" r:id="rId43"/>
    <p:sldId id="592" r:id="rId44"/>
    <p:sldId id="593" r:id="rId45"/>
    <p:sldId id="594" r:id="rId46"/>
    <p:sldId id="595" r:id="rId47"/>
    <p:sldId id="596" r:id="rId48"/>
    <p:sldId id="597" r:id="rId49"/>
    <p:sldId id="598" r:id="rId50"/>
    <p:sldId id="599" r:id="rId51"/>
    <p:sldId id="600" r:id="rId52"/>
    <p:sldId id="601" r:id="rId53"/>
    <p:sldId id="602" r:id="rId54"/>
    <p:sldId id="603" r:id="rId55"/>
    <p:sldId id="604" r:id="rId56"/>
    <p:sldId id="605" r:id="rId57"/>
    <p:sldId id="606" r:id="rId58"/>
    <p:sldId id="307" r:id="rId59"/>
    <p:sldId id="608" r:id="rId60"/>
    <p:sldId id="265" r:id="rId6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0000"/>
    <a:srgbClr val="F0265D"/>
    <a:srgbClr val="7C9ACC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21" autoAdjust="0"/>
    <p:restoredTop sz="94786" autoAdjust="0"/>
  </p:normalViewPr>
  <p:slideViewPr>
    <p:cSldViewPr snapToGrid="0" snapToObjects="1">
      <p:cViewPr varScale="1">
        <p:scale>
          <a:sx n="61" d="100"/>
          <a:sy n="61" d="100"/>
        </p:scale>
        <p:origin x="1476" y="42"/>
      </p:cViewPr>
      <p:guideLst>
        <p:guide pos="2880"/>
        <p:guide orient="horz" pos="2160"/>
      </p:guideLst>
    </p:cSldViewPr>
  </p:slideViewPr>
  <p:notesTextViewPr>
    <p:cViewPr>
      <p:scale>
        <a:sx n="20" d="100"/>
        <a:sy n="2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09/04/2024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4/9/2024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684C3EA-23B4-88D3-C810-17DDEE108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55A1CB-E51C-D8FA-4628-17C0158B5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901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799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419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812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70364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7004890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 Microcontroladores - MIC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16499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9061786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55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3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5"/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MECATRÔNICA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4" r:id="rId10"/>
    <p:sldLayoutId id="2147483756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784136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2022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m 2">
            <a:extLst>
              <a:ext uri="{FF2B5EF4-FFF2-40B4-BE49-F238E27FC236}">
                <a16:creationId xmlns:a16="http://schemas.microsoft.com/office/drawing/2014/main" id="{DB397901-B8D4-72B6-2BAC-AB6391BF5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8" t="999" r="12988"/>
          <a:stretch>
            <a:fillRect/>
          </a:stretch>
        </p:blipFill>
        <p:spPr bwMode="auto">
          <a:xfrm>
            <a:off x="0" y="0"/>
            <a:ext cx="91170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27 Electronic Pictures Download Free Images Stock Photos On Unsplash |  bbutton.com.br">
            <a:extLst>
              <a:ext uri="{FF2B5EF4-FFF2-40B4-BE49-F238E27FC236}">
                <a16:creationId xmlns:a16="http://schemas.microsoft.com/office/drawing/2014/main" id="{8D668B22-BDA2-E6E4-2011-3F3D7A348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"/>
            <a:ext cx="9144001" cy="390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Box 4">
            <a:extLst>
              <a:ext uri="{FF2B5EF4-FFF2-40B4-BE49-F238E27FC236}">
                <a16:creationId xmlns:a16="http://schemas.microsoft.com/office/drawing/2014/main" id="{22602D00-56F9-3355-26BD-455DA6650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19" y="4206898"/>
            <a:ext cx="7766136" cy="448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715963" indent="-904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altLang="pt-BR" sz="2400" b="1" dirty="0">
                <a:solidFill>
                  <a:srgbClr val="FF0000"/>
                </a:solidFill>
              </a:rPr>
              <a:t>	Computador NEANDER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2D2E858-A162-0693-D650-BF399C4FE0AC}"/>
              </a:ext>
            </a:extLst>
          </p:cNvPr>
          <p:cNvCxnSpPr/>
          <p:nvPr/>
        </p:nvCxnSpPr>
        <p:spPr>
          <a:xfrm>
            <a:off x="-1" y="3906078"/>
            <a:ext cx="914400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383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88D4C359-E0E1-207F-B21D-FD2BEBF993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013" t="14432" r="11140" b="7525"/>
          <a:stretch/>
        </p:blipFill>
        <p:spPr>
          <a:xfrm>
            <a:off x="1" y="83259"/>
            <a:ext cx="9144000" cy="6774741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0394A4C-D6AD-5118-F983-E9CC9C59A726}"/>
              </a:ext>
            </a:extLst>
          </p:cNvPr>
          <p:cNvSpPr txBox="1"/>
          <p:nvPr/>
        </p:nvSpPr>
        <p:spPr>
          <a:xfrm>
            <a:off x="295154" y="3904495"/>
            <a:ext cx="837428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5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Aspectos da organização do “processador”</a:t>
            </a:r>
          </a:p>
          <a:p>
            <a:r>
              <a:rPr lang="pt-BR" sz="5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hipotético NEANDER</a:t>
            </a:r>
          </a:p>
        </p:txBody>
      </p:sp>
    </p:spTree>
    <p:extLst>
      <p:ext uri="{BB962C8B-B14F-4D97-AF65-F5344CB8AC3E}">
        <p14:creationId xmlns:p14="http://schemas.microsoft.com/office/powerpoint/2010/main" val="1936686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500" b="1" u="none" dirty="0">
                <a:solidFill>
                  <a:schemeClr val="tx1"/>
                </a:solidFill>
              </a:rPr>
              <a:t>Elementos necessários (organização) do NEANDER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682F-A585-D3C1-8A3A-E6F74A6DE714}"/>
              </a:ext>
            </a:extLst>
          </p:cNvPr>
          <p:cNvSpPr txBox="1"/>
          <p:nvPr/>
        </p:nvSpPr>
        <p:spPr>
          <a:xfrm flipH="1">
            <a:off x="820971" y="1397919"/>
            <a:ext cx="7547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1"/>
                </a:solidFill>
              </a:rPr>
              <a:t>Para o organização do NEANDER, vamos precisar: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604CF687-5E00-AA2B-5A57-1006CA3486E4}"/>
              </a:ext>
            </a:extLst>
          </p:cNvPr>
          <p:cNvGrpSpPr/>
          <p:nvPr/>
        </p:nvGrpSpPr>
        <p:grpSpPr>
          <a:xfrm>
            <a:off x="5878399" y="2802814"/>
            <a:ext cx="3265601" cy="966360"/>
            <a:chOff x="5878399" y="2802814"/>
            <a:chExt cx="3265601" cy="966360"/>
          </a:xfrm>
        </p:grpSpPr>
        <p:sp>
          <p:nvSpPr>
            <p:cNvPr id="2" name="Seta: para Baixo 1">
              <a:extLst>
                <a:ext uri="{FF2B5EF4-FFF2-40B4-BE49-F238E27FC236}">
                  <a16:creationId xmlns:a16="http://schemas.microsoft.com/office/drawing/2014/main" id="{DEFAC5B9-E598-6624-0DC1-125C1498B8EF}"/>
                </a:ext>
              </a:extLst>
            </p:cNvPr>
            <p:cNvSpPr/>
            <p:nvPr/>
          </p:nvSpPr>
          <p:spPr>
            <a:xfrm rot="7811130">
              <a:off x="5906677" y="2774536"/>
              <a:ext cx="437322" cy="493877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30497C17-5184-F163-C349-3841831B4845}"/>
                </a:ext>
              </a:extLst>
            </p:cNvPr>
            <p:cNvSpPr txBox="1"/>
            <p:nvPr/>
          </p:nvSpPr>
          <p:spPr>
            <a:xfrm>
              <a:off x="6304364" y="3122843"/>
              <a:ext cx="28396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accent1"/>
                  </a:solidFill>
                </a:rPr>
                <a:t>Pois o PC é um registrador de incremento (0, 1, 2...)</a:t>
              </a:r>
            </a:p>
          </p:txBody>
        </p:sp>
      </p:grpSp>
      <p:sp>
        <p:nvSpPr>
          <p:cNvPr id="7" name="Rectangle 4">
            <a:extLst>
              <a:ext uri="{FF2B5EF4-FFF2-40B4-BE49-F238E27FC236}">
                <a16:creationId xmlns:a16="http://schemas.microsoft.com/office/drawing/2014/main" id="{E521B3E4-B8F8-014E-C557-625351CB1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086" y="1957729"/>
            <a:ext cx="7918211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AC: um registrador de 8 bits;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PC: um registrador de 8 bits (e mais um registrador-contador);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RST: um registrador de estado (dois </a:t>
            </a:r>
            <a:r>
              <a:rPr lang="pt-BR" altLang="pt-BR" u="none" dirty="0" err="1">
                <a:solidFill>
                  <a:schemeClr val="tx1"/>
                </a:solidFill>
              </a:rPr>
              <a:t>flip-flops</a:t>
            </a:r>
            <a:r>
              <a:rPr lang="pt-BR" altLang="pt-BR" u="none" dirty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Memória de 256 posições de 8 bits cada;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endParaRPr lang="pt-BR" altLang="pt-BR" sz="1800" b="1" u="none" dirty="0">
              <a:solidFill>
                <a:schemeClr val="accent1"/>
              </a:solidFill>
            </a:endParaRPr>
          </a:p>
          <a:p>
            <a:r>
              <a:rPr lang="pt-BR" altLang="pt-BR" b="1" u="none" dirty="0">
                <a:solidFill>
                  <a:schemeClr val="accent1"/>
                </a:solidFill>
              </a:rPr>
              <a:t>Para a fase de busca da instrução:</a:t>
            </a:r>
          </a:p>
          <a:p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RI: um registrador de instrução de 4 bits (ou 8 bits);</a:t>
            </a:r>
          </a:p>
          <a:p>
            <a:endParaRPr lang="pt-BR" altLang="pt-BR" u="none" dirty="0">
              <a:solidFill>
                <a:schemeClr val="tx1"/>
              </a:solidFill>
            </a:endParaRPr>
          </a:p>
          <a:p>
            <a:endParaRPr lang="pt-BR" altLang="pt-BR" u="none" dirty="0">
              <a:solidFill>
                <a:schemeClr val="tx1"/>
              </a:solidFill>
            </a:endParaRPr>
          </a:p>
          <a:p>
            <a:r>
              <a:rPr lang="pt-BR" altLang="pt-BR" sz="1600" b="1" u="none" dirty="0">
                <a:solidFill>
                  <a:schemeClr val="accent1"/>
                </a:solidFill>
              </a:rPr>
              <a:t>Para a fase de busca da instrução:</a:t>
            </a:r>
          </a:p>
          <a:p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REM: Registrador de Endereço da Memória (largura do endereço – 8 bits);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RDM: registrador de Dados da Memória (largura do dado – 8 bits).</a:t>
            </a:r>
          </a:p>
        </p:txBody>
      </p:sp>
    </p:spTree>
    <p:extLst>
      <p:ext uri="{BB962C8B-B14F-4D97-AF65-F5344CB8AC3E}">
        <p14:creationId xmlns:p14="http://schemas.microsoft.com/office/powerpoint/2010/main" val="1187129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500" b="1" u="none" dirty="0">
                <a:solidFill>
                  <a:schemeClr val="tx1"/>
                </a:solidFill>
              </a:rPr>
              <a:t>Elementos necessários (organização) do NEANDER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682F-A585-D3C1-8A3A-E6F74A6DE714}"/>
              </a:ext>
            </a:extLst>
          </p:cNvPr>
          <p:cNvSpPr txBox="1"/>
          <p:nvPr/>
        </p:nvSpPr>
        <p:spPr>
          <a:xfrm flipH="1">
            <a:off x="820971" y="1397919"/>
            <a:ext cx="7547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1"/>
                </a:solidFill>
              </a:rPr>
              <a:t>Para o organização do NEANDER, vamos precisar: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604CF687-5E00-AA2B-5A57-1006CA3486E4}"/>
              </a:ext>
            </a:extLst>
          </p:cNvPr>
          <p:cNvGrpSpPr/>
          <p:nvPr/>
        </p:nvGrpSpPr>
        <p:grpSpPr>
          <a:xfrm>
            <a:off x="5470895" y="3279895"/>
            <a:ext cx="3265601" cy="966360"/>
            <a:chOff x="5878399" y="2802814"/>
            <a:chExt cx="3265601" cy="966360"/>
          </a:xfrm>
        </p:grpSpPr>
        <p:sp>
          <p:nvSpPr>
            <p:cNvPr id="2" name="Seta: para Baixo 1">
              <a:extLst>
                <a:ext uri="{FF2B5EF4-FFF2-40B4-BE49-F238E27FC236}">
                  <a16:creationId xmlns:a16="http://schemas.microsoft.com/office/drawing/2014/main" id="{DEFAC5B9-E598-6624-0DC1-125C1498B8EF}"/>
                </a:ext>
              </a:extLst>
            </p:cNvPr>
            <p:cNvSpPr/>
            <p:nvPr/>
          </p:nvSpPr>
          <p:spPr>
            <a:xfrm rot="7811130">
              <a:off x="5906677" y="2774536"/>
              <a:ext cx="437322" cy="493877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30497C17-5184-F163-C349-3841831B4845}"/>
                </a:ext>
              </a:extLst>
            </p:cNvPr>
            <p:cNvSpPr txBox="1"/>
            <p:nvPr/>
          </p:nvSpPr>
          <p:spPr>
            <a:xfrm>
              <a:off x="6304364" y="3122843"/>
              <a:ext cx="28396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accent1"/>
                  </a:solidFill>
                </a:rPr>
                <a:t>Para os códigos de condição  Negativo (N) e o Zero (Z).</a:t>
              </a:r>
            </a:p>
          </p:txBody>
        </p:sp>
      </p:grpSp>
      <p:sp>
        <p:nvSpPr>
          <p:cNvPr id="7" name="Rectangle 4">
            <a:extLst>
              <a:ext uri="{FF2B5EF4-FFF2-40B4-BE49-F238E27FC236}">
                <a16:creationId xmlns:a16="http://schemas.microsoft.com/office/drawing/2014/main" id="{51A3BCD9-3D11-DF9C-A101-1DC41C62D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086" y="1957729"/>
            <a:ext cx="7918211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AC: um registrador de 8 bits;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PC: um registrador de 8 bits (e mais um registrador-contador);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RST: um registrador de estado (dois </a:t>
            </a:r>
            <a:r>
              <a:rPr lang="pt-BR" altLang="pt-BR" u="none" dirty="0" err="1">
                <a:solidFill>
                  <a:schemeClr val="tx1"/>
                </a:solidFill>
              </a:rPr>
              <a:t>flip-flops</a:t>
            </a:r>
            <a:r>
              <a:rPr lang="pt-BR" altLang="pt-BR" u="none" dirty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Memória de 256 posições de 8 bits cada;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endParaRPr lang="pt-BR" altLang="pt-BR" sz="1800" b="1" u="none" dirty="0">
              <a:solidFill>
                <a:schemeClr val="accent1"/>
              </a:solidFill>
            </a:endParaRPr>
          </a:p>
          <a:p>
            <a:r>
              <a:rPr lang="pt-BR" altLang="pt-BR" b="1" u="none" dirty="0">
                <a:solidFill>
                  <a:schemeClr val="accent1"/>
                </a:solidFill>
              </a:rPr>
              <a:t>Para a fase de busca da instrução:</a:t>
            </a:r>
          </a:p>
          <a:p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RI: um registrador de instrução de 4 bits (ou 8 bits);</a:t>
            </a:r>
          </a:p>
          <a:p>
            <a:endParaRPr lang="pt-BR" altLang="pt-BR" u="none" dirty="0">
              <a:solidFill>
                <a:schemeClr val="tx1"/>
              </a:solidFill>
            </a:endParaRPr>
          </a:p>
          <a:p>
            <a:endParaRPr lang="pt-BR" altLang="pt-BR" u="none" dirty="0">
              <a:solidFill>
                <a:schemeClr val="tx1"/>
              </a:solidFill>
            </a:endParaRPr>
          </a:p>
          <a:p>
            <a:r>
              <a:rPr lang="pt-BR" altLang="pt-BR" sz="1600" b="1" u="none" dirty="0">
                <a:solidFill>
                  <a:schemeClr val="accent1"/>
                </a:solidFill>
              </a:rPr>
              <a:t>Para a fase de busca da instrução:</a:t>
            </a:r>
          </a:p>
          <a:p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REM: Registrador de Endereço da Memória (largura do endereço – 8 bits);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RDM: registrador de Dados da Memória (largura do dado – 8 bits).</a:t>
            </a:r>
          </a:p>
        </p:txBody>
      </p:sp>
    </p:spTree>
    <p:extLst>
      <p:ext uri="{BB962C8B-B14F-4D97-AF65-F5344CB8AC3E}">
        <p14:creationId xmlns:p14="http://schemas.microsoft.com/office/powerpoint/2010/main" val="3664558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500" b="1" u="none" dirty="0">
                <a:solidFill>
                  <a:schemeClr val="tx1"/>
                </a:solidFill>
              </a:rPr>
              <a:t>Elementos necessários (organização) do NEANDER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682F-A585-D3C1-8A3A-E6F74A6DE714}"/>
              </a:ext>
            </a:extLst>
          </p:cNvPr>
          <p:cNvSpPr txBox="1"/>
          <p:nvPr/>
        </p:nvSpPr>
        <p:spPr>
          <a:xfrm flipH="1">
            <a:off x="820971" y="1397919"/>
            <a:ext cx="7547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1"/>
                </a:solidFill>
              </a:rPr>
              <a:t>Para o organização do NEANDER, vamos precisar: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38CB02F5-08A2-8E71-B32B-0736DB69ED02}"/>
              </a:ext>
            </a:extLst>
          </p:cNvPr>
          <p:cNvGrpSpPr/>
          <p:nvPr/>
        </p:nvGrpSpPr>
        <p:grpSpPr>
          <a:xfrm>
            <a:off x="4704773" y="3774168"/>
            <a:ext cx="3265601" cy="781694"/>
            <a:chOff x="4704773" y="3774168"/>
            <a:chExt cx="3265601" cy="781694"/>
          </a:xfrm>
        </p:grpSpPr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604CF687-5E00-AA2B-5A57-1006CA3486E4}"/>
                </a:ext>
              </a:extLst>
            </p:cNvPr>
            <p:cNvGrpSpPr/>
            <p:nvPr/>
          </p:nvGrpSpPr>
          <p:grpSpPr>
            <a:xfrm>
              <a:off x="4704773" y="3774168"/>
              <a:ext cx="3265601" cy="781694"/>
              <a:chOff x="5878399" y="2802814"/>
              <a:chExt cx="3265601" cy="781694"/>
            </a:xfrm>
          </p:grpSpPr>
          <p:sp>
            <p:nvSpPr>
              <p:cNvPr id="2" name="Seta: para Baixo 1">
                <a:extLst>
                  <a:ext uri="{FF2B5EF4-FFF2-40B4-BE49-F238E27FC236}">
                    <a16:creationId xmlns:a16="http://schemas.microsoft.com/office/drawing/2014/main" id="{DEFAC5B9-E598-6624-0DC1-125C1498B8EF}"/>
                  </a:ext>
                </a:extLst>
              </p:cNvPr>
              <p:cNvSpPr/>
              <p:nvPr/>
            </p:nvSpPr>
            <p:spPr>
              <a:xfrm rot="7811130">
                <a:off x="5906677" y="2774536"/>
                <a:ext cx="437322" cy="493877"/>
              </a:xfrm>
              <a:prstGeom prst="down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30497C17-5184-F163-C349-3841831B4845}"/>
                  </a:ext>
                </a:extLst>
              </p:cNvPr>
              <p:cNvSpPr txBox="1"/>
              <p:nvPr/>
            </p:nvSpPr>
            <p:spPr>
              <a:xfrm>
                <a:off x="6304364" y="3122843"/>
                <a:ext cx="28396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b="1" dirty="0">
                    <a:solidFill>
                      <a:schemeClr val="accent1"/>
                    </a:solidFill>
                  </a:rPr>
                  <a:t>2  = 256</a:t>
                </a:r>
              </a:p>
            </p:txBody>
          </p:sp>
        </p:grp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80BB198A-FE5A-260D-9620-571A52DB48A3}"/>
                </a:ext>
              </a:extLst>
            </p:cNvPr>
            <p:cNvSpPr txBox="1"/>
            <p:nvPr/>
          </p:nvSpPr>
          <p:spPr>
            <a:xfrm>
              <a:off x="5285435" y="4062097"/>
              <a:ext cx="6232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dirty="0">
                  <a:solidFill>
                    <a:schemeClr val="accent1"/>
                  </a:solidFill>
                </a:rPr>
                <a:t>8</a:t>
              </a:r>
            </a:p>
          </p:txBody>
        </p:sp>
      </p:grpSp>
      <p:sp>
        <p:nvSpPr>
          <p:cNvPr id="9" name="Rectangle 4">
            <a:extLst>
              <a:ext uri="{FF2B5EF4-FFF2-40B4-BE49-F238E27FC236}">
                <a16:creationId xmlns:a16="http://schemas.microsoft.com/office/drawing/2014/main" id="{B1B03C19-D454-36EB-DE12-9CF625B86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086" y="1957729"/>
            <a:ext cx="7918211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AC: um registrador de 8 bits;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PC: um registrador de 8 bits (e mais um registrador-contador);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RST: um registrador de estado (dois </a:t>
            </a:r>
            <a:r>
              <a:rPr lang="pt-BR" altLang="pt-BR" u="none" dirty="0" err="1">
                <a:solidFill>
                  <a:schemeClr val="tx1"/>
                </a:solidFill>
              </a:rPr>
              <a:t>flip-flops</a:t>
            </a:r>
            <a:r>
              <a:rPr lang="pt-BR" altLang="pt-BR" u="none" dirty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Memória de 256 posições de 8 bits cada;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endParaRPr lang="pt-BR" altLang="pt-BR" sz="1800" b="1" u="none" dirty="0">
              <a:solidFill>
                <a:schemeClr val="accent1"/>
              </a:solidFill>
            </a:endParaRPr>
          </a:p>
          <a:p>
            <a:r>
              <a:rPr lang="pt-BR" altLang="pt-BR" b="1" u="none" dirty="0">
                <a:solidFill>
                  <a:schemeClr val="accent1"/>
                </a:solidFill>
              </a:rPr>
              <a:t>Para a fase de busca da instrução:</a:t>
            </a:r>
          </a:p>
          <a:p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RI: um registrador de instrução de 4 bits (ou 8 bits);</a:t>
            </a:r>
          </a:p>
          <a:p>
            <a:endParaRPr lang="pt-BR" altLang="pt-BR" u="none" dirty="0">
              <a:solidFill>
                <a:schemeClr val="tx1"/>
              </a:solidFill>
            </a:endParaRPr>
          </a:p>
          <a:p>
            <a:endParaRPr lang="pt-BR" altLang="pt-BR" u="none" dirty="0">
              <a:solidFill>
                <a:schemeClr val="tx1"/>
              </a:solidFill>
            </a:endParaRPr>
          </a:p>
          <a:p>
            <a:r>
              <a:rPr lang="pt-BR" altLang="pt-BR" sz="1600" b="1" u="none" dirty="0">
                <a:solidFill>
                  <a:schemeClr val="accent1"/>
                </a:solidFill>
              </a:rPr>
              <a:t>Para a fase de busca da instrução:</a:t>
            </a:r>
          </a:p>
          <a:p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REM: Registrador de Endereço da Memória (largura do endereço – 8 bits);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RDM: registrador de Dados da Memória (largura do dado – 8 bits).</a:t>
            </a:r>
          </a:p>
        </p:txBody>
      </p:sp>
    </p:spTree>
    <p:extLst>
      <p:ext uri="{BB962C8B-B14F-4D97-AF65-F5344CB8AC3E}">
        <p14:creationId xmlns:p14="http://schemas.microsoft.com/office/powerpoint/2010/main" val="1196182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500" b="1" u="none" dirty="0">
                <a:solidFill>
                  <a:schemeClr val="tx1"/>
                </a:solidFill>
              </a:rPr>
              <a:t>Elementos necessários (organização) do NEANDER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682F-A585-D3C1-8A3A-E6F74A6DE714}"/>
              </a:ext>
            </a:extLst>
          </p:cNvPr>
          <p:cNvSpPr txBox="1"/>
          <p:nvPr/>
        </p:nvSpPr>
        <p:spPr>
          <a:xfrm flipH="1">
            <a:off x="820971" y="1397919"/>
            <a:ext cx="7547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1"/>
                </a:solidFill>
              </a:rPr>
              <a:t>Para o organização do NEANDER, vamos precisar: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604CF687-5E00-AA2B-5A57-1006CA3486E4}"/>
              </a:ext>
            </a:extLst>
          </p:cNvPr>
          <p:cNvGrpSpPr/>
          <p:nvPr/>
        </p:nvGrpSpPr>
        <p:grpSpPr>
          <a:xfrm>
            <a:off x="5996860" y="4195812"/>
            <a:ext cx="3047749" cy="1323439"/>
            <a:chOff x="5878399" y="2141093"/>
            <a:chExt cx="3047749" cy="1323439"/>
          </a:xfrm>
        </p:grpSpPr>
        <p:sp>
          <p:nvSpPr>
            <p:cNvPr id="2" name="Seta: para Baixo 1">
              <a:extLst>
                <a:ext uri="{FF2B5EF4-FFF2-40B4-BE49-F238E27FC236}">
                  <a16:creationId xmlns:a16="http://schemas.microsoft.com/office/drawing/2014/main" id="{DEFAC5B9-E598-6624-0DC1-125C1498B8EF}"/>
                </a:ext>
              </a:extLst>
            </p:cNvPr>
            <p:cNvSpPr/>
            <p:nvPr/>
          </p:nvSpPr>
          <p:spPr>
            <a:xfrm rot="5400000">
              <a:off x="5906677" y="2555875"/>
              <a:ext cx="437322" cy="493877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30497C17-5184-F163-C349-3841831B4845}"/>
                </a:ext>
              </a:extLst>
            </p:cNvPr>
            <p:cNvSpPr txBox="1"/>
            <p:nvPr/>
          </p:nvSpPr>
          <p:spPr>
            <a:xfrm>
              <a:off x="6455084" y="2141093"/>
              <a:ext cx="247106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b="1" dirty="0">
                  <a:solidFill>
                    <a:schemeClr val="accent1"/>
                  </a:solidFill>
                </a:rPr>
                <a:t>O NEANDER é um sistema que tem largura de dados de 8 bits. Mas lembre-se que utilizamos apenas 4 dos 8 bits na instrução!!!</a:t>
              </a:r>
            </a:p>
          </p:txBody>
        </p:sp>
      </p:grpSp>
      <p:sp>
        <p:nvSpPr>
          <p:cNvPr id="9" name="Rectangle 4">
            <a:extLst>
              <a:ext uri="{FF2B5EF4-FFF2-40B4-BE49-F238E27FC236}">
                <a16:creationId xmlns:a16="http://schemas.microsoft.com/office/drawing/2014/main" id="{72F1BDC2-8C35-B54A-3C80-30698CBE9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086" y="1957729"/>
            <a:ext cx="7918211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AC: um registrador de 8 bits;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PC: um registrador de 8 bits (e mais um registrador-contador);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RST: um registrador de estado (dois </a:t>
            </a:r>
            <a:r>
              <a:rPr lang="pt-BR" altLang="pt-BR" u="none" dirty="0" err="1">
                <a:solidFill>
                  <a:schemeClr val="tx1"/>
                </a:solidFill>
              </a:rPr>
              <a:t>flip-flops</a:t>
            </a:r>
            <a:r>
              <a:rPr lang="pt-BR" altLang="pt-BR" u="none" dirty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Memória de 256 posições de 8 bits cada;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endParaRPr lang="pt-BR" altLang="pt-BR" sz="1800" b="1" u="none" dirty="0">
              <a:solidFill>
                <a:schemeClr val="accent1"/>
              </a:solidFill>
            </a:endParaRPr>
          </a:p>
          <a:p>
            <a:r>
              <a:rPr lang="pt-BR" altLang="pt-BR" b="1" u="none" dirty="0">
                <a:solidFill>
                  <a:schemeClr val="accent1"/>
                </a:solidFill>
              </a:rPr>
              <a:t>Para a fase de busca da instrução:</a:t>
            </a:r>
          </a:p>
          <a:p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RI: um registrador de instrução de 4 bits (ou 8 bits);</a:t>
            </a:r>
          </a:p>
          <a:p>
            <a:endParaRPr lang="pt-BR" altLang="pt-BR" u="none" dirty="0">
              <a:solidFill>
                <a:schemeClr val="tx1"/>
              </a:solidFill>
            </a:endParaRPr>
          </a:p>
          <a:p>
            <a:endParaRPr lang="pt-BR" altLang="pt-BR" u="none" dirty="0">
              <a:solidFill>
                <a:schemeClr val="tx1"/>
              </a:solidFill>
            </a:endParaRPr>
          </a:p>
          <a:p>
            <a:r>
              <a:rPr lang="pt-BR" altLang="pt-BR" sz="1600" b="1" u="none" dirty="0">
                <a:solidFill>
                  <a:schemeClr val="accent1"/>
                </a:solidFill>
              </a:rPr>
              <a:t>Para a fase de busca da instrução:</a:t>
            </a:r>
          </a:p>
          <a:p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REM: Registrador de Endereço da Memória (largura do endereço – 8 bits);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RDM: registrador de Dados da Memória (largura do dado – 8 bits).</a:t>
            </a:r>
          </a:p>
        </p:txBody>
      </p:sp>
    </p:spTree>
    <p:extLst>
      <p:ext uri="{BB962C8B-B14F-4D97-AF65-F5344CB8AC3E}">
        <p14:creationId xmlns:p14="http://schemas.microsoft.com/office/powerpoint/2010/main" val="3432768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500" b="1" u="none" dirty="0">
                <a:solidFill>
                  <a:schemeClr val="tx1"/>
                </a:solidFill>
              </a:rPr>
              <a:t>Elementos necessários (organização) do NEANDER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682F-A585-D3C1-8A3A-E6F74A6DE714}"/>
              </a:ext>
            </a:extLst>
          </p:cNvPr>
          <p:cNvSpPr txBox="1"/>
          <p:nvPr/>
        </p:nvSpPr>
        <p:spPr>
          <a:xfrm flipH="1">
            <a:off x="820971" y="1397919"/>
            <a:ext cx="7547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1"/>
                </a:solidFill>
              </a:rPr>
              <a:t>Para o organização do NEANDER, vamos precisar: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A3FB91-4093-B471-8B49-C68D0D738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086" y="1957729"/>
            <a:ext cx="7918211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AC: um registrador de 8 bits;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PC: um registrador de 8 bits (e mais um registrador-contador);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RST: um registrador de estado (dois </a:t>
            </a:r>
            <a:r>
              <a:rPr lang="pt-BR" altLang="pt-BR" u="none" dirty="0" err="1">
                <a:solidFill>
                  <a:schemeClr val="tx1"/>
                </a:solidFill>
              </a:rPr>
              <a:t>flip-flops</a:t>
            </a:r>
            <a:r>
              <a:rPr lang="pt-BR" altLang="pt-BR" u="none" dirty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Memória de 256 posições de 8 bits cada;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endParaRPr lang="pt-BR" altLang="pt-BR" sz="1800" b="1" u="none" dirty="0">
              <a:solidFill>
                <a:schemeClr val="accent1"/>
              </a:solidFill>
            </a:endParaRPr>
          </a:p>
          <a:p>
            <a:r>
              <a:rPr lang="pt-BR" altLang="pt-BR" b="1" u="none" dirty="0">
                <a:solidFill>
                  <a:schemeClr val="accent1"/>
                </a:solidFill>
              </a:rPr>
              <a:t>Para a fase de busca da instrução:</a:t>
            </a:r>
          </a:p>
          <a:p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RI: um registrador de instrução de 4 bits (ou 8 bits);</a:t>
            </a:r>
          </a:p>
          <a:p>
            <a:endParaRPr lang="pt-BR" altLang="pt-BR" u="none" dirty="0">
              <a:solidFill>
                <a:schemeClr val="tx1"/>
              </a:solidFill>
            </a:endParaRPr>
          </a:p>
          <a:p>
            <a:endParaRPr lang="pt-BR" altLang="pt-BR" u="none" dirty="0">
              <a:solidFill>
                <a:schemeClr val="tx1"/>
              </a:solidFill>
            </a:endParaRPr>
          </a:p>
          <a:p>
            <a:r>
              <a:rPr lang="pt-BR" altLang="pt-BR" sz="1600" b="1" u="none" dirty="0">
                <a:solidFill>
                  <a:schemeClr val="accent1"/>
                </a:solidFill>
              </a:rPr>
              <a:t>Para a fase de busca da instrução:</a:t>
            </a:r>
          </a:p>
          <a:p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REM: Registrador de Endereço da Memória (largura do endereço – 8 bits);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RDM: registrador de Dados da Memória (largura do dado – 8 bits).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604CF687-5E00-AA2B-5A57-1006CA3486E4}"/>
              </a:ext>
            </a:extLst>
          </p:cNvPr>
          <p:cNvGrpSpPr/>
          <p:nvPr/>
        </p:nvGrpSpPr>
        <p:grpSpPr>
          <a:xfrm>
            <a:off x="5915807" y="4066604"/>
            <a:ext cx="2871209" cy="1803182"/>
            <a:chOff x="5797346" y="2011885"/>
            <a:chExt cx="2871209" cy="1803182"/>
          </a:xfrm>
        </p:grpSpPr>
        <p:sp>
          <p:nvSpPr>
            <p:cNvPr id="2" name="Seta: para Baixo 1">
              <a:extLst>
                <a:ext uri="{FF2B5EF4-FFF2-40B4-BE49-F238E27FC236}">
                  <a16:creationId xmlns:a16="http://schemas.microsoft.com/office/drawing/2014/main" id="{DEFAC5B9-E598-6624-0DC1-125C1498B8EF}"/>
                </a:ext>
              </a:extLst>
            </p:cNvPr>
            <p:cNvSpPr/>
            <p:nvPr/>
          </p:nvSpPr>
          <p:spPr>
            <a:xfrm rot="2432010">
              <a:off x="5797346" y="3321190"/>
              <a:ext cx="437322" cy="493877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30497C17-5184-F163-C349-3841831B4845}"/>
                </a:ext>
              </a:extLst>
            </p:cNvPr>
            <p:cNvSpPr txBox="1"/>
            <p:nvPr/>
          </p:nvSpPr>
          <p:spPr>
            <a:xfrm>
              <a:off x="6197491" y="2011885"/>
              <a:ext cx="247106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b="1" dirty="0">
                  <a:solidFill>
                    <a:schemeClr val="accent1"/>
                  </a:solidFill>
                </a:rPr>
                <a:t>Utilizamos 8 bits</a:t>
              </a:r>
              <a:r>
                <a:rPr lang="pt-BR" sz="1600" b="1">
                  <a:solidFill>
                    <a:schemeClr val="accent1"/>
                  </a:solidFill>
                </a:rPr>
                <a:t>, pois, </a:t>
              </a:r>
              <a:r>
                <a:rPr lang="pt-BR" sz="1600" b="1" dirty="0">
                  <a:solidFill>
                    <a:schemeClr val="accent1"/>
                  </a:solidFill>
                </a:rPr>
                <a:t>tanto a largura do endereço, quanto a largura de dados, no NEANDER, são de 8bits!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208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53548" y="730757"/>
            <a:ext cx="914399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Características do simulador Neander</a:t>
            </a:r>
          </a:p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200" b="1" u="none" dirty="0">
                <a:solidFill>
                  <a:schemeClr val="tx1"/>
                </a:solidFill>
              </a:rPr>
              <a:t>Arquitetura segundo a organização de memória.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557C5F4-F76D-5FA0-EFC2-EFB9D8FD31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834" y="1973923"/>
            <a:ext cx="6169525" cy="458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426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53548" y="730757"/>
            <a:ext cx="914399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Características do simulador Neander</a:t>
            </a:r>
          </a:p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200" b="1" u="none" dirty="0">
                <a:solidFill>
                  <a:schemeClr val="tx1"/>
                </a:solidFill>
              </a:rPr>
              <a:t>Arquitetura segundo a organização de memória.</a:t>
            </a:r>
          </a:p>
        </p:txBody>
      </p:sp>
      <p:pic>
        <p:nvPicPr>
          <p:cNvPr id="17" name="Picture 5" descr="Von Neumann vs Harvard"/>
          <p:cNvPicPr>
            <a:picLocks noGrp="1" noChangeAspect="1" noChangeArrowheads="1"/>
          </p:cNvPicPr>
          <p:nvPr>
            <p:ph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62" r="58752"/>
          <a:stretch/>
        </p:blipFill>
        <p:spPr bwMode="auto">
          <a:xfrm>
            <a:off x="677844" y="2822710"/>
            <a:ext cx="2904218" cy="2608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76F64DF-3056-A77D-A9BA-995D79FC794F}"/>
              </a:ext>
            </a:extLst>
          </p:cNvPr>
          <p:cNvSpPr txBox="1"/>
          <p:nvPr/>
        </p:nvSpPr>
        <p:spPr>
          <a:xfrm>
            <a:off x="335937" y="2023907"/>
            <a:ext cx="826140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pt-BR" altLang="pt-BR" sz="2200" b="1" dirty="0"/>
              <a:t>v</a:t>
            </a:r>
            <a:r>
              <a:rPr lang="pt-BR" altLang="pt-BR" sz="2200" b="1" u="none" dirty="0">
                <a:solidFill>
                  <a:schemeClr val="tx1"/>
                </a:solidFill>
              </a:rPr>
              <a:t>on Neumann </a:t>
            </a:r>
            <a:r>
              <a:rPr lang="pt-BR" altLang="pt-BR" sz="2200" b="1" i="1" u="none" dirty="0">
                <a:solidFill>
                  <a:schemeClr val="tx1"/>
                </a:solidFill>
              </a:rPr>
              <a:t>vs.</a:t>
            </a:r>
            <a:r>
              <a:rPr lang="pt-BR" altLang="pt-BR" sz="2200" b="1" u="none" dirty="0">
                <a:solidFill>
                  <a:schemeClr val="tx1"/>
                </a:solidFill>
              </a:rPr>
              <a:t> Harvard:</a:t>
            </a:r>
          </a:p>
        </p:txBody>
      </p:sp>
      <p:pic>
        <p:nvPicPr>
          <p:cNvPr id="4" name="Picture 5" descr="Von Neumann vs Harvard">
            <a:extLst>
              <a:ext uri="{FF2B5EF4-FFF2-40B4-BE49-F238E27FC236}">
                <a16:creationId xmlns:a16="http://schemas.microsoft.com/office/drawing/2014/main" id="{F2D97C9F-DDBC-43D1-D247-86BA789836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494" b="76620"/>
          <a:stretch/>
        </p:blipFill>
        <p:spPr bwMode="auto">
          <a:xfrm>
            <a:off x="2797864" y="5702423"/>
            <a:ext cx="3908070" cy="82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Von Neumann vs Harvard">
            <a:extLst>
              <a:ext uri="{FF2B5EF4-FFF2-40B4-BE49-F238E27FC236}">
                <a16:creationId xmlns:a16="http://schemas.microsoft.com/office/drawing/2014/main" id="{B410F2F6-2791-BB42-CA89-EDB1A1258B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3940"/>
          <a:stretch/>
        </p:blipFill>
        <p:spPr bwMode="auto">
          <a:xfrm>
            <a:off x="4945712" y="2620734"/>
            <a:ext cx="3520444" cy="269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6692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Nender 1"/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562727"/>
            <a:ext cx="6115050" cy="39481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250825" y="2189664"/>
            <a:ext cx="220662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dirty="0">
                <a:solidFill>
                  <a:schemeClr val="tx1"/>
                </a:solidFill>
              </a:rPr>
              <a:t>Memória de Programa</a:t>
            </a: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6877050" y="2189664"/>
            <a:ext cx="1900238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>
                <a:solidFill>
                  <a:schemeClr val="tx1"/>
                </a:solidFill>
              </a:rPr>
              <a:t>Memória de Dados</a:t>
            </a: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258888" y="2477002"/>
            <a:ext cx="433387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/>
          <a:lstStyle/>
          <a:p>
            <a:endParaRPr lang="pt-BR"/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 flipH="1">
            <a:off x="7524750" y="2477002"/>
            <a:ext cx="287338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/>
          <a:lstStyle/>
          <a:p>
            <a:endParaRPr lang="pt-BR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844826" y="772767"/>
            <a:ext cx="774258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sz="2400" b="1" u="none" dirty="0">
                <a:solidFill>
                  <a:schemeClr val="tx1"/>
                </a:solidFill>
              </a:rPr>
              <a:t>Qual o tipo de arquitetura do Neander segundo a organização de memória de dados e programas?</a:t>
            </a:r>
            <a:endParaRPr lang="pt-BR" altLang="pt-BR" sz="2400" u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997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1C63DF31-2B32-FAFF-CA93-F0A79910BDA3}"/>
              </a:ext>
            </a:extLst>
          </p:cNvPr>
          <p:cNvGrpSpPr/>
          <p:nvPr/>
        </p:nvGrpSpPr>
        <p:grpSpPr>
          <a:xfrm>
            <a:off x="844826" y="1772970"/>
            <a:ext cx="7742583" cy="4836690"/>
            <a:chOff x="844826" y="1772970"/>
            <a:chExt cx="7742583" cy="4836690"/>
          </a:xfrm>
        </p:grpSpPr>
        <p:sp>
          <p:nvSpPr>
            <p:cNvPr id="3" name="Rectangle 4"/>
            <p:cNvSpPr>
              <a:spLocks noChangeArrowheads="1"/>
            </p:cNvSpPr>
            <p:nvPr/>
          </p:nvSpPr>
          <p:spPr bwMode="auto">
            <a:xfrm>
              <a:off x="844826" y="1772970"/>
              <a:ext cx="7742583" cy="144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 u="sng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u="sng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u="sng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u="sng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u="sng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u="sng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u="sng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u="sng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u="sng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/>
              <a:r>
                <a:rPr lang="pt-BR" altLang="pt-BR" sz="2200" b="1" u="none" dirty="0">
                  <a:solidFill>
                    <a:schemeClr val="tx1"/>
                  </a:solidFill>
                </a:rPr>
                <a:t>Resposta: </a:t>
              </a:r>
              <a:r>
                <a:rPr lang="pt-BR" altLang="pt-BR" sz="2200" u="none" dirty="0">
                  <a:solidFill>
                    <a:schemeClr val="tx1"/>
                  </a:solidFill>
                </a:rPr>
                <a:t>Von Newman!!! Na verdade as duas colunas mostram o mesmo banco de memória, assim, </a:t>
              </a:r>
              <a:r>
                <a:rPr lang="pt-BR" altLang="pt-BR" sz="2200" u="none" dirty="0">
                  <a:solidFill>
                    <a:srgbClr val="FF0000"/>
                  </a:solidFill>
                </a:rPr>
                <a:t>tomem cuidado para não sobreporem ou usarem os mesmos endereços para código e programa!</a:t>
              </a:r>
            </a:p>
          </p:txBody>
        </p:sp>
        <p:pic>
          <p:nvPicPr>
            <p:cNvPr id="4" name="Picture 5" descr="Nender 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9232" y="3963298"/>
              <a:ext cx="4098925" cy="2646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Text Box 6"/>
            <p:cNvSpPr txBox="1">
              <a:spLocks noChangeArrowheads="1"/>
            </p:cNvSpPr>
            <p:nvPr/>
          </p:nvSpPr>
          <p:spPr bwMode="auto">
            <a:xfrm>
              <a:off x="1284769" y="3729935"/>
              <a:ext cx="2206625" cy="290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bIns="0">
              <a:spAutoFit/>
            </a:bodyPr>
            <a:lstStyle>
              <a:lvl1pPr>
                <a:defRPr sz="1600" u="sng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u="sng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u="sng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u="sng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u="sng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u="sng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u="sng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u="sng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u="sng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>
                  <a:solidFill>
                    <a:schemeClr val="tx1"/>
                  </a:solidFill>
                </a:rPr>
                <a:t>Memória de Programa</a:t>
              </a:r>
            </a:p>
          </p:txBody>
        </p:sp>
        <p:sp>
          <p:nvSpPr>
            <p:cNvPr id="6" name="Text Box 7"/>
            <p:cNvSpPr txBox="1">
              <a:spLocks noChangeArrowheads="1"/>
            </p:cNvSpPr>
            <p:nvPr/>
          </p:nvSpPr>
          <p:spPr bwMode="auto">
            <a:xfrm>
              <a:off x="6083782" y="3656910"/>
              <a:ext cx="1900237" cy="290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bIns="0">
              <a:spAutoFit/>
            </a:bodyPr>
            <a:lstStyle>
              <a:lvl1pPr>
                <a:defRPr sz="1600" u="sng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u="sng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u="sng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u="sng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u="sng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u="sng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u="sng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u="sng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u="sng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>
                  <a:solidFill>
                    <a:schemeClr val="tx1"/>
                  </a:solidFill>
                </a:rPr>
                <a:t>Memória de Dados</a:t>
              </a:r>
            </a:p>
          </p:txBody>
        </p:sp>
        <p:sp>
          <p:nvSpPr>
            <p:cNvPr id="7" name="Line 8"/>
            <p:cNvSpPr>
              <a:spLocks noChangeShapeType="1"/>
            </p:cNvSpPr>
            <p:nvPr/>
          </p:nvSpPr>
          <p:spPr bwMode="auto">
            <a:xfrm>
              <a:off x="2292832" y="4017273"/>
              <a:ext cx="433387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bIns="0"/>
            <a:lstStyle/>
            <a:p>
              <a:endParaRPr lang="pt-BR"/>
            </a:p>
          </p:txBody>
        </p:sp>
        <p:sp>
          <p:nvSpPr>
            <p:cNvPr id="8" name="Line 9"/>
            <p:cNvSpPr>
              <a:spLocks noChangeShapeType="1"/>
            </p:cNvSpPr>
            <p:nvPr/>
          </p:nvSpPr>
          <p:spPr bwMode="auto">
            <a:xfrm flipH="1">
              <a:off x="6731482" y="3944248"/>
              <a:ext cx="287337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bIns="0"/>
            <a:lstStyle/>
            <a:p>
              <a:endParaRPr lang="pt-BR"/>
            </a:p>
          </p:txBody>
        </p:sp>
      </p:grpSp>
      <p:sp>
        <p:nvSpPr>
          <p:cNvPr id="2" name="Rectangle 10">
            <a:extLst>
              <a:ext uri="{FF2B5EF4-FFF2-40B4-BE49-F238E27FC236}">
                <a16:creationId xmlns:a16="http://schemas.microsoft.com/office/drawing/2014/main" id="{82A6C76D-881E-BC18-BFF7-1B4CC173D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826" y="772767"/>
            <a:ext cx="774258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sz="2400" b="1" u="none" dirty="0">
                <a:solidFill>
                  <a:schemeClr val="tx1"/>
                </a:solidFill>
              </a:rPr>
              <a:t>Qual o tipo de arquitetura do Neander segundo a organização de memória de dados e programas?</a:t>
            </a:r>
            <a:endParaRPr lang="pt-BR" altLang="pt-BR" sz="2400" u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194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dividuelle Programmierung - eDaktik - Moodle Partner">
            <a:extLst>
              <a:ext uri="{FF2B5EF4-FFF2-40B4-BE49-F238E27FC236}">
                <a16:creationId xmlns:a16="http://schemas.microsoft.com/office/drawing/2014/main" id="{27F3CC56-B3F7-C404-3719-8673628C9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0394A4C-D6AD-5118-F983-E9CC9C59A726}"/>
              </a:ext>
            </a:extLst>
          </p:cNvPr>
          <p:cNvSpPr txBox="1"/>
          <p:nvPr/>
        </p:nvSpPr>
        <p:spPr>
          <a:xfrm>
            <a:off x="295154" y="3904495"/>
            <a:ext cx="837428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5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Programação no processador hipotético  NEANDER</a:t>
            </a:r>
          </a:p>
        </p:txBody>
      </p:sp>
    </p:spTree>
    <p:extLst>
      <p:ext uri="{BB962C8B-B14F-4D97-AF65-F5344CB8AC3E}">
        <p14:creationId xmlns:p14="http://schemas.microsoft.com/office/powerpoint/2010/main" val="245466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Download do simulador </a:t>
            </a:r>
            <a:r>
              <a:rPr lang="pt-BR" altLang="pt-BR" sz="2800" b="1" u="none" dirty="0" err="1">
                <a:solidFill>
                  <a:srgbClr val="FF0000"/>
                </a:solidFill>
              </a:rPr>
              <a:t>Neander</a:t>
            </a:r>
            <a:endParaRPr lang="pt-BR" altLang="pt-BR" sz="2800" b="1" u="none" dirty="0">
              <a:solidFill>
                <a:srgbClr val="FF0000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9AAF911-F0DF-B04D-95ED-2B073F7572D0}"/>
              </a:ext>
            </a:extLst>
          </p:cNvPr>
          <p:cNvSpPr txBox="1"/>
          <p:nvPr/>
        </p:nvSpPr>
        <p:spPr>
          <a:xfrm>
            <a:off x="725556" y="1899957"/>
            <a:ext cx="7692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https://www.inf.ufrgs.br/arq/wiki/doku.php?id=neander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A1DA405-223F-FEF2-81B2-AED5D5D6F4B0}"/>
              </a:ext>
            </a:extLst>
          </p:cNvPr>
          <p:cNvSpPr txBox="1"/>
          <p:nvPr/>
        </p:nvSpPr>
        <p:spPr>
          <a:xfrm>
            <a:off x="725556" y="1392301"/>
            <a:ext cx="188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Acesse: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E37E787-A977-A655-AF23-36AF36E9B0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06" b="5991"/>
          <a:stretch/>
        </p:blipFill>
        <p:spPr>
          <a:xfrm>
            <a:off x="986693" y="2452395"/>
            <a:ext cx="7739864" cy="3935896"/>
          </a:xfrm>
          <a:prstGeom prst="rect">
            <a:avLst/>
          </a:prstGeom>
        </p:spPr>
      </p:pic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843E213B-4B14-02AA-C03F-DCC4B00B451C}"/>
              </a:ext>
            </a:extLst>
          </p:cNvPr>
          <p:cNvSpPr/>
          <p:nvPr/>
        </p:nvSpPr>
        <p:spPr>
          <a:xfrm rot="10800000">
            <a:off x="4482548" y="4813085"/>
            <a:ext cx="546652" cy="40011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18203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Simulador </a:t>
            </a:r>
            <a:r>
              <a:rPr lang="pt-BR" altLang="pt-BR" sz="2800" b="1" u="none" dirty="0" err="1">
                <a:solidFill>
                  <a:srgbClr val="FF0000"/>
                </a:solidFill>
              </a:rPr>
              <a:t>Neander</a:t>
            </a:r>
            <a:endParaRPr lang="pt-BR" altLang="pt-BR" sz="2800" b="1" u="none" dirty="0">
              <a:solidFill>
                <a:srgbClr val="FF0000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44F4347-D5C1-DFE0-7F14-C24B26E71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970" y="1083469"/>
            <a:ext cx="1423943" cy="4691062"/>
          </a:xfrm>
          <a:prstGeom prst="rect">
            <a:avLst/>
          </a:prstGeom>
        </p:spPr>
      </p:pic>
      <p:pic>
        <p:nvPicPr>
          <p:cNvPr id="11" name="Picture 5" descr="Nender 1">
            <a:extLst>
              <a:ext uri="{FF2B5EF4-FFF2-40B4-BE49-F238E27FC236}">
                <a16:creationId xmlns:a16="http://schemas.microsoft.com/office/drawing/2014/main" id="{89D64382-87EA-5937-55AA-5BDD0996D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74" y="2265037"/>
            <a:ext cx="5004546" cy="3231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" name="Agrupar 18">
            <a:extLst>
              <a:ext uri="{FF2B5EF4-FFF2-40B4-BE49-F238E27FC236}">
                <a16:creationId xmlns:a16="http://schemas.microsoft.com/office/drawing/2014/main" id="{9F8BA59A-71EA-C8DD-FE0C-5C10378E2916}"/>
              </a:ext>
            </a:extLst>
          </p:cNvPr>
          <p:cNvGrpSpPr/>
          <p:nvPr/>
        </p:nvGrpSpPr>
        <p:grpSpPr>
          <a:xfrm>
            <a:off x="274269" y="1772928"/>
            <a:ext cx="2186608" cy="924592"/>
            <a:chOff x="853548" y="1420641"/>
            <a:chExt cx="2186608" cy="924592"/>
          </a:xfrm>
        </p:grpSpPr>
        <p:sp>
          <p:nvSpPr>
            <p:cNvPr id="16" name="Seta: para Baixo 15">
              <a:extLst>
                <a:ext uri="{FF2B5EF4-FFF2-40B4-BE49-F238E27FC236}">
                  <a16:creationId xmlns:a16="http://schemas.microsoft.com/office/drawing/2014/main" id="{E3B01312-50C4-A834-530E-DE9EB9EF8345}"/>
                </a:ext>
              </a:extLst>
            </p:cNvPr>
            <p:cNvSpPr/>
            <p:nvPr/>
          </p:nvSpPr>
          <p:spPr>
            <a:xfrm>
              <a:off x="1232452" y="1822013"/>
              <a:ext cx="1003852" cy="523220"/>
            </a:xfrm>
            <a:prstGeom prst="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EC928E94-5DC1-5DA0-1A9B-83FA2939665E}"/>
                </a:ext>
              </a:extLst>
            </p:cNvPr>
            <p:cNvSpPr txBox="1"/>
            <p:nvPr/>
          </p:nvSpPr>
          <p:spPr>
            <a:xfrm>
              <a:off x="853548" y="1420641"/>
              <a:ext cx="21866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rgbClr val="FF0000"/>
                  </a:solidFill>
                </a:rPr>
                <a:t>Endereço 0 até 127</a:t>
              </a: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F783C019-FA67-AF4F-807B-C55214F2F7FE}"/>
              </a:ext>
            </a:extLst>
          </p:cNvPr>
          <p:cNvGrpSpPr/>
          <p:nvPr/>
        </p:nvGrpSpPr>
        <p:grpSpPr>
          <a:xfrm>
            <a:off x="3810000" y="1712004"/>
            <a:ext cx="2416963" cy="924592"/>
            <a:chOff x="623193" y="1420641"/>
            <a:chExt cx="2416963" cy="924592"/>
          </a:xfrm>
        </p:grpSpPr>
        <p:sp>
          <p:nvSpPr>
            <p:cNvPr id="21" name="Seta: para Baixo 20">
              <a:extLst>
                <a:ext uri="{FF2B5EF4-FFF2-40B4-BE49-F238E27FC236}">
                  <a16:creationId xmlns:a16="http://schemas.microsoft.com/office/drawing/2014/main" id="{EC041A5F-CDE2-EF10-3627-1FB14EE7FEBA}"/>
                </a:ext>
              </a:extLst>
            </p:cNvPr>
            <p:cNvSpPr/>
            <p:nvPr/>
          </p:nvSpPr>
          <p:spPr>
            <a:xfrm>
              <a:off x="1232452" y="1822013"/>
              <a:ext cx="1003852" cy="523220"/>
            </a:xfrm>
            <a:prstGeom prst="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36AF0C13-9DCF-D942-46EE-A4A7656440F1}"/>
                </a:ext>
              </a:extLst>
            </p:cNvPr>
            <p:cNvSpPr txBox="1"/>
            <p:nvPr/>
          </p:nvSpPr>
          <p:spPr>
            <a:xfrm>
              <a:off x="623193" y="1420641"/>
              <a:ext cx="24169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rgbClr val="FF0000"/>
                  </a:solidFill>
                </a:rPr>
                <a:t>Endereço 128 até 255</a:t>
              </a:r>
            </a:p>
          </p:txBody>
        </p:sp>
      </p:grpSp>
      <p:sp>
        <p:nvSpPr>
          <p:cNvPr id="24" name="Chave Esquerda 23">
            <a:extLst>
              <a:ext uri="{FF2B5EF4-FFF2-40B4-BE49-F238E27FC236}">
                <a16:creationId xmlns:a16="http://schemas.microsoft.com/office/drawing/2014/main" id="{4BD0136D-1D21-2042-11C1-897B25FFF6C5}"/>
              </a:ext>
            </a:extLst>
          </p:cNvPr>
          <p:cNvSpPr/>
          <p:nvPr/>
        </p:nvSpPr>
        <p:spPr>
          <a:xfrm>
            <a:off x="6891476" y="1313188"/>
            <a:ext cx="508000" cy="2232651"/>
          </a:xfrm>
          <a:prstGeom prst="leftBrace">
            <a:avLst/>
          </a:prstGeom>
          <a:ln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have Esquerda 24">
            <a:extLst>
              <a:ext uri="{FF2B5EF4-FFF2-40B4-BE49-F238E27FC236}">
                <a16:creationId xmlns:a16="http://schemas.microsoft.com/office/drawing/2014/main" id="{84084F5E-650F-03D7-8F6A-1F98FF711BA3}"/>
              </a:ext>
            </a:extLst>
          </p:cNvPr>
          <p:cNvSpPr/>
          <p:nvPr/>
        </p:nvSpPr>
        <p:spPr>
          <a:xfrm>
            <a:off x="6891476" y="3545839"/>
            <a:ext cx="508000" cy="2165241"/>
          </a:xfrm>
          <a:prstGeom prst="leftBrace">
            <a:avLst/>
          </a:prstGeom>
          <a:ln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6FB7232A-3A82-03AF-FC95-5FD4D2E23ECB}"/>
              </a:ext>
            </a:extLst>
          </p:cNvPr>
          <p:cNvSpPr txBox="1"/>
          <p:nvPr/>
        </p:nvSpPr>
        <p:spPr>
          <a:xfrm>
            <a:off x="653173" y="1349168"/>
            <a:ext cx="6011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Uma única memória de 256 posições (endereços) x 8 bits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7694932-2A14-9709-D5D9-466DB4406271}"/>
              </a:ext>
            </a:extLst>
          </p:cNvPr>
          <p:cNvSpPr txBox="1"/>
          <p:nvPr/>
        </p:nvSpPr>
        <p:spPr>
          <a:xfrm>
            <a:off x="188324" y="5806571"/>
            <a:ext cx="82093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ATENÇÃO:</a:t>
            </a:r>
            <a:r>
              <a:rPr lang="pt-BR" dirty="0"/>
              <a:t> Se escrever, por exemplo, na posição 130 na suposta “primeira parte” da memória, com é uma única memória, a mesma informação estará na posição 130 na suposta “segunda parte” da memória</a:t>
            </a:r>
          </a:p>
        </p:txBody>
      </p:sp>
    </p:spTree>
    <p:extLst>
      <p:ext uri="{BB962C8B-B14F-4D97-AF65-F5344CB8AC3E}">
        <p14:creationId xmlns:p14="http://schemas.microsoft.com/office/powerpoint/2010/main" val="957721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Simulador </a:t>
            </a:r>
            <a:r>
              <a:rPr lang="pt-BR" altLang="pt-BR" sz="2800" b="1" u="none" dirty="0" err="1">
                <a:solidFill>
                  <a:srgbClr val="FF0000"/>
                </a:solidFill>
              </a:rPr>
              <a:t>Neander</a:t>
            </a:r>
            <a:endParaRPr lang="pt-BR" altLang="pt-BR" sz="2800" b="1" u="none" dirty="0">
              <a:solidFill>
                <a:srgbClr val="FF0000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44F4347-D5C1-DFE0-7F14-C24B26E71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970" y="1083469"/>
            <a:ext cx="1423943" cy="4691062"/>
          </a:xfrm>
          <a:prstGeom prst="rect">
            <a:avLst/>
          </a:prstGeom>
        </p:spPr>
      </p:pic>
      <p:pic>
        <p:nvPicPr>
          <p:cNvPr id="11" name="Picture 5" descr="Nender 1">
            <a:extLst>
              <a:ext uri="{FF2B5EF4-FFF2-40B4-BE49-F238E27FC236}">
                <a16:creationId xmlns:a16="http://schemas.microsoft.com/office/drawing/2014/main" id="{89D64382-87EA-5937-55AA-5BDD0996D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74" y="2265037"/>
            <a:ext cx="5004546" cy="3231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" name="Agrupar 18">
            <a:extLst>
              <a:ext uri="{FF2B5EF4-FFF2-40B4-BE49-F238E27FC236}">
                <a16:creationId xmlns:a16="http://schemas.microsoft.com/office/drawing/2014/main" id="{9F8BA59A-71EA-C8DD-FE0C-5C10378E2916}"/>
              </a:ext>
            </a:extLst>
          </p:cNvPr>
          <p:cNvGrpSpPr/>
          <p:nvPr/>
        </p:nvGrpSpPr>
        <p:grpSpPr>
          <a:xfrm>
            <a:off x="109476" y="1772928"/>
            <a:ext cx="2186608" cy="924592"/>
            <a:chOff x="688755" y="1420641"/>
            <a:chExt cx="2186608" cy="924592"/>
          </a:xfrm>
        </p:grpSpPr>
        <p:sp>
          <p:nvSpPr>
            <p:cNvPr id="16" name="Seta: para Baixo 15">
              <a:extLst>
                <a:ext uri="{FF2B5EF4-FFF2-40B4-BE49-F238E27FC236}">
                  <a16:creationId xmlns:a16="http://schemas.microsoft.com/office/drawing/2014/main" id="{E3B01312-50C4-A834-530E-DE9EB9EF8345}"/>
                </a:ext>
              </a:extLst>
            </p:cNvPr>
            <p:cNvSpPr/>
            <p:nvPr/>
          </p:nvSpPr>
          <p:spPr>
            <a:xfrm>
              <a:off x="1232452" y="1822013"/>
              <a:ext cx="1003852" cy="523220"/>
            </a:xfrm>
            <a:prstGeom prst="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EC928E94-5DC1-5DA0-1A9B-83FA2939665E}"/>
                </a:ext>
              </a:extLst>
            </p:cNvPr>
            <p:cNvSpPr txBox="1"/>
            <p:nvPr/>
          </p:nvSpPr>
          <p:spPr>
            <a:xfrm>
              <a:off x="688755" y="1420641"/>
              <a:ext cx="21866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rgbClr val="FF0000"/>
                  </a:solidFill>
                </a:rPr>
                <a:t>“Programa”</a:t>
              </a: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F783C019-FA67-AF4F-807B-C55214F2F7FE}"/>
              </a:ext>
            </a:extLst>
          </p:cNvPr>
          <p:cNvGrpSpPr/>
          <p:nvPr/>
        </p:nvGrpSpPr>
        <p:grpSpPr>
          <a:xfrm>
            <a:off x="3827881" y="1712004"/>
            <a:ext cx="2186608" cy="924592"/>
            <a:chOff x="641074" y="1420641"/>
            <a:chExt cx="2186608" cy="924592"/>
          </a:xfrm>
        </p:grpSpPr>
        <p:sp>
          <p:nvSpPr>
            <p:cNvPr id="21" name="Seta: para Baixo 20">
              <a:extLst>
                <a:ext uri="{FF2B5EF4-FFF2-40B4-BE49-F238E27FC236}">
                  <a16:creationId xmlns:a16="http://schemas.microsoft.com/office/drawing/2014/main" id="{EC041A5F-CDE2-EF10-3627-1FB14EE7FEBA}"/>
                </a:ext>
              </a:extLst>
            </p:cNvPr>
            <p:cNvSpPr/>
            <p:nvPr/>
          </p:nvSpPr>
          <p:spPr>
            <a:xfrm>
              <a:off x="1232452" y="1822013"/>
              <a:ext cx="1003852" cy="523220"/>
            </a:xfrm>
            <a:prstGeom prst="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36AF0C13-9DCF-D942-46EE-A4A7656440F1}"/>
                </a:ext>
              </a:extLst>
            </p:cNvPr>
            <p:cNvSpPr txBox="1"/>
            <p:nvPr/>
          </p:nvSpPr>
          <p:spPr>
            <a:xfrm>
              <a:off x="641074" y="1420641"/>
              <a:ext cx="21866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rgbClr val="FF0000"/>
                  </a:solidFill>
                </a:rPr>
                <a:t>“Dados”</a:t>
              </a:r>
            </a:p>
          </p:txBody>
        </p:sp>
      </p:grpSp>
      <p:sp>
        <p:nvSpPr>
          <p:cNvPr id="24" name="Chave Esquerda 23">
            <a:extLst>
              <a:ext uri="{FF2B5EF4-FFF2-40B4-BE49-F238E27FC236}">
                <a16:creationId xmlns:a16="http://schemas.microsoft.com/office/drawing/2014/main" id="{4BD0136D-1D21-2042-11C1-897B25FFF6C5}"/>
              </a:ext>
            </a:extLst>
          </p:cNvPr>
          <p:cNvSpPr/>
          <p:nvPr/>
        </p:nvSpPr>
        <p:spPr>
          <a:xfrm>
            <a:off x="6891476" y="1313188"/>
            <a:ext cx="508000" cy="2232651"/>
          </a:xfrm>
          <a:prstGeom prst="leftBrace">
            <a:avLst/>
          </a:prstGeom>
          <a:ln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have Esquerda 24">
            <a:extLst>
              <a:ext uri="{FF2B5EF4-FFF2-40B4-BE49-F238E27FC236}">
                <a16:creationId xmlns:a16="http://schemas.microsoft.com/office/drawing/2014/main" id="{84084F5E-650F-03D7-8F6A-1F98FF711BA3}"/>
              </a:ext>
            </a:extLst>
          </p:cNvPr>
          <p:cNvSpPr/>
          <p:nvPr/>
        </p:nvSpPr>
        <p:spPr>
          <a:xfrm>
            <a:off x="6891476" y="3545839"/>
            <a:ext cx="508000" cy="2165241"/>
          </a:xfrm>
          <a:prstGeom prst="leftBrace">
            <a:avLst/>
          </a:prstGeom>
          <a:ln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6FB7232A-3A82-03AF-FC95-5FD4D2E23ECB}"/>
              </a:ext>
            </a:extLst>
          </p:cNvPr>
          <p:cNvSpPr txBox="1"/>
          <p:nvPr/>
        </p:nvSpPr>
        <p:spPr>
          <a:xfrm>
            <a:off x="653173" y="1349168"/>
            <a:ext cx="6011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Para uma melhor didática “consideramos”: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3A5A005-C969-DB6D-1D23-FA39BC7782CF}"/>
              </a:ext>
            </a:extLst>
          </p:cNvPr>
          <p:cNvSpPr txBox="1"/>
          <p:nvPr/>
        </p:nvSpPr>
        <p:spPr>
          <a:xfrm rot="16200000">
            <a:off x="5997369" y="2185250"/>
            <a:ext cx="131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“Programa”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D2ED3D1-FA41-C5AF-5847-6771D5F46E85}"/>
              </a:ext>
            </a:extLst>
          </p:cNvPr>
          <p:cNvSpPr txBox="1"/>
          <p:nvPr/>
        </p:nvSpPr>
        <p:spPr>
          <a:xfrm rot="16200000">
            <a:off x="6009640" y="4322475"/>
            <a:ext cx="131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“Dados”</a:t>
            </a:r>
          </a:p>
        </p:txBody>
      </p:sp>
    </p:spTree>
    <p:extLst>
      <p:ext uri="{BB962C8B-B14F-4D97-AF65-F5344CB8AC3E}">
        <p14:creationId xmlns:p14="http://schemas.microsoft.com/office/powerpoint/2010/main" val="2058143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Simulador </a:t>
            </a:r>
            <a:r>
              <a:rPr lang="pt-BR" altLang="pt-BR" sz="2800" b="1" u="none" dirty="0" err="1">
                <a:solidFill>
                  <a:srgbClr val="FF0000"/>
                </a:solidFill>
              </a:rPr>
              <a:t>Neander</a:t>
            </a:r>
            <a:endParaRPr lang="pt-BR" altLang="pt-BR" sz="2800" b="1" u="none" dirty="0">
              <a:solidFill>
                <a:srgbClr val="FF0000"/>
              </a:solidFill>
            </a:endParaRPr>
          </a:p>
        </p:txBody>
      </p:sp>
      <p:pic>
        <p:nvPicPr>
          <p:cNvPr id="11" name="Picture 5" descr="Nender 1">
            <a:extLst>
              <a:ext uri="{FF2B5EF4-FFF2-40B4-BE49-F238E27FC236}">
                <a16:creationId xmlns:a16="http://schemas.microsoft.com/office/drawing/2014/main" id="{89D64382-87EA-5937-55AA-5BDD0996D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854" y="1462397"/>
            <a:ext cx="7225336" cy="4664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7F3C3171-A2B5-8AA2-A191-EDCCD4E98921}"/>
              </a:ext>
            </a:extLst>
          </p:cNvPr>
          <p:cNvSpPr/>
          <p:nvPr/>
        </p:nvSpPr>
        <p:spPr>
          <a:xfrm>
            <a:off x="3312160" y="4297680"/>
            <a:ext cx="1402080" cy="2235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9BECB207-41AD-F039-FEC4-21F5B2E6CFBE}"/>
              </a:ext>
            </a:extLst>
          </p:cNvPr>
          <p:cNvSpPr/>
          <p:nvPr/>
        </p:nvSpPr>
        <p:spPr>
          <a:xfrm>
            <a:off x="1609725" y="4064000"/>
            <a:ext cx="1602089" cy="69088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Mnemônicos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C531BFA-A1ED-8ED6-6587-0BE25AB676DE}"/>
              </a:ext>
            </a:extLst>
          </p:cNvPr>
          <p:cNvSpPr/>
          <p:nvPr/>
        </p:nvSpPr>
        <p:spPr>
          <a:xfrm>
            <a:off x="3373120" y="4572000"/>
            <a:ext cx="452120" cy="8134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A35BC16-4EE7-7C5A-D95B-81B5A803E5C9}"/>
              </a:ext>
            </a:extLst>
          </p:cNvPr>
          <p:cNvSpPr/>
          <p:nvPr/>
        </p:nvSpPr>
        <p:spPr>
          <a:xfrm>
            <a:off x="4649486" y="4571999"/>
            <a:ext cx="452120" cy="8134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D1173EA-FE93-FD97-654A-3CC2FF1B2065}"/>
              </a:ext>
            </a:extLst>
          </p:cNvPr>
          <p:cNvSpPr/>
          <p:nvPr/>
        </p:nvSpPr>
        <p:spPr>
          <a:xfrm>
            <a:off x="5853446" y="4582160"/>
            <a:ext cx="452120" cy="8134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43792F3-B8FF-3382-A42A-C80B421D751F}"/>
              </a:ext>
            </a:extLst>
          </p:cNvPr>
          <p:cNvSpPr txBox="1"/>
          <p:nvPr/>
        </p:nvSpPr>
        <p:spPr>
          <a:xfrm>
            <a:off x="1183219" y="6295264"/>
            <a:ext cx="7062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B0F0"/>
                </a:solidFill>
              </a:rPr>
              <a:t>Não escrevemos os Mnemônicos e sim os números em decimal a direita.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D9ED018-293C-973D-612B-75B4975A9287}"/>
              </a:ext>
            </a:extLst>
          </p:cNvPr>
          <p:cNvSpPr/>
          <p:nvPr/>
        </p:nvSpPr>
        <p:spPr>
          <a:xfrm>
            <a:off x="3855057" y="4572000"/>
            <a:ext cx="468465" cy="813442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74B5A9D-8CBD-B2A0-50E3-B127A8518767}"/>
              </a:ext>
            </a:extLst>
          </p:cNvPr>
          <p:cNvSpPr/>
          <p:nvPr/>
        </p:nvSpPr>
        <p:spPr>
          <a:xfrm>
            <a:off x="5118540" y="4573265"/>
            <a:ext cx="468465" cy="813442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6D351FF-E0BC-F567-0CF4-94D1057D955C}"/>
              </a:ext>
            </a:extLst>
          </p:cNvPr>
          <p:cNvSpPr/>
          <p:nvPr/>
        </p:nvSpPr>
        <p:spPr>
          <a:xfrm>
            <a:off x="6323218" y="4571999"/>
            <a:ext cx="468465" cy="813442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B377323D-6232-C705-355A-B561E00B035E}"/>
              </a:ext>
            </a:extLst>
          </p:cNvPr>
          <p:cNvSpPr/>
          <p:nvPr/>
        </p:nvSpPr>
        <p:spPr>
          <a:xfrm rot="10800000">
            <a:off x="4714240" y="5761883"/>
            <a:ext cx="1286305" cy="52322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6401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25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0" grpId="0" animBg="1"/>
      <p:bldP spid="12" grpId="0" animBg="1"/>
      <p:bldP spid="13" grpId="0"/>
      <p:bldP spid="14" grpId="0" animBg="1"/>
      <p:bldP spid="15" grpId="0" animBg="1"/>
      <p:bldP spid="17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Simulador </a:t>
            </a:r>
            <a:r>
              <a:rPr lang="pt-BR" altLang="pt-BR" sz="2800" b="1" u="none" dirty="0" err="1">
                <a:solidFill>
                  <a:srgbClr val="FF0000"/>
                </a:solidFill>
              </a:rPr>
              <a:t>Neander</a:t>
            </a:r>
            <a:endParaRPr lang="pt-BR" altLang="pt-BR" sz="2800" b="1" u="none" dirty="0">
              <a:solidFill>
                <a:srgbClr val="FF0000"/>
              </a:solidFill>
            </a:endParaRPr>
          </a:p>
        </p:txBody>
      </p:sp>
      <p:pic>
        <p:nvPicPr>
          <p:cNvPr id="11" name="Picture 5" descr="Nender 1">
            <a:extLst>
              <a:ext uri="{FF2B5EF4-FFF2-40B4-BE49-F238E27FC236}">
                <a16:creationId xmlns:a16="http://schemas.microsoft.com/office/drawing/2014/main" id="{89D64382-87EA-5937-55AA-5BDD0996D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854" y="1462397"/>
            <a:ext cx="7225336" cy="4664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B43792F3-B8FF-3382-A42A-C80B421D751F}"/>
              </a:ext>
            </a:extLst>
          </p:cNvPr>
          <p:cNvSpPr txBox="1"/>
          <p:nvPr/>
        </p:nvSpPr>
        <p:spPr>
          <a:xfrm>
            <a:off x="1183219" y="6335663"/>
            <a:ext cx="7062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B0F0"/>
                </a:solidFill>
              </a:rPr>
              <a:t>Escreva aqui o valor em decimal da instrução desejada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D9ED018-293C-973D-612B-75B4975A9287}"/>
              </a:ext>
            </a:extLst>
          </p:cNvPr>
          <p:cNvSpPr/>
          <p:nvPr/>
        </p:nvSpPr>
        <p:spPr>
          <a:xfrm>
            <a:off x="3855057" y="4572000"/>
            <a:ext cx="468465" cy="813442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74B5A9D-8CBD-B2A0-50E3-B127A8518767}"/>
              </a:ext>
            </a:extLst>
          </p:cNvPr>
          <p:cNvSpPr/>
          <p:nvPr/>
        </p:nvSpPr>
        <p:spPr>
          <a:xfrm>
            <a:off x="5118540" y="4573265"/>
            <a:ext cx="468465" cy="813442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6D351FF-E0BC-F567-0CF4-94D1057D955C}"/>
              </a:ext>
            </a:extLst>
          </p:cNvPr>
          <p:cNvSpPr/>
          <p:nvPr/>
        </p:nvSpPr>
        <p:spPr>
          <a:xfrm>
            <a:off x="6323218" y="4571999"/>
            <a:ext cx="468465" cy="813442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B377323D-6232-C705-355A-B561E00B035E}"/>
              </a:ext>
            </a:extLst>
          </p:cNvPr>
          <p:cNvSpPr/>
          <p:nvPr/>
        </p:nvSpPr>
        <p:spPr>
          <a:xfrm rot="7592185">
            <a:off x="3064346" y="5829490"/>
            <a:ext cx="543560" cy="523221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840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Exemplo: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2723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LDA 32 </a:t>
            </a:r>
            <a:r>
              <a:rPr lang="pt-BR" sz="2000" b="1" dirty="0" err="1">
                <a:solidFill>
                  <a:srgbClr val="00B0F0"/>
                </a:solidFill>
              </a:rPr>
              <a:t>end</a:t>
            </a:r>
            <a:r>
              <a:rPr lang="pt-BR" sz="2000" b="1" dirty="0">
                <a:solidFill>
                  <a:srgbClr val="00B0F0"/>
                </a:solidFill>
              </a:rPr>
              <a:t> (</a:t>
            </a:r>
            <a:r>
              <a:rPr lang="pt-BR" sz="2000" b="1" dirty="0" err="1">
                <a:solidFill>
                  <a:srgbClr val="00B0F0"/>
                </a:solidFill>
              </a:rPr>
              <a:t>Load</a:t>
            </a:r>
            <a:r>
              <a:rPr lang="pt-BR" sz="2000" b="1" dirty="0">
                <a:solidFill>
                  <a:srgbClr val="00B0F0"/>
                </a:solidFill>
              </a:rPr>
              <a:t>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7392632-6FCF-4DF1-1DC3-E39DCC09D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743" y="1035356"/>
            <a:ext cx="1423943" cy="469106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16210BE-7E9C-B05A-347E-CA5126780293}"/>
              </a:ext>
            </a:extLst>
          </p:cNvPr>
          <p:cNvSpPr txBox="1"/>
          <p:nvPr/>
        </p:nvSpPr>
        <p:spPr>
          <a:xfrm>
            <a:off x="1321904" y="2176670"/>
            <a:ext cx="2892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LDA </a:t>
            </a:r>
            <a:r>
              <a:rPr lang="pt-BR" b="1" dirty="0" err="1"/>
              <a:t>end</a:t>
            </a:r>
            <a:endParaRPr lang="pt-BR" b="1" dirty="0"/>
          </a:p>
        </p:txBody>
      </p:sp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E8EEECA8-836C-DD15-C25B-9E448A86CF56}"/>
              </a:ext>
            </a:extLst>
          </p:cNvPr>
          <p:cNvSpPr/>
          <p:nvPr/>
        </p:nvSpPr>
        <p:spPr>
          <a:xfrm>
            <a:off x="1451112" y="2546001"/>
            <a:ext cx="298174" cy="46555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8B3C6C0-FF6E-01B2-974C-48E3618E5D3E}"/>
              </a:ext>
            </a:extLst>
          </p:cNvPr>
          <p:cNvSpPr txBox="1"/>
          <p:nvPr/>
        </p:nvSpPr>
        <p:spPr>
          <a:xfrm>
            <a:off x="1406384" y="3011557"/>
            <a:ext cx="546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32</a:t>
            </a:r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3C003214-4791-8C74-3A2C-BDAD1E914A1B}"/>
              </a:ext>
            </a:extLst>
          </p:cNvPr>
          <p:cNvSpPr/>
          <p:nvPr/>
        </p:nvSpPr>
        <p:spPr>
          <a:xfrm>
            <a:off x="1893401" y="2546002"/>
            <a:ext cx="298174" cy="83488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7B5491C-54C8-BAA5-B3AE-2FBD1F9030F6}"/>
              </a:ext>
            </a:extLst>
          </p:cNvPr>
          <p:cNvSpPr txBox="1"/>
          <p:nvPr/>
        </p:nvSpPr>
        <p:spPr>
          <a:xfrm>
            <a:off x="1881805" y="3380889"/>
            <a:ext cx="546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79E89723-1A72-EDF9-8A8B-F76522338C36}"/>
              </a:ext>
            </a:extLst>
          </p:cNvPr>
          <p:cNvSpPr/>
          <p:nvPr/>
        </p:nvSpPr>
        <p:spPr>
          <a:xfrm>
            <a:off x="898276" y="3079834"/>
            <a:ext cx="423627" cy="232777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AC39882-6AC0-9F78-92A3-79F7FFB60361}"/>
              </a:ext>
            </a:extLst>
          </p:cNvPr>
          <p:cNvSpPr txBox="1"/>
          <p:nvPr/>
        </p:nvSpPr>
        <p:spPr>
          <a:xfrm>
            <a:off x="37271" y="2993262"/>
            <a:ext cx="884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1º Byte</a:t>
            </a:r>
          </a:p>
        </p:txBody>
      </p:sp>
      <p:sp>
        <p:nvSpPr>
          <p:cNvPr id="16" name="Seta: para a Direita 15">
            <a:extLst>
              <a:ext uri="{FF2B5EF4-FFF2-40B4-BE49-F238E27FC236}">
                <a16:creationId xmlns:a16="http://schemas.microsoft.com/office/drawing/2014/main" id="{D0C2727E-D949-CA1C-64D0-C58177E42395}"/>
              </a:ext>
            </a:extLst>
          </p:cNvPr>
          <p:cNvSpPr/>
          <p:nvPr/>
        </p:nvSpPr>
        <p:spPr>
          <a:xfrm>
            <a:off x="1381591" y="3449166"/>
            <a:ext cx="423627" cy="232777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E10C89A-E52A-2AA8-1334-F1F15E93BC12}"/>
              </a:ext>
            </a:extLst>
          </p:cNvPr>
          <p:cNvSpPr txBox="1"/>
          <p:nvPr/>
        </p:nvSpPr>
        <p:spPr>
          <a:xfrm>
            <a:off x="520586" y="3362594"/>
            <a:ext cx="884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2º Byte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368BB56-E689-B5C7-BE1E-AD4B59D618C5}"/>
              </a:ext>
            </a:extLst>
          </p:cNvPr>
          <p:cNvSpPr txBox="1"/>
          <p:nvPr/>
        </p:nvSpPr>
        <p:spPr>
          <a:xfrm>
            <a:off x="7793494" y="1186339"/>
            <a:ext cx="9939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00B0F0"/>
                </a:solidFill>
              </a:rPr>
              <a:t>00100000</a:t>
            </a:r>
          </a:p>
        </p:txBody>
      </p:sp>
      <p:sp>
        <p:nvSpPr>
          <p:cNvPr id="20" name="Seta: para a Direita 19">
            <a:extLst>
              <a:ext uri="{FF2B5EF4-FFF2-40B4-BE49-F238E27FC236}">
                <a16:creationId xmlns:a16="http://schemas.microsoft.com/office/drawing/2014/main" id="{6BCBA369-A506-BC77-1232-9CB559EA48C8}"/>
              </a:ext>
            </a:extLst>
          </p:cNvPr>
          <p:cNvSpPr/>
          <p:nvPr/>
        </p:nvSpPr>
        <p:spPr>
          <a:xfrm>
            <a:off x="7087159" y="1226074"/>
            <a:ext cx="481584" cy="22507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A78CB13-6FB3-7E1F-BE6D-6EBC98757D23}"/>
              </a:ext>
            </a:extLst>
          </p:cNvPr>
          <p:cNvSpPr txBox="1"/>
          <p:nvPr/>
        </p:nvSpPr>
        <p:spPr>
          <a:xfrm>
            <a:off x="5567134" y="1194011"/>
            <a:ext cx="15690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LDA</a:t>
            </a:r>
            <a:r>
              <a:rPr lang="pt-BR" sz="1400" dirty="0"/>
              <a:t> 32 (instrução)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10D10FB-1F2C-998C-6662-F44C3D5C59EC}"/>
              </a:ext>
            </a:extLst>
          </p:cNvPr>
          <p:cNvSpPr txBox="1"/>
          <p:nvPr/>
        </p:nvSpPr>
        <p:spPr>
          <a:xfrm>
            <a:off x="7793494" y="1338738"/>
            <a:ext cx="9939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00B0F0"/>
                </a:solidFill>
              </a:rPr>
              <a:t>00000110</a:t>
            </a:r>
          </a:p>
        </p:txBody>
      </p:sp>
      <p:sp>
        <p:nvSpPr>
          <p:cNvPr id="24" name="Seta: para a Direita 23">
            <a:extLst>
              <a:ext uri="{FF2B5EF4-FFF2-40B4-BE49-F238E27FC236}">
                <a16:creationId xmlns:a16="http://schemas.microsoft.com/office/drawing/2014/main" id="{D3B77476-D90C-52CD-D4F1-062BBABFFF66}"/>
              </a:ext>
            </a:extLst>
          </p:cNvPr>
          <p:cNvSpPr/>
          <p:nvPr/>
        </p:nvSpPr>
        <p:spPr>
          <a:xfrm rot="20078122">
            <a:off x="7213322" y="1475090"/>
            <a:ext cx="481584" cy="22507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8E6D4A0-6AA3-F048-F140-402C21E4E309}"/>
              </a:ext>
            </a:extLst>
          </p:cNvPr>
          <p:cNvSpPr txBox="1"/>
          <p:nvPr/>
        </p:nvSpPr>
        <p:spPr>
          <a:xfrm>
            <a:off x="5567133" y="1548637"/>
            <a:ext cx="1710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err="1"/>
              <a:t>end</a:t>
            </a:r>
            <a:r>
              <a:rPr lang="pt-BR" sz="1400" dirty="0"/>
              <a:t> do operando (6)</a:t>
            </a:r>
          </a:p>
        </p:txBody>
      </p:sp>
      <p:sp>
        <p:nvSpPr>
          <p:cNvPr id="26" name="Seta: Curva para a Esquerda 25">
            <a:extLst>
              <a:ext uri="{FF2B5EF4-FFF2-40B4-BE49-F238E27FC236}">
                <a16:creationId xmlns:a16="http://schemas.microsoft.com/office/drawing/2014/main" id="{04ACCCB8-B961-643C-6FA6-9817CC26D2FD}"/>
              </a:ext>
            </a:extLst>
          </p:cNvPr>
          <p:cNvSpPr/>
          <p:nvPr/>
        </p:nvSpPr>
        <p:spPr>
          <a:xfrm>
            <a:off x="8740346" y="1442797"/>
            <a:ext cx="271812" cy="846284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43AB619-7261-11B0-D98E-DFBCC9AC15F1}"/>
              </a:ext>
            </a:extLst>
          </p:cNvPr>
          <p:cNvSpPr txBox="1"/>
          <p:nvPr/>
        </p:nvSpPr>
        <p:spPr>
          <a:xfrm>
            <a:off x="7651004" y="2053559"/>
            <a:ext cx="1158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00B0F0"/>
                </a:solidFill>
              </a:rPr>
              <a:t>“operando”</a:t>
            </a:r>
          </a:p>
        </p:txBody>
      </p:sp>
    </p:spTree>
    <p:extLst>
      <p:ext uri="{BB962C8B-B14F-4D97-AF65-F5344CB8AC3E}">
        <p14:creationId xmlns:p14="http://schemas.microsoft.com/office/powerpoint/2010/main" val="2450186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25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2" grpId="0"/>
      <p:bldP spid="16" grpId="0" animBg="1"/>
      <p:bldP spid="18" grpId="0"/>
      <p:bldP spid="19" grpId="0"/>
      <p:bldP spid="20" grpId="0" animBg="1"/>
      <p:bldP spid="21" grpId="0"/>
      <p:bldP spid="22" grpId="0"/>
      <p:bldP spid="24" grpId="0" animBg="1"/>
      <p:bldP spid="25" grpId="0"/>
      <p:bldP spid="26" grpId="0" animBg="1"/>
      <p:bldP spid="2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Simulador </a:t>
            </a:r>
            <a:r>
              <a:rPr lang="pt-BR" altLang="pt-BR" sz="2800" b="1" u="none" dirty="0" err="1">
                <a:solidFill>
                  <a:srgbClr val="FF0000"/>
                </a:solidFill>
              </a:rPr>
              <a:t>Neander</a:t>
            </a:r>
            <a:endParaRPr lang="pt-BR" altLang="pt-BR" sz="2800" b="1" u="none" dirty="0">
              <a:solidFill>
                <a:srgbClr val="FF0000"/>
              </a:solidFill>
            </a:endParaRPr>
          </a:p>
        </p:txBody>
      </p:sp>
      <p:pic>
        <p:nvPicPr>
          <p:cNvPr id="11" name="Picture 5" descr="Nender 1">
            <a:extLst>
              <a:ext uri="{FF2B5EF4-FFF2-40B4-BE49-F238E27FC236}">
                <a16:creationId xmlns:a16="http://schemas.microsoft.com/office/drawing/2014/main" id="{89D64382-87EA-5937-55AA-5BDD0996D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854" y="1462397"/>
            <a:ext cx="7225336" cy="4664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5991F6C3-BCBA-B00D-4A2B-AC83F9CC08CE}"/>
              </a:ext>
            </a:extLst>
          </p:cNvPr>
          <p:cNvSpPr/>
          <p:nvPr/>
        </p:nvSpPr>
        <p:spPr>
          <a:xfrm rot="5400000">
            <a:off x="3500307" y="1673539"/>
            <a:ext cx="712858" cy="55473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48C4F5C-1F20-41CE-A0AD-EF7C88D8051C}"/>
              </a:ext>
            </a:extLst>
          </p:cNvPr>
          <p:cNvSpPr txBox="1"/>
          <p:nvPr/>
        </p:nvSpPr>
        <p:spPr>
          <a:xfrm flipH="1">
            <a:off x="2180865" y="1253640"/>
            <a:ext cx="3348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B0F0"/>
                </a:solidFill>
              </a:rPr>
              <a:t>Conteúdo do acumulador (ULA)</a:t>
            </a:r>
          </a:p>
        </p:txBody>
      </p:sp>
    </p:spTree>
    <p:extLst>
      <p:ext uri="{BB962C8B-B14F-4D97-AF65-F5344CB8AC3E}">
        <p14:creationId xmlns:p14="http://schemas.microsoft.com/office/powerpoint/2010/main" val="3031681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Simulador </a:t>
            </a:r>
            <a:r>
              <a:rPr lang="pt-BR" altLang="pt-BR" sz="2800" b="1" u="none" dirty="0" err="1">
                <a:solidFill>
                  <a:srgbClr val="FF0000"/>
                </a:solidFill>
              </a:rPr>
              <a:t>Neander</a:t>
            </a:r>
            <a:endParaRPr lang="pt-BR" altLang="pt-BR" sz="2800" b="1" u="none" dirty="0">
              <a:solidFill>
                <a:srgbClr val="FF0000"/>
              </a:solidFill>
            </a:endParaRPr>
          </a:p>
        </p:txBody>
      </p:sp>
      <p:pic>
        <p:nvPicPr>
          <p:cNvPr id="11" name="Picture 5" descr="Nender 1">
            <a:extLst>
              <a:ext uri="{FF2B5EF4-FFF2-40B4-BE49-F238E27FC236}">
                <a16:creationId xmlns:a16="http://schemas.microsoft.com/office/drawing/2014/main" id="{89D64382-87EA-5937-55AA-5BDD0996D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854" y="1462397"/>
            <a:ext cx="7225336" cy="4664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5991F6C3-BCBA-B00D-4A2B-AC83F9CC08CE}"/>
              </a:ext>
            </a:extLst>
          </p:cNvPr>
          <p:cNvSpPr/>
          <p:nvPr/>
        </p:nvSpPr>
        <p:spPr>
          <a:xfrm rot="5400000">
            <a:off x="4384227" y="1673539"/>
            <a:ext cx="712858" cy="55473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48C4F5C-1F20-41CE-A0AD-EF7C88D8051C}"/>
              </a:ext>
            </a:extLst>
          </p:cNvPr>
          <p:cNvSpPr txBox="1"/>
          <p:nvPr/>
        </p:nvSpPr>
        <p:spPr>
          <a:xfrm flipH="1">
            <a:off x="2630688" y="1254913"/>
            <a:ext cx="4219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B0F0"/>
                </a:solidFill>
              </a:rPr>
              <a:t>Conteúdo do PC (Contador de programa)</a:t>
            </a:r>
          </a:p>
        </p:txBody>
      </p:sp>
    </p:spTree>
    <p:extLst>
      <p:ext uri="{BB962C8B-B14F-4D97-AF65-F5344CB8AC3E}">
        <p14:creationId xmlns:p14="http://schemas.microsoft.com/office/powerpoint/2010/main" val="1240681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Simulador </a:t>
            </a:r>
            <a:r>
              <a:rPr lang="pt-BR" altLang="pt-BR" sz="2800" b="1" u="none" dirty="0" err="1">
                <a:solidFill>
                  <a:srgbClr val="FF0000"/>
                </a:solidFill>
              </a:rPr>
              <a:t>Neander</a:t>
            </a:r>
            <a:endParaRPr lang="pt-BR" altLang="pt-BR" sz="2800" b="1" u="none" dirty="0">
              <a:solidFill>
                <a:srgbClr val="FF0000"/>
              </a:solidFill>
            </a:endParaRPr>
          </a:p>
        </p:txBody>
      </p:sp>
      <p:pic>
        <p:nvPicPr>
          <p:cNvPr id="11" name="Picture 5" descr="Nender 1">
            <a:extLst>
              <a:ext uri="{FF2B5EF4-FFF2-40B4-BE49-F238E27FC236}">
                <a16:creationId xmlns:a16="http://schemas.microsoft.com/office/drawing/2014/main" id="{89D64382-87EA-5937-55AA-5BDD0996D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854" y="1462397"/>
            <a:ext cx="7225336" cy="4664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5991F6C3-BCBA-B00D-4A2B-AC83F9CC08CE}"/>
              </a:ext>
            </a:extLst>
          </p:cNvPr>
          <p:cNvSpPr/>
          <p:nvPr/>
        </p:nvSpPr>
        <p:spPr>
          <a:xfrm rot="5400000">
            <a:off x="5999667" y="1673539"/>
            <a:ext cx="712858" cy="55473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48C4F5C-1F20-41CE-A0AD-EF7C88D8051C}"/>
              </a:ext>
            </a:extLst>
          </p:cNvPr>
          <p:cNvSpPr txBox="1"/>
          <p:nvPr/>
        </p:nvSpPr>
        <p:spPr>
          <a:xfrm flipH="1">
            <a:off x="4246128" y="1254913"/>
            <a:ext cx="4219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B0F0"/>
                </a:solidFill>
              </a:rPr>
              <a:t>Quantos acessos foram feitos a memória</a:t>
            </a:r>
          </a:p>
        </p:txBody>
      </p:sp>
    </p:spTree>
    <p:extLst>
      <p:ext uri="{BB962C8B-B14F-4D97-AF65-F5344CB8AC3E}">
        <p14:creationId xmlns:p14="http://schemas.microsoft.com/office/powerpoint/2010/main" val="160874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Simulador </a:t>
            </a:r>
            <a:r>
              <a:rPr lang="pt-BR" altLang="pt-BR" sz="2800" b="1" u="none" dirty="0" err="1">
                <a:solidFill>
                  <a:srgbClr val="FF0000"/>
                </a:solidFill>
              </a:rPr>
              <a:t>Neander</a:t>
            </a:r>
            <a:endParaRPr lang="pt-BR" altLang="pt-BR" sz="2800" b="1" u="none" dirty="0">
              <a:solidFill>
                <a:srgbClr val="FF0000"/>
              </a:solidFill>
            </a:endParaRPr>
          </a:p>
        </p:txBody>
      </p:sp>
      <p:pic>
        <p:nvPicPr>
          <p:cNvPr id="11" name="Picture 5" descr="Nender 1">
            <a:extLst>
              <a:ext uri="{FF2B5EF4-FFF2-40B4-BE49-F238E27FC236}">
                <a16:creationId xmlns:a16="http://schemas.microsoft.com/office/drawing/2014/main" id="{89D64382-87EA-5937-55AA-5BDD0996D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854" y="1462397"/>
            <a:ext cx="7225336" cy="4664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5991F6C3-BCBA-B00D-4A2B-AC83F9CC08CE}"/>
              </a:ext>
            </a:extLst>
          </p:cNvPr>
          <p:cNvSpPr/>
          <p:nvPr/>
        </p:nvSpPr>
        <p:spPr>
          <a:xfrm rot="16200000">
            <a:off x="4773261" y="4378037"/>
            <a:ext cx="3165669" cy="55473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48C4F5C-1F20-41CE-A0AD-EF7C88D8051C}"/>
              </a:ext>
            </a:extLst>
          </p:cNvPr>
          <p:cNvSpPr txBox="1"/>
          <p:nvPr/>
        </p:nvSpPr>
        <p:spPr>
          <a:xfrm flipH="1">
            <a:off x="4246128" y="6335663"/>
            <a:ext cx="4219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B0F0"/>
                </a:solidFill>
              </a:rPr>
              <a:t>Quantas instruções foram executadas</a:t>
            </a:r>
          </a:p>
        </p:txBody>
      </p:sp>
    </p:spTree>
    <p:extLst>
      <p:ext uri="{BB962C8B-B14F-4D97-AF65-F5344CB8AC3E}">
        <p14:creationId xmlns:p14="http://schemas.microsoft.com/office/powerpoint/2010/main" val="1008408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Simulador </a:t>
            </a:r>
            <a:r>
              <a:rPr lang="pt-BR" altLang="pt-BR" sz="2800" b="1" u="none" dirty="0" err="1">
                <a:solidFill>
                  <a:srgbClr val="FF0000"/>
                </a:solidFill>
              </a:rPr>
              <a:t>Neander</a:t>
            </a:r>
            <a:endParaRPr lang="pt-BR" altLang="pt-BR" sz="2800" b="1" u="none" dirty="0">
              <a:solidFill>
                <a:srgbClr val="FF0000"/>
              </a:solidFill>
            </a:endParaRPr>
          </a:p>
        </p:txBody>
      </p:sp>
      <p:pic>
        <p:nvPicPr>
          <p:cNvPr id="11" name="Picture 5" descr="Nender 1">
            <a:extLst>
              <a:ext uri="{FF2B5EF4-FFF2-40B4-BE49-F238E27FC236}">
                <a16:creationId xmlns:a16="http://schemas.microsoft.com/office/drawing/2014/main" id="{89D64382-87EA-5937-55AA-5BDD0996D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854" y="1462397"/>
            <a:ext cx="7225336" cy="4664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5991F6C3-BCBA-B00D-4A2B-AC83F9CC08CE}"/>
              </a:ext>
            </a:extLst>
          </p:cNvPr>
          <p:cNvSpPr/>
          <p:nvPr/>
        </p:nvSpPr>
        <p:spPr>
          <a:xfrm rot="16200000">
            <a:off x="2799259" y="4524161"/>
            <a:ext cx="2893741" cy="55473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48C4F5C-1F20-41CE-A0AD-EF7C88D8051C}"/>
              </a:ext>
            </a:extLst>
          </p:cNvPr>
          <p:cNvSpPr txBox="1"/>
          <p:nvPr/>
        </p:nvSpPr>
        <p:spPr>
          <a:xfrm flipH="1">
            <a:off x="2136159" y="6335663"/>
            <a:ext cx="4219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B0F0"/>
                </a:solidFill>
              </a:rPr>
              <a:t>Registradores N e Z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195605B-8938-7556-AA8A-C12B9F5BB0B6}"/>
              </a:ext>
            </a:extLst>
          </p:cNvPr>
          <p:cNvSpPr/>
          <p:nvPr/>
        </p:nvSpPr>
        <p:spPr>
          <a:xfrm>
            <a:off x="3627122" y="2794000"/>
            <a:ext cx="1219200" cy="48953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1697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Simulador </a:t>
            </a:r>
            <a:r>
              <a:rPr lang="pt-BR" altLang="pt-BR" sz="2800" b="1" u="none" dirty="0" err="1">
                <a:solidFill>
                  <a:srgbClr val="FF0000"/>
                </a:solidFill>
              </a:rPr>
              <a:t>Neander</a:t>
            </a:r>
            <a:endParaRPr lang="pt-BR" altLang="pt-BR" sz="2800" b="1" u="none" dirty="0">
              <a:solidFill>
                <a:srgbClr val="FF0000"/>
              </a:solidFill>
            </a:endParaRPr>
          </a:p>
        </p:txBody>
      </p:sp>
      <p:pic>
        <p:nvPicPr>
          <p:cNvPr id="11" name="Picture 5" descr="Nender 1">
            <a:extLst>
              <a:ext uri="{FF2B5EF4-FFF2-40B4-BE49-F238E27FC236}">
                <a16:creationId xmlns:a16="http://schemas.microsoft.com/office/drawing/2014/main" id="{89D64382-87EA-5937-55AA-5BDD0996D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854" y="1462397"/>
            <a:ext cx="7225336" cy="4664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5991F6C3-BCBA-B00D-4A2B-AC83F9CC08CE}"/>
              </a:ext>
            </a:extLst>
          </p:cNvPr>
          <p:cNvSpPr/>
          <p:nvPr/>
        </p:nvSpPr>
        <p:spPr>
          <a:xfrm rot="16200000">
            <a:off x="3494536" y="4691880"/>
            <a:ext cx="2315989" cy="55473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48C4F5C-1F20-41CE-A0AD-EF7C88D8051C}"/>
              </a:ext>
            </a:extLst>
          </p:cNvPr>
          <p:cNvSpPr txBox="1"/>
          <p:nvPr/>
        </p:nvSpPr>
        <p:spPr>
          <a:xfrm flipH="1">
            <a:off x="2184398" y="6264543"/>
            <a:ext cx="4917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B0F0"/>
                </a:solidFill>
              </a:rPr>
              <a:t>Botões de controle (rodar / parar a execução)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195605B-8938-7556-AA8A-C12B9F5BB0B6}"/>
              </a:ext>
            </a:extLst>
          </p:cNvPr>
          <p:cNvSpPr/>
          <p:nvPr/>
        </p:nvSpPr>
        <p:spPr>
          <a:xfrm>
            <a:off x="4267200" y="3284962"/>
            <a:ext cx="822960" cy="48953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56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Simulador </a:t>
            </a:r>
            <a:r>
              <a:rPr lang="pt-BR" altLang="pt-BR" sz="2800" b="1" u="none" dirty="0" err="1">
                <a:solidFill>
                  <a:srgbClr val="FF0000"/>
                </a:solidFill>
              </a:rPr>
              <a:t>Neander</a:t>
            </a:r>
            <a:endParaRPr lang="pt-BR" altLang="pt-BR" sz="2800" b="1" u="none" dirty="0">
              <a:solidFill>
                <a:srgbClr val="FF0000"/>
              </a:solidFill>
            </a:endParaRPr>
          </a:p>
        </p:txBody>
      </p:sp>
      <p:pic>
        <p:nvPicPr>
          <p:cNvPr id="11" name="Picture 5" descr="Nender 1">
            <a:extLst>
              <a:ext uri="{FF2B5EF4-FFF2-40B4-BE49-F238E27FC236}">
                <a16:creationId xmlns:a16="http://schemas.microsoft.com/office/drawing/2014/main" id="{89D64382-87EA-5937-55AA-5BDD0996D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854" y="1462397"/>
            <a:ext cx="7225336" cy="4664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5991F6C3-BCBA-B00D-4A2B-AC83F9CC08CE}"/>
              </a:ext>
            </a:extLst>
          </p:cNvPr>
          <p:cNvSpPr/>
          <p:nvPr/>
        </p:nvSpPr>
        <p:spPr>
          <a:xfrm rot="16200000">
            <a:off x="2661417" y="4691880"/>
            <a:ext cx="2315989" cy="55473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48C4F5C-1F20-41CE-A0AD-EF7C88D8051C}"/>
              </a:ext>
            </a:extLst>
          </p:cNvPr>
          <p:cNvSpPr txBox="1"/>
          <p:nvPr/>
        </p:nvSpPr>
        <p:spPr>
          <a:xfrm flipH="1">
            <a:off x="2466230" y="6211669"/>
            <a:ext cx="2706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B0F0"/>
                </a:solidFill>
              </a:rPr>
              <a:t>Seleciona comando em decimal ou Hexadecimal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195605B-8938-7556-AA8A-C12B9F5BB0B6}"/>
              </a:ext>
            </a:extLst>
          </p:cNvPr>
          <p:cNvSpPr/>
          <p:nvPr/>
        </p:nvSpPr>
        <p:spPr>
          <a:xfrm>
            <a:off x="3434081" y="3284962"/>
            <a:ext cx="822960" cy="48953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3174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Soma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Vamos somar 5 com 3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99D1C1D6-0310-4E20-FD78-CD07DA1A5A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111" t="31334" r="28445" b="21457"/>
          <a:stretch/>
        </p:blipFill>
        <p:spPr>
          <a:xfrm>
            <a:off x="1158239" y="1900683"/>
            <a:ext cx="6596075" cy="4226560"/>
          </a:xfrm>
          <a:prstGeom prst="rect">
            <a:avLst/>
          </a:prstGeom>
        </p:spPr>
      </p:pic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6C821E5E-ADA9-29A1-8950-ED465B4234D5}"/>
              </a:ext>
            </a:extLst>
          </p:cNvPr>
          <p:cNvSpPr/>
          <p:nvPr/>
        </p:nvSpPr>
        <p:spPr>
          <a:xfrm>
            <a:off x="762000" y="2560320"/>
            <a:ext cx="396239" cy="1930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E5D3070-9A54-889A-BE80-5E0B94EB728D}"/>
              </a:ext>
            </a:extLst>
          </p:cNvPr>
          <p:cNvSpPr txBox="1"/>
          <p:nvPr/>
        </p:nvSpPr>
        <p:spPr>
          <a:xfrm>
            <a:off x="-25402" y="2286466"/>
            <a:ext cx="11836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Selecione onde o programa vai iniciar</a:t>
            </a:r>
          </a:p>
        </p:txBody>
      </p:sp>
    </p:spTree>
    <p:extLst>
      <p:ext uri="{BB962C8B-B14F-4D97-AF65-F5344CB8AC3E}">
        <p14:creationId xmlns:p14="http://schemas.microsoft.com/office/powerpoint/2010/main" val="1920426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Soma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Vamos somar 5 com 3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99D1C1D6-0310-4E20-FD78-CD07DA1A5A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111" t="31334" r="28445" b="21457"/>
          <a:stretch/>
        </p:blipFill>
        <p:spPr>
          <a:xfrm>
            <a:off x="1158239" y="1900683"/>
            <a:ext cx="6596075" cy="4226560"/>
          </a:xfrm>
          <a:prstGeom prst="rect">
            <a:avLst/>
          </a:prstGeom>
        </p:spPr>
      </p:pic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6C821E5E-ADA9-29A1-8950-ED465B4234D5}"/>
              </a:ext>
            </a:extLst>
          </p:cNvPr>
          <p:cNvSpPr/>
          <p:nvPr/>
        </p:nvSpPr>
        <p:spPr>
          <a:xfrm rot="10800000">
            <a:off x="7393940" y="2580640"/>
            <a:ext cx="396239" cy="1930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E5D3070-9A54-889A-BE80-5E0B94EB728D}"/>
              </a:ext>
            </a:extLst>
          </p:cNvPr>
          <p:cNvSpPr txBox="1"/>
          <p:nvPr/>
        </p:nvSpPr>
        <p:spPr>
          <a:xfrm>
            <a:off x="7790179" y="2276306"/>
            <a:ext cx="11836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Selecione onde deseja inserir um valor</a:t>
            </a:r>
          </a:p>
        </p:txBody>
      </p:sp>
    </p:spTree>
    <p:extLst>
      <p:ext uri="{BB962C8B-B14F-4D97-AF65-F5344CB8AC3E}">
        <p14:creationId xmlns:p14="http://schemas.microsoft.com/office/powerpoint/2010/main" val="340012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Soma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Vamos somar 5 com 3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99D1C1D6-0310-4E20-FD78-CD07DA1A5A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111" t="31334" r="28445" b="21457"/>
          <a:stretch/>
        </p:blipFill>
        <p:spPr>
          <a:xfrm>
            <a:off x="1158239" y="1900683"/>
            <a:ext cx="6596075" cy="4226560"/>
          </a:xfrm>
          <a:prstGeom prst="rect">
            <a:avLst/>
          </a:prstGeom>
        </p:spPr>
      </p:pic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6C821E5E-ADA9-29A1-8950-ED465B4234D5}"/>
              </a:ext>
            </a:extLst>
          </p:cNvPr>
          <p:cNvSpPr/>
          <p:nvPr/>
        </p:nvSpPr>
        <p:spPr>
          <a:xfrm rot="10800000">
            <a:off x="7589522" y="5760720"/>
            <a:ext cx="396239" cy="1930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E5D3070-9A54-889A-BE80-5E0B94EB728D}"/>
              </a:ext>
            </a:extLst>
          </p:cNvPr>
          <p:cNvSpPr txBox="1"/>
          <p:nvPr/>
        </p:nvSpPr>
        <p:spPr>
          <a:xfrm>
            <a:off x="7990839" y="5713511"/>
            <a:ext cx="1183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Digite o valor</a:t>
            </a:r>
          </a:p>
        </p:txBody>
      </p:sp>
    </p:spTree>
    <p:extLst>
      <p:ext uri="{BB962C8B-B14F-4D97-AF65-F5344CB8AC3E}">
        <p14:creationId xmlns:p14="http://schemas.microsoft.com/office/powerpoint/2010/main" val="1931683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9CAB254-2CFD-2DB1-3BD0-C1EFA7BB9A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66" t="34099" r="29891" b="17827"/>
          <a:stretch/>
        </p:blipFill>
        <p:spPr>
          <a:xfrm>
            <a:off x="1250839" y="1977147"/>
            <a:ext cx="6503477" cy="4243509"/>
          </a:xfrm>
          <a:prstGeom prst="rect">
            <a:avLst/>
          </a:prstGeom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Soma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Vamos somar 5 com 3</a:t>
            </a:r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6C821E5E-ADA9-29A1-8950-ED465B4234D5}"/>
              </a:ext>
            </a:extLst>
          </p:cNvPr>
          <p:cNvSpPr/>
          <p:nvPr/>
        </p:nvSpPr>
        <p:spPr>
          <a:xfrm rot="10800000">
            <a:off x="7589522" y="5760720"/>
            <a:ext cx="396239" cy="1930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E5D3070-9A54-889A-BE80-5E0B94EB728D}"/>
              </a:ext>
            </a:extLst>
          </p:cNvPr>
          <p:cNvSpPr txBox="1"/>
          <p:nvPr/>
        </p:nvSpPr>
        <p:spPr>
          <a:xfrm>
            <a:off x="7990839" y="5713511"/>
            <a:ext cx="1183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Digite 5</a:t>
            </a:r>
          </a:p>
        </p:txBody>
      </p:sp>
    </p:spTree>
    <p:extLst>
      <p:ext uri="{BB962C8B-B14F-4D97-AF65-F5344CB8AC3E}">
        <p14:creationId xmlns:p14="http://schemas.microsoft.com/office/powerpoint/2010/main" val="1614555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6BB3B13-2CAF-21F9-2F59-09C1C0F95F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445" t="31926" r="29222" b="20469"/>
          <a:stretch/>
        </p:blipFill>
        <p:spPr>
          <a:xfrm>
            <a:off x="1076960" y="1892324"/>
            <a:ext cx="6695039" cy="4234919"/>
          </a:xfrm>
          <a:prstGeom prst="rect">
            <a:avLst/>
          </a:prstGeom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Soma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Vamos somar 5 com 3</a:t>
            </a:r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6C821E5E-ADA9-29A1-8950-ED465B4234D5}"/>
              </a:ext>
            </a:extLst>
          </p:cNvPr>
          <p:cNvSpPr/>
          <p:nvPr/>
        </p:nvSpPr>
        <p:spPr>
          <a:xfrm rot="10800000">
            <a:off x="7416802" y="2560320"/>
            <a:ext cx="396239" cy="1930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E5D3070-9A54-889A-BE80-5E0B94EB728D}"/>
              </a:ext>
            </a:extLst>
          </p:cNvPr>
          <p:cNvSpPr txBox="1"/>
          <p:nvPr/>
        </p:nvSpPr>
        <p:spPr>
          <a:xfrm>
            <a:off x="7818119" y="2513111"/>
            <a:ext cx="1183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Valor 5</a:t>
            </a:r>
          </a:p>
        </p:txBody>
      </p:sp>
    </p:spTree>
    <p:extLst>
      <p:ext uri="{BB962C8B-B14F-4D97-AF65-F5344CB8AC3E}">
        <p14:creationId xmlns:p14="http://schemas.microsoft.com/office/powerpoint/2010/main" val="1461358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327251F0-C958-48AA-CAA9-8B6C8893AA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177" t="32805" r="30380" b="17651"/>
          <a:stretch/>
        </p:blipFill>
        <p:spPr>
          <a:xfrm>
            <a:off x="1250838" y="1872972"/>
            <a:ext cx="6469475" cy="4350379"/>
          </a:xfrm>
          <a:prstGeom prst="rect">
            <a:avLst/>
          </a:prstGeom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Soma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Vamos somar 5 com 3</a:t>
            </a:r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6C821E5E-ADA9-29A1-8950-ED465B4234D5}"/>
              </a:ext>
            </a:extLst>
          </p:cNvPr>
          <p:cNvSpPr/>
          <p:nvPr/>
        </p:nvSpPr>
        <p:spPr>
          <a:xfrm rot="10800000">
            <a:off x="7589522" y="5760720"/>
            <a:ext cx="396239" cy="1930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E5D3070-9A54-889A-BE80-5E0B94EB728D}"/>
              </a:ext>
            </a:extLst>
          </p:cNvPr>
          <p:cNvSpPr txBox="1"/>
          <p:nvPr/>
        </p:nvSpPr>
        <p:spPr>
          <a:xfrm>
            <a:off x="7990839" y="5713511"/>
            <a:ext cx="1183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Digite 3</a:t>
            </a:r>
          </a:p>
        </p:txBody>
      </p:sp>
    </p:spTree>
    <p:extLst>
      <p:ext uri="{BB962C8B-B14F-4D97-AF65-F5344CB8AC3E}">
        <p14:creationId xmlns:p14="http://schemas.microsoft.com/office/powerpoint/2010/main" val="3227765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EA3115B6-9BFF-F9FE-1F53-760257E07B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481" t="33516" r="30076" b="17651"/>
          <a:stretch/>
        </p:blipFill>
        <p:spPr>
          <a:xfrm>
            <a:off x="1203767" y="1869174"/>
            <a:ext cx="6458674" cy="4280773"/>
          </a:xfrm>
          <a:prstGeom prst="rect">
            <a:avLst/>
          </a:prstGeom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Soma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Vamos somar 5 com 3</a:t>
            </a:r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6C821E5E-ADA9-29A1-8950-ED465B4234D5}"/>
              </a:ext>
            </a:extLst>
          </p:cNvPr>
          <p:cNvSpPr/>
          <p:nvPr/>
        </p:nvSpPr>
        <p:spPr>
          <a:xfrm rot="10800000">
            <a:off x="7416802" y="2757094"/>
            <a:ext cx="396239" cy="1930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E5D3070-9A54-889A-BE80-5E0B94EB728D}"/>
              </a:ext>
            </a:extLst>
          </p:cNvPr>
          <p:cNvSpPr txBox="1"/>
          <p:nvPr/>
        </p:nvSpPr>
        <p:spPr>
          <a:xfrm>
            <a:off x="7818119" y="2709885"/>
            <a:ext cx="1183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Valor 3</a:t>
            </a:r>
          </a:p>
        </p:txBody>
      </p:sp>
    </p:spTree>
    <p:extLst>
      <p:ext uri="{BB962C8B-B14F-4D97-AF65-F5344CB8AC3E}">
        <p14:creationId xmlns:p14="http://schemas.microsoft.com/office/powerpoint/2010/main" val="862802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Soma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3789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Vamos somar 5 com 3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B53BDE8-86F7-7AFD-E0DC-6F0859621F3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719" y="89447"/>
            <a:ext cx="3648013" cy="271162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A3115B6-9BFF-F9FE-1F53-760257E07B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481" t="33516" r="30076" b="17651"/>
          <a:stretch/>
        </p:blipFill>
        <p:spPr>
          <a:xfrm>
            <a:off x="173621" y="2615877"/>
            <a:ext cx="6174478" cy="4092409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22AE18E2-4BF0-77A5-DB87-8135E90C1B64}"/>
              </a:ext>
            </a:extLst>
          </p:cNvPr>
          <p:cNvSpPr/>
          <p:nvPr/>
        </p:nvSpPr>
        <p:spPr>
          <a:xfrm>
            <a:off x="5868365" y="1246993"/>
            <a:ext cx="636607" cy="2638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FC09DB1E-0AB1-A2CA-770C-8D22D6BD95B4}"/>
              </a:ext>
            </a:extLst>
          </p:cNvPr>
          <p:cNvSpPr/>
          <p:nvPr/>
        </p:nvSpPr>
        <p:spPr>
          <a:xfrm>
            <a:off x="2030703" y="3184199"/>
            <a:ext cx="851392" cy="67017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EFFDD8F-04B9-14A1-F51D-2145F2785F56}"/>
              </a:ext>
            </a:extLst>
          </p:cNvPr>
          <p:cNvSpPr txBox="1"/>
          <p:nvPr/>
        </p:nvSpPr>
        <p:spPr>
          <a:xfrm>
            <a:off x="6504972" y="3138587"/>
            <a:ext cx="262228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Para realizarmos a soma precisamos ter cada valor em uma das entradas da ULA. O primeiro na entrada “x” da ULA (que vem do AC) e o y da memória. </a:t>
            </a:r>
          </a:p>
          <a:p>
            <a:r>
              <a:rPr lang="pt-BR" sz="2000" b="1" dirty="0">
                <a:solidFill>
                  <a:srgbClr val="FF0000"/>
                </a:solidFill>
              </a:rPr>
              <a:t>Neste caso o AC esta vazio!</a:t>
            </a:r>
          </a:p>
        </p:txBody>
      </p:sp>
    </p:spTree>
    <p:extLst>
      <p:ext uri="{BB962C8B-B14F-4D97-AF65-F5344CB8AC3E}">
        <p14:creationId xmlns:p14="http://schemas.microsoft.com/office/powerpoint/2010/main" val="1706932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Soma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7538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Precisamos carregar (LDA) o valor do </a:t>
            </a:r>
            <a:r>
              <a:rPr lang="pt-BR" sz="2000" b="1" dirty="0" err="1">
                <a:solidFill>
                  <a:srgbClr val="00B0F0"/>
                </a:solidFill>
              </a:rPr>
              <a:t>end</a:t>
            </a:r>
            <a:r>
              <a:rPr lang="pt-BR" sz="2000" b="1" dirty="0">
                <a:solidFill>
                  <a:srgbClr val="00B0F0"/>
                </a:solidFill>
              </a:rPr>
              <a:t> 128 para o ACC</a:t>
            </a:r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6C821E5E-ADA9-29A1-8950-ED465B4234D5}"/>
              </a:ext>
            </a:extLst>
          </p:cNvPr>
          <p:cNvSpPr/>
          <p:nvPr/>
        </p:nvSpPr>
        <p:spPr>
          <a:xfrm>
            <a:off x="762000" y="2560320"/>
            <a:ext cx="396239" cy="1930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E5D3070-9A54-889A-BE80-5E0B94EB728D}"/>
              </a:ext>
            </a:extLst>
          </p:cNvPr>
          <p:cNvSpPr txBox="1"/>
          <p:nvPr/>
        </p:nvSpPr>
        <p:spPr>
          <a:xfrm>
            <a:off x="-25402" y="2286466"/>
            <a:ext cx="11836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Selecione onde o programa vai iniciar</a:t>
            </a:r>
          </a:p>
        </p:txBody>
      </p:sp>
      <p:pic>
        <p:nvPicPr>
          <p:cNvPr id="7" name="Imagem 5">
            <a:extLst>
              <a:ext uri="{FF2B5EF4-FFF2-40B4-BE49-F238E27FC236}">
                <a16:creationId xmlns:a16="http://schemas.microsoft.com/office/drawing/2014/main" id="{9E032973-92D7-459B-B612-AD893B4A37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481" t="33516" r="30076" b="17651"/>
          <a:stretch/>
        </p:blipFill>
        <p:spPr>
          <a:xfrm>
            <a:off x="1158239" y="1868703"/>
            <a:ext cx="6174478" cy="409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901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2753D26-154C-42DE-870C-2E96ED5DF1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227" t="33516" r="30253" b="19226"/>
          <a:stretch/>
        </p:blipFill>
        <p:spPr>
          <a:xfrm>
            <a:off x="1249486" y="1910404"/>
            <a:ext cx="6504828" cy="4164676"/>
          </a:xfrm>
          <a:prstGeom prst="rect">
            <a:avLst/>
          </a:prstGeom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Soma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7538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Precisamos carregar (LDA) o valor do </a:t>
            </a:r>
            <a:r>
              <a:rPr lang="pt-BR" sz="2000" b="1" dirty="0" err="1">
                <a:solidFill>
                  <a:srgbClr val="00B0F0"/>
                </a:solidFill>
              </a:rPr>
              <a:t>end</a:t>
            </a:r>
            <a:r>
              <a:rPr lang="pt-BR" sz="2000" b="1" dirty="0">
                <a:solidFill>
                  <a:srgbClr val="00B0F0"/>
                </a:solidFill>
              </a:rPr>
              <a:t> 128 para o ACC</a:t>
            </a:r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6C821E5E-ADA9-29A1-8950-ED465B4234D5}"/>
              </a:ext>
            </a:extLst>
          </p:cNvPr>
          <p:cNvSpPr/>
          <p:nvPr/>
        </p:nvSpPr>
        <p:spPr>
          <a:xfrm rot="13244594">
            <a:off x="2949616" y="5891389"/>
            <a:ext cx="396239" cy="1930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E5D3070-9A54-889A-BE80-5E0B94EB728D}"/>
              </a:ext>
            </a:extLst>
          </p:cNvPr>
          <p:cNvSpPr txBox="1"/>
          <p:nvPr/>
        </p:nvSpPr>
        <p:spPr>
          <a:xfrm>
            <a:off x="3360835" y="5987909"/>
            <a:ext cx="1183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Digite 32 (LDA)</a:t>
            </a:r>
          </a:p>
        </p:txBody>
      </p:sp>
    </p:spTree>
    <p:extLst>
      <p:ext uri="{BB962C8B-B14F-4D97-AF65-F5344CB8AC3E}">
        <p14:creationId xmlns:p14="http://schemas.microsoft.com/office/powerpoint/2010/main" val="3222815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C50F6C88-3BAE-8E9E-B1EA-8C2A187D11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862" t="33291" r="29747" b="16948"/>
          <a:stretch/>
        </p:blipFill>
        <p:spPr>
          <a:xfrm>
            <a:off x="1389686" y="1988723"/>
            <a:ext cx="6364628" cy="4304097"/>
          </a:xfrm>
          <a:prstGeom prst="rect">
            <a:avLst/>
          </a:prstGeom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Soma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7538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Precisamos carregar (LDA) o valor do </a:t>
            </a:r>
            <a:r>
              <a:rPr lang="pt-BR" sz="2000" b="1" dirty="0" err="1">
                <a:solidFill>
                  <a:srgbClr val="00B0F0"/>
                </a:solidFill>
              </a:rPr>
              <a:t>end</a:t>
            </a:r>
            <a:r>
              <a:rPr lang="pt-BR" sz="2000" b="1" dirty="0">
                <a:solidFill>
                  <a:srgbClr val="00B0F0"/>
                </a:solidFill>
              </a:rPr>
              <a:t> 128 para o ACC</a:t>
            </a:r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6C821E5E-ADA9-29A1-8950-ED465B4234D5}"/>
              </a:ext>
            </a:extLst>
          </p:cNvPr>
          <p:cNvSpPr/>
          <p:nvPr/>
        </p:nvSpPr>
        <p:spPr>
          <a:xfrm rot="13244594">
            <a:off x="3019066" y="5995564"/>
            <a:ext cx="396239" cy="1930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E5D3070-9A54-889A-BE80-5E0B94EB728D}"/>
              </a:ext>
            </a:extLst>
          </p:cNvPr>
          <p:cNvSpPr txBox="1"/>
          <p:nvPr/>
        </p:nvSpPr>
        <p:spPr>
          <a:xfrm>
            <a:off x="3360835" y="5987909"/>
            <a:ext cx="1581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Digite o </a:t>
            </a:r>
            <a:r>
              <a:rPr lang="pt-BR" sz="1400" b="1" dirty="0" err="1">
                <a:solidFill>
                  <a:srgbClr val="FF0000"/>
                </a:solidFill>
              </a:rPr>
              <a:t>end</a:t>
            </a:r>
            <a:r>
              <a:rPr lang="pt-BR" sz="1400" b="1" dirty="0">
                <a:solidFill>
                  <a:srgbClr val="FF0000"/>
                </a:solidFill>
              </a:rPr>
              <a:t> do operando (128)</a:t>
            </a:r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F72FB62A-B9A5-A87A-CE04-C47FD2137CC8}"/>
              </a:ext>
            </a:extLst>
          </p:cNvPr>
          <p:cNvSpPr/>
          <p:nvPr/>
        </p:nvSpPr>
        <p:spPr>
          <a:xfrm rot="10800000">
            <a:off x="7382851" y="2728905"/>
            <a:ext cx="396239" cy="1930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481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182CFF00-AAFE-3003-DAE7-EEA6BE4F49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101" t="33065" r="29874" b="18552"/>
          <a:stretch/>
        </p:blipFill>
        <p:spPr>
          <a:xfrm>
            <a:off x="1389686" y="2063742"/>
            <a:ext cx="6249605" cy="4047186"/>
          </a:xfrm>
          <a:prstGeom prst="rect">
            <a:avLst/>
          </a:prstGeom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Soma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7538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Neste momento o conteúdo (5) está no acumulador (AC)</a:t>
            </a:r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6C821E5E-ADA9-29A1-8950-ED465B4234D5}"/>
              </a:ext>
            </a:extLst>
          </p:cNvPr>
          <p:cNvSpPr/>
          <p:nvPr/>
        </p:nvSpPr>
        <p:spPr>
          <a:xfrm>
            <a:off x="993447" y="2755926"/>
            <a:ext cx="396239" cy="57488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093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A4D8342-AB89-F012-4EF7-EADB1CA1D0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001" t="30543" r="29889" b="22840"/>
          <a:stretch/>
        </p:blipFill>
        <p:spPr>
          <a:xfrm>
            <a:off x="1504708" y="2230120"/>
            <a:ext cx="6023851" cy="3842240"/>
          </a:xfrm>
          <a:prstGeom prst="rect">
            <a:avLst/>
          </a:prstGeom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Soma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7538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Neste momento podemos realizar a soma (ADD)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2EA03F51-9288-1AB9-0A07-E2604742BA31}"/>
              </a:ext>
            </a:extLst>
          </p:cNvPr>
          <p:cNvSpPr/>
          <p:nvPr/>
        </p:nvSpPr>
        <p:spPr>
          <a:xfrm rot="13244594">
            <a:off x="3019066" y="5995564"/>
            <a:ext cx="396239" cy="1930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77CE6ED-4245-567B-3ED7-6E46813269F2}"/>
              </a:ext>
            </a:extLst>
          </p:cNvPr>
          <p:cNvSpPr txBox="1"/>
          <p:nvPr/>
        </p:nvSpPr>
        <p:spPr>
          <a:xfrm>
            <a:off x="3360835" y="5987909"/>
            <a:ext cx="15815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Digite 48 (ADD)</a:t>
            </a:r>
          </a:p>
        </p:txBody>
      </p:sp>
    </p:spTree>
    <p:extLst>
      <p:ext uri="{BB962C8B-B14F-4D97-AF65-F5344CB8AC3E}">
        <p14:creationId xmlns:p14="http://schemas.microsoft.com/office/powerpoint/2010/main" val="3213189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5F981FA-C19C-C30D-537F-BDD6978C41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96" t="29903" r="29674" b="22947"/>
          <a:stretch/>
        </p:blipFill>
        <p:spPr>
          <a:xfrm>
            <a:off x="1504708" y="2202796"/>
            <a:ext cx="6031055" cy="3842239"/>
          </a:xfrm>
          <a:prstGeom prst="rect">
            <a:avLst/>
          </a:prstGeom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Soma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7538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Neste momento podemos realizar a soma (ADD)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2EA03F51-9288-1AB9-0A07-E2604742BA31}"/>
              </a:ext>
            </a:extLst>
          </p:cNvPr>
          <p:cNvSpPr/>
          <p:nvPr/>
        </p:nvSpPr>
        <p:spPr>
          <a:xfrm>
            <a:off x="1504708" y="3196204"/>
            <a:ext cx="396239" cy="1930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E51C4B1-C738-17E3-1946-55E4EE4CCD82}"/>
              </a:ext>
            </a:extLst>
          </p:cNvPr>
          <p:cNvSpPr txBox="1"/>
          <p:nvPr/>
        </p:nvSpPr>
        <p:spPr>
          <a:xfrm>
            <a:off x="1504708" y="1703612"/>
            <a:ext cx="262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Vai somar com quem?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714CCF7-02B4-FCE7-9CED-370931F88CE1}"/>
              </a:ext>
            </a:extLst>
          </p:cNvPr>
          <p:cNvSpPr txBox="1"/>
          <p:nvPr/>
        </p:nvSpPr>
        <p:spPr>
          <a:xfrm>
            <a:off x="1504708" y="1954806"/>
            <a:ext cx="3568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 o valor da posição 129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F38D8785-B5E0-75BB-A2D3-FF5A1255BBD3}"/>
              </a:ext>
            </a:extLst>
          </p:cNvPr>
          <p:cNvSpPr/>
          <p:nvPr/>
        </p:nvSpPr>
        <p:spPr>
          <a:xfrm rot="10800000">
            <a:off x="7258466" y="2949879"/>
            <a:ext cx="470159" cy="29182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5693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  <p:bldP spid="10" grpId="0"/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8D92265D-6425-4D68-BD40-A68FCE570B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022" t="30430" r="29783" b="22966"/>
          <a:stretch/>
        </p:blipFill>
        <p:spPr>
          <a:xfrm>
            <a:off x="1598297" y="2240394"/>
            <a:ext cx="5904687" cy="3757454"/>
          </a:xfrm>
          <a:prstGeom prst="rect">
            <a:avLst/>
          </a:prstGeom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Soma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7538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Neste momento podemos realizar a soma (ADD)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2EA03F51-9288-1AB9-0A07-E2604742BA31}"/>
              </a:ext>
            </a:extLst>
          </p:cNvPr>
          <p:cNvSpPr/>
          <p:nvPr/>
        </p:nvSpPr>
        <p:spPr>
          <a:xfrm>
            <a:off x="1504708" y="3196204"/>
            <a:ext cx="396239" cy="1930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E51C4B1-C738-17E3-1946-55E4EE4CCD82}"/>
              </a:ext>
            </a:extLst>
          </p:cNvPr>
          <p:cNvSpPr txBox="1"/>
          <p:nvPr/>
        </p:nvSpPr>
        <p:spPr>
          <a:xfrm>
            <a:off x="1504708" y="1703612"/>
            <a:ext cx="262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Vai somar com quem?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714CCF7-02B4-FCE7-9CED-370931F88CE1}"/>
              </a:ext>
            </a:extLst>
          </p:cNvPr>
          <p:cNvSpPr txBox="1"/>
          <p:nvPr/>
        </p:nvSpPr>
        <p:spPr>
          <a:xfrm>
            <a:off x="1504708" y="1954806"/>
            <a:ext cx="3568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 o valor da posição 129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F38D8785-B5E0-75BB-A2D3-FF5A1255BBD3}"/>
              </a:ext>
            </a:extLst>
          </p:cNvPr>
          <p:cNvSpPr/>
          <p:nvPr/>
        </p:nvSpPr>
        <p:spPr>
          <a:xfrm rot="10800000">
            <a:off x="7258466" y="2949879"/>
            <a:ext cx="470159" cy="29182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293895CE-0FAC-41B6-6B58-E55DBF459D9D}"/>
              </a:ext>
            </a:extLst>
          </p:cNvPr>
          <p:cNvSpPr/>
          <p:nvPr/>
        </p:nvSpPr>
        <p:spPr>
          <a:xfrm rot="13244594">
            <a:off x="3019066" y="5995564"/>
            <a:ext cx="396239" cy="1930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03F5CFE-B05E-A040-C0C9-AFCF14BAA62B}"/>
              </a:ext>
            </a:extLst>
          </p:cNvPr>
          <p:cNvSpPr txBox="1"/>
          <p:nvPr/>
        </p:nvSpPr>
        <p:spPr>
          <a:xfrm>
            <a:off x="3360835" y="5987909"/>
            <a:ext cx="15815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Digite 129</a:t>
            </a:r>
          </a:p>
        </p:txBody>
      </p:sp>
    </p:spTree>
    <p:extLst>
      <p:ext uri="{BB962C8B-B14F-4D97-AF65-F5344CB8AC3E}">
        <p14:creationId xmlns:p14="http://schemas.microsoft.com/office/powerpoint/2010/main" val="928418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27D1842C-D525-31A3-7FA9-35B5606737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120" t="31113" r="29457" b="22947"/>
          <a:stretch/>
        </p:blipFill>
        <p:spPr>
          <a:xfrm>
            <a:off x="1601259" y="2300704"/>
            <a:ext cx="6023161" cy="3757453"/>
          </a:xfrm>
          <a:prstGeom prst="rect">
            <a:avLst/>
          </a:prstGeom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Soma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7538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Neste momento podemos realizar a soma (ADD)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2EA03F51-9288-1AB9-0A07-E2604742BA31}"/>
              </a:ext>
            </a:extLst>
          </p:cNvPr>
          <p:cNvSpPr/>
          <p:nvPr/>
        </p:nvSpPr>
        <p:spPr>
          <a:xfrm>
            <a:off x="1504708" y="3196204"/>
            <a:ext cx="396239" cy="1930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E51C4B1-C738-17E3-1946-55E4EE4CCD82}"/>
              </a:ext>
            </a:extLst>
          </p:cNvPr>
          <p:cNvSpPr txBox="1"/>
          <p:nvPr/>
        </p:nvSpPr>
        <p:spPr>
          <a:xfrm>
            <a:off x="1504708" y="1703612"/>
            <a:ext cx="262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Vai somar com quem?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714CCF7-02B4-FCE7-9CED-370931F88CE1}"/>
              </a:ext>
            </a:extLst>
          </p:cNvPr>
          <p:cNvSpPr txBox="1"/>
          <p:nvPr/>
        </p:nvSpPr>
        <p:spPr>
          <a:xfrm>
            <a:off x="1504708" y="1954806"/>
            <a:ext cx="3568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 o valor da posição 129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F38D8785-B5E0-75BB-A2D3-FF5A1255BBD3}"/>
              </a:ext>
            </a:extLst>
          </p:cNvPr>
          <p:cNvSpPr/>
          <p:nvPr/>
        </p:nvSpPr>
        <p:spPr>
          <a:xfrm rot="10800000">
            <a:off x="7258466" y="2949879"/>
            <a:ext cx="470159" cy="29182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293895CE-0FAC-41B6-6B58-E55DBF459D9D}"/>
              </a:ext>
            </a:extLst>
          </p:cNvPr>
          <p:cNvSpPr/>
          <p:nvPr/>
        </p:nvSpPr>
        <p:spPr>
          <a:xfrm rot="5400000" flipV="1">
            <a:off x="2658310" y="2795932"/>
            <a:ext cx="396239" cy="30789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020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27D1842C-D525-31A3-7FA9-35B5606737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120" t="31113" r="29457" b="22947"/>
          <a:stretch/>
        </p:blipFill>
        <p:spPr>
          <a:xfrm>
            <a:off x="1601259" y="2300704"/>
            <a:ext cx="6023161" cy="3757453"/>
          </a:xfrm>
          <a:prstGeom prst="rect">
            <a:avLst/>
          </a:prstGeom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Soma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7538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Onde o resultado deverá ser gravado?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714CCF7-02B4-FCE7-9CED-370931F88CE1}"/>
              </a:ext>
            </a:extLst>
          </p:cNvPr>
          <p:cNvSpPr txBox="1"/>
          <p:nvPr/>
        </p:nvSpPr>
        <p:spPr>
          <a:xfrm>
            <a:off x="1504708" y="1780145"/>
            <a:ext cx="3568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Na posição 130 da memória!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F38D8785-B5E0-75BB-A2D3-FF5A1255BBD3}"/>
              </a:ext>
            </a:extLst>
          </p:cNvPr>
          <p:cNvSpPr/>
          <p:nvPr/>
        </p:nvSpPr>
        <p:spPr>
          <a:xfrm rot="10800000">
            <a:off x="7258466" y="3138720"/>
            <a:ext cx="470159" cy="29182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04D82C8-06CF-BA39-2A52-47A7A3F4D8BB}"/>
              </a:ext>
            </a:extLst>
          </p:cNvPr>
          <p:cNvSpPr txBox="1"/>
          <p:nvPr/>
        </p:nvSpPr>
        <p:spPr>
          <a:xfrm>
            <a:off x="513818" y="6137182"/>
            <a:ext cx="7762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Para salvarmos um valor, devemos “pegar” o valor da soma do acumulador (AC) e gravar na memória (neste caso na posição 130).</a:t>
            </a:r>
          </a:p>
        </p:txBody>
      </p:sp>
    </p:spTree>
    <p:extLst>
      <p:ext uri="{BB962C8B-B14F-4D97-AF65-F5344CB8AC3E}">
        <p14:creationId xmlns:p14="http://schemas.microsoft.com/office/powerpoint/2010/main" val="2464995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982C77F8-AC46-D341-9099-7C5AE1AABF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000" t="29405" r="29444" b="22246"/>
          <a:stretch/>
        </p:blipFill>
        <p:spPr>
          <a:xfrm>
            <a:off x="1625707" y="2264658"/>
            <a:ext cx="5917034" cy="3872429"/>
          </a:xfrm>
          <a:prstGeom prst="rect">
            <a:avLst/>
          </a:prstGeom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Soma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7538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Onde o resultado deverá ser gravado?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714CCF7-02B4-FCE7-9CED-370931F88CE1}"/>
              </a:ext>
            </a:extLst>
          </p:cNvPr>
          <p:cNvSpPr txBox="1"/>
          <p:nvPr/>
        </p:nvSpPr>
        <p:spPr>
          <a:xfrm>
            <a:off x="1504708" y="1780145"/>
            <a:ext cx="3568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Na posição 130 da memória!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F38D8785-B5E0-75BB-A2D3-FF5A1255BBD3}"/>
              </a:ext>
            </a:extLst>
          </p:cNvPr>
          <p:cNvSpPr/>
          <p:nvPr/>
        </p:nvSpPr>
        <p:spPr>
          <a:xfrm rot="10800000">
            <a:off x="7258466" y="3209840"/>
            <a:ext cx="470159" cy="29182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A69761D4-5DE4-2B5C-6F83-8E12B95F5BCE}"/>
              </a:ext>
            </a:extLst>
          </p:cNvPr>
          <p:cNvSpPr/>
          <p:nvPr/>
        </p:nvSpPr>
        <p:spPr>
          <a:xfrm rot="13244594">
            <a:off x="3085105" y="5904122"/>
            <a:ext cx="396239" cy="1930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C22C7A3-235B-3F55-BCA2-105A15A1B7C0}"/>
              </a:ext>
            </a:extLst>
          </p:cNvPr>
          <p:cNvSpPr txBox="1"/>
          <p:nvPr/>
        </p:nvSpPr>
        <p:spPr>
          <a:xfrm>
            <a:off x="3426875" y="6018389"/>
            <a:ext cx="1871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Digite 16 (Store – STA)</a:t>
            </a:r>
          </a:p>
        </p:txBody>
      </p:sp>
    </p:spTree>
    <p:extLst>
      <p:ext uri="{BB962C8B-B14F-4D97-AF65-F5344CB8AC3E}">
        <p14:creationId xmlns:p14="http://schemas.microsoft.com/office/powerpoint/2010/main" val="48509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D433676E-1990-CB34-A558-BF548C8EBF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000" t="29404" r="29444" b="23587"/>
          <a:stretch/>
        </p:blipFill>
        <p:spPr>
          <a:xfrm>
            <a:off x="1625706" y="2333995"/>
            <a:ext cx="5790267" cy="3684394"/>
          </a:xfrm>
          <a:prstGeom prst="rect">
            <a:avLst/>
          </a:prstGeom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Soma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7538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Onde o resultado deverá ser gravado?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714CCF7-02B4-FCE7-9CED-370931F88CE1}"/>
              </a:ext>
            </a:extLst>
          </p:cNvPr>
          <p:cNvSpPr txBox="1"/>
          <p:nvPr/>
        </p:nvSpPr>
        <p:spPr>
          <a:xfrm>
            <a:off x="1504708" y="1780145"/>
            <a:ext cx="3568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Na posição 130 da memória!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F38D8785-B5E0-75BB-A2D3-FF5A1255BBD3}"/>
              </a:ext>
            </a:extLst>
          </p:cNvPr>
          <p:cNvSpPr/>
          <p:nvPr/>
        </p:nvSpPr>
        <p:spPr>
          <a:xfrm rot="10800000">
            <a:off x="7258466" y="3280960"/>
            <a:ext cx="470159" cy="29182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A69761D4-5DE4-2B5C-6F83-8E12B95F5BCE}"/>
              </a:ext>
            </a:extLst>
          </p:cNvPr>
          <p:cNvSpPr/>
          <p:nvPr/>
        </p:nvSpPr>
        <p:spPr>
          <a:xfrm>
            <a:off x="1529908" y="3658762"/>
            <a:ext cx="396239" cy="1930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298A19A-FAEE-7C42-8BA4-80FA812C2CB0}"/>
              </a:ext>
            </a:extLst>
          </p:cNvPr>
          <p:cNvSpPr txBox="1"/>
          <p:nvPr/>
        </p:nvSpPr>
        <p:spPr>
          <a:xfrm>
            <a:off x="1546056" y="6111467"/>
            <a:ext cx="4836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Em qual endereço deve ser gravado?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379E8C4-B02C-0335-8D47-1597977D99A6}"/>
              </a:ext>
            </a:extLst>
          </p:cNvPr>
          <p:cNvSpPr txBox="1"/>
          <p:nvPr/>
        </p:nvSpPr>
        <p:spPr>
          <a:xfrm flipH="1">
            <a:off x="1546056" y="6389211"/>
            <a:ext cx="1396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130</a:t>
            </a:r>
          </a:p>
        </p:txBody>
      </p:sp>
    </p:spTree>
    <p:extLst>
      <p:ext uri="{BB962C8B-B14F-4D97-AF65-F5344CB8AC3E}">
        <p14:creationId xmlns:p14="http://schemas.microsoft.com/office/powerpoint/2010/main" val="1195076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C3FF485C-3A0E-99C2-19BB-23E202DDCF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778" t="30543" r="29555" b="21852"/>
          <a:stretch/>
        </p:blipFill>
        <p:spPr>
          <a:xfrm>
            <a:off x="1625705" y="2428239"/>
            <a:ext cx="5732977" cy="3684393"/>
          </a:xfrm>
          <a:prstGeom prst="rect">
            <a:avLst/>
          </a:prstGeom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Soma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7538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Onde o resultado deverá ser gravado?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714CCF7-02B4-FCE7-9CED-370931F88CE1}"/>
              </a:ext>
            </a:extLst>
          </p:cNvPr>
          <p:cNvSpPr txBox="1"/>
          <p:nvPr/>
        </p:nvSpPr>
        <p:spPr>
          <a:xfrm>
            <a:off x="1504708" y="1780145"/>
            <a:ext cx="3568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Na posição 130 da memória!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F38D8785-B5E0-75BB-A2D3-FF5A1255BBD3}"/>
              </a:ext>
            </a:extLst>
          </p:cNvPr>
          <p:cNvSpPr/>
          <p:nvPr/>
        </p:nvSpPr>
        <p:spPr>
          <a:xfrm rot="10800000">
            <a:off x="7258466" y="3280960"/>
            <a:ext cx="470159" cy="29182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A69761D4-5DE4-2B5C-6F83-8E12B95F5BCE}"/>
              </a:ext>
            </a:extLst>
          </p:cNvPr>
          <p:cNvSpPr/>
          <p:nvPr/>
        </p:nvSpPr>
        <p:spPr>
          <a:xfrm>
            <a:off x="1529908" y="3658762"/>
            <a:ext cx="396239" cy="1930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9D07790F-4277-8BE1-C069-83C375CE67B6}"/>
              </a:ext>
            </a:extLst>
          </p:cNvPr>
          <p:cNvSpPr/>
          <p:nvPr/>
        </p:nvSpPr>
        <p:spPr>
          <a:xfrm rot="13244594">
            <a:off x="3085105" y="5904122"/>
            <a:ext cx="396239" cy="1930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ED3C0D5-96FA-FCDC-AE64-DD5BED6C9205}"/>
              </a:ext>
            </a:extLst>
          </p:cNvPr>
          <p:cNvSpPr txBox="1"/>
          <p:nvPr/>
        </p:nvSpPr>
        <p:spPr>
          <a:xfrm>
            <a:off x="3426875" y="6018389"/>
            <a:ext cx="1871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Digite 130</a:t>
            </a:r>
          </a:p>
        </p:txBody>
      </p:sp>
    </p:spTree>
    <p:extLst>
      <p:ext uri="{BB962C8B-B14F-4D97-AF65-F5344CB8AC3E}">
        <p14:creationId xmlns:p14="http://schemas.microsoft.com/office/powerpoint/2010/main" val="3461641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BB13EC5-928B-9B69-8637-572AC8D33B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444" t="30543" r="29667" b="23432"/>
          <a:stretch/>
        </p:blipFill>
        <p:spPr>
          <a:xfrm>
            <a:off x="1686666" y="2428238"/>
            <a:ext cx="5584247" cy="3535681"/>
          </a:xfrm>
          <a:prstGeom prst="rect">
            <a:avLst/>
          </a:prstGeom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Soma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7538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Onde o resultado deverá ser gravado?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714CCF7-02B4-FCE7-9CED-370931F88CE1}"/>
              </a:ext>
            </a:extLst>
          </p:cNvPr>
          <p:cNvSpPr txBox="1"/>
          <p:nvPr/>
        </p:nvSpPr>
        <p:spPr>
          <a:xfrm>
            <a:off x="1504708" y="1780145"/>
            <a:ext cx="3568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Na posição 130 da memória!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F38D8785-B5E0-75BB-A2D3-FF5A1255BBD3}"/>
              </a:ext>
            </a:extLst>
          </p:cNvPr>
          <p:cNvSpPr/>
          <p:nvPr/>
        </p:nvSpPr>
        <p:spPr>
          <a:xfrm rot="10800000">
            <a:off x="7258466" y="3280960"/>
            <a:ext cx="470159" cy="29182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A69761D4-5DE4-2B5C-6F83-8E12B95F5BCE}"/>
              </a:ext>
            </a:extLst>
          </p:cNvPr>
          <p:cNvSpPr/>
          <p:nvPr/>
        </p:nvSpPr>
        <p:spPr>
          <a:xfrm>
            <a:off x="1505369" y="3762225"/>
            <a:ext cx="396239" cy="1930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9D07790F-4277-8BE1-C069-83C375CE67B6}"/>
              </a:ext>
            </a:extLst>
          </p:cNvPr>
          <p:cNvSpPr/>
          <p:nvPr/>
        </p:nvSpPr>
        <p:spPr>
          <a:xfrm rot="5400000">
            <a:off x="2597425" y="3332480"/>
            <a:ext cx="396239" cy="1930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7644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88DB9538-41C6-47BC-812D-A3CDEBE729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804" t="30543" r="29891" b="22560"/>
          <a:stretch/>
        </p:blipFill>
        <p:spPr>
          <a:xfrm>
            <a:off x="1648678" y="2472846"/>
            <a:ext cx="5570032" cy="3557333"/>
          </a:xfrm>
          <a:prstGeom prst="rect">
            <a:avLst/>
          </a:prstGeom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Soma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7538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Agora é só finalizar o programa com HLT (240)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CD0B181A-CB51-BC9E-9657-9CC6AE6AEC19}"/>
              </a:ext>
            </a:extLst>
          </p:cNvPr>
          <p:cNvSpPr/>
          <p:nvPr/>
        </p:nvSpPr>
        <p:spPr>
          <a:xfrm rot="13244594">
            <a:off x="3085105" y="5904122"/>
            <a:ext cx="396239" cy="1930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A948D37-968D-60FE-B45C-323336EC5A3E}"/>
              </a:ext>
            </a:extLst>
          </p:cNvPr>
          <p:cNvSpPr txBox="1"/>
          <p:nvPr/>
        </p:nvSpPr>
        <p:spPr>
          <a:xfrm>
            <a:off x="3426875" y="6018389"/>
            <a:ext cx="1871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Digite 240</a:t>
            </a:r>
          </a:p>
        </p:txBody>
      </p:sp>
    </p:spTree>
    <p:extLst>
      <p:ext uri="{BB962C8B-B14F-4D97-AF65-F5344CB8AC3E}">
        <p14:creationId xmlns:p14="http://schemas.microsoft.com/office/powerpoint/2010/main" val="3785082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172548B-4CD3-46D1-5650-C91E72CACB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587" t="30838" r="30109" b="23140"/>
          <a:stretch/>
        </p:blipFill>
        <p:spPr>
          <a:xfrm>
            <a:off x="1648678" y="2472846"/>
            <a:ext cx="5490199" cy="3440937"/>
          </a:xfrm>
          <a:prstGeom prst="rect">
            <a:avLst/>
          </a:prstGeom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Soma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7538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Agora é só finalizar o programa com HLT (140)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CD0B181A-CB51-BC9E-9657-9CC6AE6AEC19}"/>
              </a:ext>
            </a:extLst>
          </p:cNvPr>
          <p:cNvSpPr/>
          <p:nvPr/>
        </p:nvSpPr>
        <p:spPr>
          <a:xfrm>
            <a:off x="1562499" y="3960518"/>
            <a:ext cx="396239" cy="1930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3115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2861B0BC-4B88-8C93-77DC-4CCF0D299B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804" t="29324" r="29565" b="23526"/>
          <a:stretch/>
        </p:blipFill>
        <p:spPr>
          <a:xfrm>
            <a:off x="1703565" y="2472846"/>
            <a:ext cx="5490199" cy="3497674"/>
          </a:xfrm>
          <a:prstGeom prst="rect">
            <a:avLst/>
          </a:prstGeom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Soma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7538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Agora é rodar o programa: Passo-a-passo ou rodar o programa inteiro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CD0B181A-CB51-BC9E-9657-9CC6AE6AEC19}"/>
              </a:ext>
            </a:extLst>
          </p:cNvPr>
          <p:cNvSpPr/>
          <p:nvPr/>
        </p:nvSpPr>
        <p:spPr>
          <a:xfrm rot="5400000">
            <a:off x="4347064" y="3632529"/>
            <a:ext cx="396239" cy="1930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9502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CE37E1D-C545-E678-EBB1-BD86970C85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022" t="31410" r="29566" b="23140"/>
          <a:stretch/>
        </p:blipFill>
        <p:spPr>
          <a:xfrm>
            <a:off x="1779104" y="2560202"/>
            <a:ext cx="5524345" cy="3410318"/>
          </a:xfrm>
          <a:prstGeom prst="rect">
            <a:avLst/>
          </a:prstGeom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Soma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7538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Agora é rodar o programa: Passo-a-passo ou rodar o programa inteiro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CD0B181A-CB51-BC9E-9657-9CC6AE6AEC19}"/>
              </a:ext>
            </a:extLst>
          </p:cNvPr>
          <p:cNvSpPr/>
          <p:nvPr/>
        </p:nvSpPr>
        <p:spPr>
          <a:xfrm rot="5400000">
            <a:off x="4163962" y="3632530"/>
            <a:ext cx="396239" cy="1930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5881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1964B21-1914-C817-B309-6C9E184AB2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022" t="31643" r="29348" b="22753"/>
          <a:stretch/>
        </p:blipFill>
        <p:spPr>
          <a:xfrm>
            <a:off x="1840551" y="2592558"/>
            <a:ext cx="5482031" cy="3377962"/>
          </a:xfrm>
          <a:prstGeom prst="rect">
            <a:avLst/>
          </a:prstGeom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5F774D65-5867-1624-0CC2-F7D03613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548" y="730757"/>
            <a:ext cx="914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Soma de dois números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895442-E2C6-41D1-12BD-B9C542990FEB}"/>
              </a:ext>
            </a:extLst>
          </p:cNvPr>
          <p:cNvSpPr txBox="1"/>
          <p:nvPr/>
        </p:nvSpPr>
        <p:spPr>
          <a:xfrm>
            <a:off x="853548" y="1421295"/>
            <a:ext cx="7538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B0F0"/>
                </a:solidFill>
              </a:rPr>
              <a:t>Depois de rodar, observe o resultado (8) na posição 130 da memória!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CD0B181A-CB51-BC9E-9657-9CC6AE6AEC19}"/>
              </a:ext>
            </a:extLst>
          </p:cNvPr>
          <p:cNvSpPr/>
          <p:nvPr/>
        </p:nvSpPr>
        <p:spPr>
          <a:xfrm rot="10800000">
            <a:off x="7006553" y="3332480"/>
            <a:ext cx="396239" cy="1930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0773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>
            <a:extLst>
              <a:ext uri="{FF2B5EF4-FFF2-40B4-BE49-F238E27FC236}">
                <a16:creationId xmlns:a16="http://schemas.microsoft.com/office/drawing/2014/main" id="{3CD65825-C88D-4673-6E51-161A46C5F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773238"/>
            <a:ext cx="5543550" cy="437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9" name="Título 1">
            <a:extLst>
              <a:ext uri="{FF2B5EF4-FFF2-40B4-BE49-F238E27FC236}">
                <a16:creationId xmlns:a16="http://schemas.microsoft.com/office/drawing/2014/main" id="{8B929C0E-D817-B08E-8AE2-63F44E9974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altLang="pt-BR">
                <a:latin typeface="Gotham HTF" charset="0"/>
                <a:ea typeface="MS PGothic" panose="020B0600070205080204" pitchFamily="34" charset="-128"/>
              </a:rPr>
              <a:t>Dúvidas?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748785"/>
            <a:ext cx="91439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600" b="1" u="none" dirty="0">
                <a:solidFill>
                  <a:srgbClr val="FF0000"/>
                </a:solidFill>
              </a:rPr>
              <a:t>Exercícios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682F-A585-D3C1-8A3A-E6F74A6DE714}"/>
              </a:ext>
            </a:extLst>
          </p:cNvPr>
          <p:cNvSpPr txBox="1"/>
          <p:nvPr/>
        </p:nvSpPr>
        <p:spPr>
          <a:xfrm flipH="1">
            <a:off x="820971" y="1669774"/>
            <a:ext cx="7547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1. Consideremos, um programa que realiza a soma de 3 posições consecutivas da memória e armazena o resultado numa quarta posição.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DAB0BA5-363D-DF03-1E88-ECF7A3BD451D}"/>
              </a:ext>
            </a:extLst>
          </p:cNvPr>
          <p:cNvSpPr txBox="1"/>
          <p:nvPr/>
        </p:nvSpPr>
        <p:spPr>
          <a:xfrm>
            <a:off x="820971" y="2421485"/>
            <a:ext cx="746677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/>
              <a:t>2. Consideremos, um programa que realiza a soma de 5 posições consecutivas da memória e armazena o resultado numa sexta posição.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3. Monte um programa que realiza a multiplicação 5 x 8.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4. Monte um programa que realiza a multiplicação 3 x 5 + 35.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5. Monte um programa que realiza a multiplicação (7 + 5) x 5.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6. Monte um programa que realiza a multiplicação ((7 + 5)^2) x 2.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7. Monte um programa que realiza a multiplicação (7^2) + (5^3) x 5. 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57230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1" y="3387982"/>
            <a:ext cx="6862719" cy="144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2023  Prof. Dr. Sandro </a:t>
            </a:r>
            <a:r>
              <a:rPr kumimoji="1" lang="en-US" sz="2000" dirty="0" err="1">
                <a:solidFill>
                  <a:schemeClr val="bg1"/>
                </a:solidFill>
                <a:latin typeface="Gotham HTF" pitchFamily="2" charset="0"/>
                <a:cs typeface="Gotham-Bold"/>
              </a:rPr>
              <a:t>Aparecido</a:t>
            </a: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 Ferraz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3155</TotalTime>
  <Words>1727</Words>
  <Application>Microsoft Office PowerPoint</Application>
  <PresentationFormat>On-screen Show (4:3)</PresentationFormat>
  <Paragraphs>287</Paragraphs>
  <Slides>56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56</vt:i4>
      </vt:variant>
    </vt:vector>
  </HeadingPairs>
  <TitlesOfParts>
    <vt:vector size="68" baseType="lpstr">
      <vt:lpstr>Arial</vt:lpstr>
      <vt:lpstr>Calibri</vt:lpstr>
      <vt:lpstr>Gotham HTF</vt:lpstr>
      <vt:lpstr>Gotham HTF Book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Dúvidas?</vt:lpstr>
      <vt:lpstr>PowerPoint Presentation</vt:lpstr>
      <vt:lpstr>PowerPoint Presentation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Logon PF Fiap</cp:lastModifiedBy>
  <cp:revision>432</cp:revision>
  <cp:lastPrinted>2016-02-15T09:06:24Z</cp:lastPrinted>
  <dcterms:created xsi:type="dcterms:W3CDTF">2015-02-07T21:24:47Z</dcterms:created>
  <dcterms:modified xsi:type="dcterms:W3CDTF">2024-04-09T12:42:21Z</dcterms:modified>
</cp:coreProperties>
</file>