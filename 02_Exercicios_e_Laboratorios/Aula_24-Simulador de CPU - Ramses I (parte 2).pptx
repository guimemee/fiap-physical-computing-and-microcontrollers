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38"/>
  </p:notesMasterIdLst>
  <p:handoutMasterIdLst>
    <p:handoutMasterId r:id="rId39"/>
  </p:handoutMasterIdLst>
  <p:sldIdLst>
    <p:sldId id="256" r:id="rId6"/>
    <p:sldId id="487" r:id="rId7"/>
    <p:sldId id="532" r:id="rId8"/>
    <p:sldId id="502" r:id="rId9"/>
    <p:sldId id="496" r:id="rId10"/>
    <p:sldId id="540" r:id="rId11"/>
    <p:sldId id="593" r:id="rId12"/>
    <p:sldId id="594" r:id="rId13"/>
    <p:sldId id="595" r:id="rId14"/>
    <p:sldId id="596" r:id="rId15"/>
    <p:sldId id="597" r:id="rId16"/>
    <p:sldId id="598" r:id="rId17"/>
    <p:sldId id="599" r:id="rId18"/>
    <p:sldId id="600" r:id="rId19"/>
    <p:sldId id="601" r:id="rId20"/>
    <p:sldId id="602" r:id="rId21"/>
    <p:sldId id="603" r:id="rId22"/>
    <p:sldId id="604" r:id="rId23"/>
    <p:sldId id="605" r:id="rId24"/>
    <p:sldId id="606" r:id="rId25"/>
    <p:sldId id="607" r:id="rId26"/>
    <p:sldId id="608" r:id="rId27"/>
    <p:sldId id="609" r:id="rId28"/>
    <p:sldId id="610" r:id="rId29"/>
    <p:sldId id="611" r:id="rId30"/>
    <p:sldId id="612" r:id="rId31"/>
    <p:sldId id="307" r:id="rId32"/>
    <p:sldId id="498" r:id="rId33"/>
    <p:sldId id="657" r:id="rId34"/>
    <p:sldId id="659" r:id="rId35"/>
    <p:sldId id="592" r:id="rId36"/>
    <p:sldId id="265" r:id="rId3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000"/>
    <a:srgbClr val="F0265D"/>
    <a:srgbClr val="000000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3" autoAdjust="0"/>
    <p:restoredTop sz="94786" autoAdjust="0"/>
  </p:normalViewPr>
  <p:slideViewPr>
    <p:cSldViewPr snapToGrid="0" snapToObjects="1">
      <p:cViewPr varScale="1">
        <p:scale>
          <a:sx n="68" d="100"/>
          <a:sy n="68" d="100"/>
        </p:scale>
        <p:origin x="17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09/10/2024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10/9/2024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ço Reservado para Imagem de Slide 1">
            <a:extLst>
              <a:ext uri="{FF2B5EF4-FFF2-40B4-BE49-F238E27FC236}">
                <a16:creationId xmlns:a16="http://schemas.microsoft.com/office/drawing/2014/main" id="{2E5EAA4D-734C-FB2B-5805-93F6F42ACF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Espaço Reservado para Anotações 2">
            <a:extLst>
              <a:ext uri="{FF2B5EF4-FFF2-40B4-BE49-F238E27FC236}">
                <a16:creationId xmlns:a16="http://schemas.microsoft.com/office/drawing/2014/main" id="{65460698-FC29-6A3E-74F5-58B9BB385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pt-BR">
              <a:latin typeface="Arial" panose="020B0604020202020204" pitchFamily="34" charset="0"/>
            </a:endParaRPr>
          </a:p>
        </p:txBody>
      </p:sp>
      <p:sp>
        <p:nvSpPr>
          <p:cNvPr id="73732" name="Espaço Reservado para Número de Slide 3">
            <a:extLst>
              <a:ext uri="{FF2B5EF4-FFF2-40B4-BE49-F238E27FC236}">
                <a16:creationId xmlns:a16="http://schemas.microsoft.com/office/drawing/2014/main" id="{A035F7C8-9F59-BDC4-BA1A-3BF8398FF8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F3ECB2A-6AF7-410F-A7D7-63C12142FD9A}" type="slidenum">
              <a:rPr lang="en-US" altLang="pt-BR"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pPr/>
              <a:t>31</a:t>
            </a:fld>
            <a:endParaRPr lang="en-US" altLang="pt-BR" sz="1200">
              <a:solidFill>
                <a:schemeClr val="tx1"/>
              </a:solidFill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11881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806178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</a:t>
            </a:r>
            <a:r>
              <a:rPr lang="en-US" sz="2800" b="1" kern="1200" dirty="0">
                <a:solidFill>
                  <a:srgbClr val="303030"/>
                </a:solidFill>
                <a:latin typeface="Gotham HTF" pitchFamily="2" charset="0"/>
                <a:ea typeface="+mn-ea"/>
                <a:cs typeface="Gotham-Book"/>
              </a:rPr>
              <a:t>Physical Computing &amp; Microcontrollers – PC_&amp;_M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  <a:p>
            <a:pPr>
              <a:lnSpc>
                <a:spcPct val="90000"/>
              </a:lnSpc>
            </a:pP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37627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4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  <p:sldLayoutId id="2147483754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2BB401F-2946-FAB8-CB40-AC40FAEA3076}"/>
              </a:ext>
            </a:extLst>
          </p:cNvPr>
          <p:cNvSpPr/>
          <p:nvPr/>
        </p:nvSpPr>
        <p:spPr>
          <a:xfrm>
            <a:off x="0" y="-26352"/>
            <a:ext cx="9144000" cy="6884352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88A5E8-D33C-9865-B585-B91DAF0FF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4617" y="2661263"/>
            <a:ext cx="4999383" cy="90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pt-BR" altLang="pt-BR" sz="2800" b="1" dirty="0">
                <a:solidFill>
                  <a:srgbClr val="FF0000"/>
                </a:solidFill>
              </a:rPr>
              <a:t>O Computador </a:t>
            </a:r>
            <a:r>
              <a:rPr lang="pt-BR" altLang="pt-BR" sz="2800" b="1" dirty="0" err="1">
                <a:solidFill>
                  <a:srgbClr val="FF0000"/>
                </a:solidFill>
              </a:rPr>
              <a:t>Ramses</a:t>
            </a:r>
            <a:r>
              <a:rPr lang="pt-BR" altLang="pt-BR" sz="2800" b="1" dirty="0">
                <a:solidFill>
                  <a:srgbClr val="FF0000"/>
                </a:solidFill>
              </a:rPr>
              <a:t> (parte 2)</a:t>
            </a:r>
          </a:p>
        </p:txBody>
      </p:sp>
      <p:pic>
        <p:nvPicPr>
          <p:cNvPr id="1026" name="Picture 2" descr="História Mundi: Ramsés II: faraó do Egito Antigo">
            <a:extLst>
              <a:ext uri="{FF2B5EF4-FFF2-40B4-BE49-F238E27FC236}">
                <a16:creationId xmlns:a16="http://schemas.microsoft.com/office/drawing/2014/main" id="{19E2E6CE-452D-1E8D-7857-92D0EAB3C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6512"/>
            <a:ext cx="3982065" cy="689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892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8"/>
          <p:cNvSpPr>
            <a:spLocks noChangeArrowheads="1"/>
          </p:cNvSpPr>
          <p:nvPr/>
        </p:nvSpPr>
        <p:spPr bwMode="auto">
          <a:xfrm>
            <a:off x="594359" y="724535"/>
            <a:ext cx="7950201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</a:t>
            </a:r>
          </a:p>
          <a:p>
            <a:pPr algn="just" eaLnBrk="1" hangingPunct="1"/>
            <a:endParaRPr lang="pt-BR" altLang="pt-BR" sz="1000" b="1" u="none" dirty="0">
              <a:solidFill>
                <a:srgbClr val="FF0000"/>
              </a:solidFill>
            </a:endParaRPr>
          </a:p>
          <a:p>
            <a:pPr algn="just" eaLnBrk="1" hangingPunct="1"/>
            <a:endParaRPr lang="pt-BR" altLang="pt-BR" sz="1000" b="1" u="none" dirty="0">
              <a:solidFill>
                <a:srgbClr val="FF0000"/>
              </a:solidFill>
            </a:endParaRPr>
          </a:p>
          <a:p>
            <a:pPr algn="just" eaLnBrk="1" hangingPunct="1"/>
            <a:r>
              <a:rPr lang="pt-BR" altLang="pt-BR" sz="2000" u="none" dirty="0"/>
              <a:t>Uma </a:t>
            </a:r>
            <a:r>
              <a:rPr lang="pt-BR" altLang="pt-BR" sz="2000" b="1" u="none" dirty="0"/>
              <a:t>sub-rotina</a:t>
            </a:r>
            <a:r>
              <a:rPr lang="pt-BR" altLang="pt-BR" sz="2000" u="none" dirty="0"/>
              <a:t> é uma </a:t>
            </a:r>
            <a:r>
              <a:rPr lang="pt-BR" altLang="pt-BR" sz="2000" b="1" u="none" dirty="0"/>
              <a:t>sequência de instruções que pode ser ativada (chamada) de qualquer ponto de um programa</a:t>
            </a:r>
            <a:r>
              <a:rPr lang="pt-BR" altLang="pt-BR" sz="2000" u="none" dirty="0"/>
              <a:t>. </a:t>
            </a:r>
            <a:r>
              <a:rPr lang="pt-BR" altLang="pt-BR" sz="2000" b="1" u="none" dirty="0"/>
              <a:t>Após a execução de uma sub-rotina, o controle retorna à instrução seguinte àquela que a chamou</a:t>
            </a:r>
            <a:r>
              <a:rPr lang="pt-BR" altLang="pt-BR" sz="2000" u="none" dirty="0"/>
              <a:t>. Instruções que chamam sub-rotinas são denominadas instruções de desvio para sub-rotina. </a:t>
            </a:r>
          </a:p>
          <a:p>
            <a:pPr algn="just" eaLnBrk="1" hangingPunct="1"/>
            <a:endParaRPr lang="pt-BR" altLang="pt-BR" sz="2000" dirty="0"/>
          </a:p>
          <a:p>
            <a:pPr algn="just" eaLnBrk="1" hangingPunct="1"/>
            <a:r>
              <a:rPr lang="pt-BR" altLang="pt-BR" sz="2000" u="none" dirty="0"/>
              <a:t>A </a:t>
            </a:r>
            <a:r>
              <a:rPr lang="pt-BR" altLang="pt-BR" sz="2000" b="1" u="none" dirty="0"/>
              <a:t>JSR</a:t>
            </a:r>
            <a:r>
              <a:rPr lang="pt-BR" altLang="pt-BR" sz="2000" u="none" dirty="0"/>
              <a:t> (</a:t>
            </a:r>
            <a:r>
              <a:rPr lang="pt-BR" altLang="pt-BR" sz="2000" b="1" u="none" dirty="0"/>
              <a:t>J</a:t>
            </a:r>
            <a:r>
              <a:rPr lang="pt-BR" altLang="pt-BR" sz="2000" u="none" dirty="0"/>
              <a:t>ump </a:t>
            </a:r>
            <a:r>
              <a:rPr lang="pt-BR" altLang="pt-BR" sz="2000" u="none" dirty="0" err="1"/>
              <a:t>to</a:t>
            </a:r>
            <a:r>
              <a:rPr lang="pt-BR" altLang="pt-BR" sz="2000" u="none" dirty="0"/>
              <a:t> </a:t>
            </a:r>
            <a:r>
              <a:rPr lang="pt-BR" altLang="pt-BR" sz="2000" b="1" u="none" dirty="0" err="1"/>
              <a:t>S</a:t>
            </a:r>
            <a:r>
              <a:rPr lang="pt-BR" altLang="pt-BR" sz="2000" u="none" dirty="0" err="1"/>
              <a:t>ub</a:t>
            </a:r>
            <a:r>
              <a:rPr lang="pt-BR" altLang="pt-BR" sz="2000" b="1" u="none" dirty="0" err="1"/>
              <a:t>R</a:t>
            </a:r>
            <a:r>
              <a:rPr lang="pt-BR" altLang="pt-BR" sz="2000" u="none" dirty="0" err="1"/>
              <a:t>outine</a:t>
            </a:r>
            <a:r>
              <a:rPr lang="pt-BR" altLang="pt-BR" sz="2000" u="none" dirty="0"/>
              <a:t>) no </a:t>
            </a:r>
            <a:r>
              <a:rPr lang="pt-BR" altLang="pt-BR" sz="2000" u="none" dirty="0" err="1"/>
              <a:t>Ramses</a:t>
            </a:r>
            <a:r>
              <a:rPr lang="pt-BR" altLang="pt-BR" sz="2000" u="none" dirty="0"/>
              <a:t> é um exemplo.</a:t>
            </a:r>
          </a:p>
          <a:p>
            <a:pPr algn="just" eaLnBrk="1" hangingPunct="1"/>
            <a:endParaRPr lang="pt-BR" altLang="pt-BR" sz="2000" u="none" dirty="0"/>
          </a:p>
          <a:p>
            <a:pPr algn="just" eaLnBrk="1" hangingPunct="1"/>
            <a:r>
              <a:rPr lang="pt-BR" altLang="pt-BR" sz="2000" u="none" dirty="0"/>
              <a:t>Qual a diferença entre </a:t>
            </a:r>
            <a:r>
              <a:rPr lang="pt-BR" altLang="pt-BR" sz="2000" b="1" u="none" dirty="0"/>
              <a:t>JMP</a:t>
            </a:r>
            <a:r>
              <a:rPr lang="pt-BR" altLang="pt-BR" sz="2000" u="none" dirty="0"/>
              <a:t> e </a:t>
            </a:r>
            <a:r>
              <a:rPr lang="pt-BR" altLang="pt-BR" sz="2000" b="1" u="none" dirty="0"/>
              <a:t>JSR? </a:t>
            </a:r>
          </a:p>
          <a:p>
            <a:pPr algn="just" eaLnBrk="1" hangingPunct="1"/>
            <a:endParaRPr lang="pt-BR" altLang="pt-BR" sz="2000" b="1" dirty="0"/>
          </a:p>
          <a:p>
            <a:pPr algn="just" eaLnBrk="1" hangingPunct="1"/>
            <a:r>
              <a:rPr lang="pt-BR" altLang="pt-BR" sz="2000" u="none" dirty="0"/>
              <a:t>No </a:t>
            </a:r>
            <a:r>
              <a:rPr lang="pt-BR" altLang="pt-BR" sz="2000" b="1" u="none" dirty="0"/>
              <a:t>JSR</a:t>
            </a:r>
            <a:r>
              <a:rPr lang="pt-BR" altLang="pt-BR" sz="2000" u="none" dirty="0"/>
              <a:t> </a:t>
            </a:r>
            <a:r>
              <a:rPr lang="pt-BR" altLang="pt-BR" sz="2000" dirty="0"/>
              <a:t>o</a:t>
            </a:r>
            <a:r>
              <a:rPr lang="pt-BR" altLang="pt-BR" sz="2000" u="none" dirty="0"/>
              <a:t> endereço de retorno (após a execução de uma sub-rotina), é o endereço da instrução que segue a instrução que chamou a sub-rotina, ou seja, o próprio valor que o PC assume após a decodificação da instrução JSR.</a:t>
            </a:r>
          </a:p>
          <a:p>
            <a:pPr algn="just" eaLnBrk="1" hangingPunct="1"/>
            <a:endParaRPr lang="pt-BR" altLang="pt-BR" sz="1000" u="none" dirty="0"/>
          </a:p>
          <a:p>
            <a:pPr algn="just" eaLnBrk="1" hangingPunct="1"/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867149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8"/>
          <p:cNvSpPr>
            <a:spLocks noChangeArrowheads="1"/>
          </p:cNvSpPr>
          <p:nvPr/>
        </p:nvSpPr>
        <p:spPr bwMode="auto">
          <a:xfrm>
            <a:off x="876299" y="727075"/>
            <a:ext cx="698754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Conjunto de instruções</a:t>
            </a:r>
          </a:p>
        </p:txBody>
      </p:sp>
      <p:pic>
        <p:nvPicPr>
          <p:cNvPr id="7" name="Picture 49" descr="novo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4059"/>
          <a:stretch>
            <a:fillRect/>
          </a:stretch>
        </p:blipFill>
        <p:spPr bwMode="auto">
          <a:xfrm>
            <a:off x="179388" y="1341438"/>
            <a:ext cx="4897437" cy="331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0" descr="novo-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0" y="2779713"/>
            <a:ext cx="3933825" cy="324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E31D3D4-53DB-768D-4492-7D263BB859F4}"/>
              </a:ext>
            </a:extLst>
          </p:cNvPr>
          <p:cNvSpPr/>
          <p:nvPr/>
        </p:nvSpPr>
        <p:spPr>
          <a:xfrm>
            <a:off x="853439" y="3714750"/>
            <a:ext cx="4200526" cy="203019"/>
          </a:xfrm>
          <a:prstGeom prst="rect">
            <a:avLst/>
          </a:prstGeom>
          <a:noFill/>
          <a:ln w="28575">
            <a:solidFill>
              <a:srgbClr val="F02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02A683B-1A62-8F6B-256E-6398E66153F9}"/>
              </a:ext>
            </a:extLst>
          </p:cNvPr>
          <p:cNvSpPr/>
          <p:nvPr/>
        </p:nvSpPr>
        <p:spPr>
          <a:xfrm>
            <a:off x="5242559" y="5349241"/>
            <a:ext cx="3819525" cy="229258"/>
          </a:xfrm>
          <a:prstGeom prst="rect">
            <a:avLst/>
          </a:prstGeom>
          <a:noFill/>
          <a:ln w="28575">
            <a:solidFill>
              <a:srgbClr val="F02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8428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8"/>
          <p:cNvSpPr>
            <a:spLocks noChangeArrowheads="1"/>
          </p:cNvSpPr>
          <p:nvPr/>
        </p:nvSpPr>
        <p:spPr bwMode="auto">
          <a:xfrm>
            <a:off x="685799" y="724535"/>
            <a:ext cx="7802881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</a:t>
            </a:r>
          </a:p>
          <a:p>
            <a:pPr algn="just" eaLnBrk="1" hangingPunct="1"/>
            <a:endParaRPr lang="pt-BR" altLang="pt-BR" sz="1000" b="1" u="none" dirty="0">
              <a:solidFill>
                <a:srgbClr val="FF0000"/>
              </a:solidFill>
            </a:endParaRPr>
          </a:p>
          <a:p>
            <a:pPr algn="just" eaLnBrk="1" hangingPunct="1"/>
            <a:r>
              <a:rPr lang="pt-BR" altLang="pt-BR" sz="2400" b="1" u="none" dirty="0"/>
              <a:t>Características de uma sub-rotina:</a:t>
            </a:r>
          </a:p>
          <a:p>
            <a:pPr algn="just" eaLnBrk="1" hangingPunct="1"/>
            <a:endParaRPr lang="pt-BR" altLang="pt-BR" u="none" dirty="0"/>
          </a:p>
          <a:p>
            <a:pPr algn="just" eaLnBrk="1" hangingPunct="1"/>
            <a:r>
              <a:rPr lang="pt-BR" altLang="pt-BR" b="1" u="none" dirty="0"/>
              <a:t>a)   Recursividade: </a:t>
            </a:r>
            <a:r>
              <a:rPr lang="pt-BR" altLang="pt-BR" u="none" dirty="0"/>
              <a:t>Capacidade de uma sub-rotina chamar-se a si própria;</a:t>
            </a:r>
          </a:p>
          <a:p>
            <a:pPr algn="just" eaLnBrk="1" hangingPunct="1"/>
            <a:endParaRPr lang="pt-BR" altLang="pt-BR" b="1" u="none" dirty="0"/>
          </a:p>
          <a:p>
            <a:pPr algn="just" eaLnBrk="1" hangingPunct="1"/>
            <a:r>
              <a:rPr lang="pt-BR" altLang="pt-BR" b="1" u="none" dirty="0"/>
              <a:t>b)   Reentrância: </a:t>
            </a:r>
            <a:r>
              <a:rPr lang="pt-BR" altLang="pt-BR" u="none" dirty="0"/>
              <a:t>Possibilidade de vários programas em qualquer ambiente</a:t>
            </a:r>
          </a:p>
          <a:p>
            <a:pPr algn="just" eaLnBrk="1" hangingPunct="1"/>
            <a:r>
              <a:rPr lang="pt-BR" altLang="pt-BR" dirty="0"/>
              <a:t>     </a:t>
            </a:r>
            <a:r>
              <a:rPr lang="pt-BR" altLang="pt-BR" u="none" dirty="0"/>
              <a:t>  </a:t>
            </a:r>
            <a:r>
              <a:rPr lang="pt-BR" altLang="pt-BR" u="none" dirty="0" err="1"/>
              <a:t>multiprogramado</a:t>
            </a:r>
            <a:r>
              <a:rPr lang="pt-BR" altLang="pt-BR" u="none" dirty="0"/>
              <a:t> compartilharem uma única cópia de uma mesma sub-</a:t>
            </a:r>
          </a:p>
          <a:p>
            <a:pPr algn="just" eaLnBrk="1" hangingPunct="1"/>
            <a:r>
              <a:rPr lang="pt-BR" altLang="pt-BR" dirty="0"/>
              <a:t>       </a:t>
            </a:r>
            <a:r>
              <a:rPr lang="pt-BR" altLang="pt-BR" u="none" dirty="0"/>
              <a:t>rotina;</a:t>
            </a:r>
          </a:p>
          <a:p>
            <a:pPr algn="just" eaLnBrk="1" hangingPunct="1"/>
            <a:endParaRPr lang="pt-BR" altLang="pt-BR" b="1" u="none" dirty="0"/>
          </a:p>
          <a:p>
            <a:pPr marL="342900" indent="-342900" algn="just" eaLnBrk="1" hangingPunct="1">
              <a:buAutoNum type="alphaLcParenR" startAt="3"/>
            </a:pPr>
            <a:r>
              <a:rPr lang="pt-BR" altLang="pt-BR" b="1" u="none" dirty="0"/>
              <a:t>Número de níveis de aninhamento de sub-rotinas: </a:t>
            </a:r>
            <a:r>
              <a:rPr lang="pt-BR" altLang="pt-BR" u="none" dirty="0"/>
              <a:t>Sub-rotinas aninhas</a:t>
            </a:r>
            <a:endParaRPr lang="pt-BR" altLang="pt-BR" dirty="0"/>
          </a:p>
          <a:p>
            <a:pPr algn="just" eaLnBrk="1" hangingPunct="1"/>
            <a:r>
              <a:rPr lang="pt-BR" altLang="pt-BR" u="none" dirty="0"/>
              <a:t>       são sub-rotinas que foram chamadas por sub-rotinas, que foram </a:t>
            </a:r>
          </a:p>
          <a:p>
            <a:pPr algn="just" eaLnBrk="1" hangingPunct="1"/>
            <a:r>
              <a:rPr lang="pt-BR" altLang="pt-BR" dirty="0"/>
              <a:t>       </a:t>
            </a:r>
            <a:r>
              <a:rPr lang="pt-BR" altLang="pt-BR" u="none" dirty="0"/>
              <a:t>chamadas por sub-rotinas... (cascata).</a:t>
            </a:r>
          </a:p>
          <a:p>
            <a:pPr algn="just" eaLnBrk="1" hangingPunct="1"/>
            <a:endParaRPr lang="pt-BR" altLang="pt-BR" u="none" dirty="0"/>
          </a:p>
          <a:p>
            <a:pPr algn="just" eaLnBrk="1" hangingPunct="1"/>
            <a:r>
              <a:rPr lang="pt-BR" altLang="pt-BR" b="1" u="none" dirty="0"/>
              <a:t>No Ramses</a:t>
            </a:r>
            <a:r>
              <a:rPr lang="pt-BR" altLang="pt-BR" u="none" dirty="0"/>
              <a:t>, quando </a:t>
            </a:r>
            <a:r>
              <a:rPr lang="pt-BR" altLang="pt-BR" b="1" u="none" dirty="0"/>
              <a:t>JSR é executada</a:t>
            </a:r>
            <a:r>
              <a:rPr lang="pt-BR" altLang="pt-BR" u="none" dirty="0"/>
              <a:t>, o </a:t>
            </a:r>
            <a:r>
              <a:rPr lang="pt-BR" altLang="pt-BR" b="1" u="none" dirty="0"/>
              <a:t>endereço de retorno é armazenado na primeira palavra da sub-rotina</a:t>
            </a:r>
            <a:r>
              <a:rPr lang="pt-BR" altLang="pt-BR" u="none" dirty="0"/>
              <a:t> (ou seja, a </a:t>
            </a:r>
            <a:r>
              <a:rPr lang="pt-BR" altLang="pt-BR" b="1" u="none" dirty="0"/>
              <a:t>posição correspondente a </a:t>
            </a:r>
            <a:r>
              <a:rPr lang="pt-BR" altLang="pt-BR" b="1" i="1" u="none" dirty="0" err="1"/>
              <a:t>end</a:t>
            </a:r>
            <a:r>
              <a:rPr lang="pt-BR" altLang="pt-BR" b="1" u="none" dirty="0"/>
              <a:t> de JSR</a:t>
            </a:r>
            <a:r>
              <a:rPr lang="pt-BR" altLang="pt-BR" u="none" dirty="0"/>
              <a:t>).</a:t>
            </a:r>
          </a:p>
          <a:p>
            <a:pPr algn="just" eaLnBrk="1" hangingPunct="1"/>
            <a:endParaRPr lang="pt-BR" altLang="pt-BR" dirty="0"/>
          </a:p>
          <a:p>
            <a:pPr algn="just" eaLnBrk="1" hangingPunct="1"/>
            <a:r>
              <a:rPr lang="pt-BR" altLang="pt-BR" b="1" u="none" dirty="0"/>
              <a:t>Não existe instrução de retorno no Ramses. O retorno é realizado através da instrução JMP usando a primeira palavra da sub-rotina como endereço indireto.</a:t>
            </a:r>
          </a:p>
        </p:txBody>
      </p:sp>
    </p:spTree>
    <p:extLst>
      <p:ext uri="{BB962C8B-B14F-4D97-AF65-F5344CB8AC3E}">
        <p14:creationId xmlns:p14="http://schemas.microsoft.com/office/powerpoint/2010/main" val="2408936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52C7C170-23F4-8207-75C3-345FF2551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33" y="1308454"/>
            <a:ext cx="5380506" cy="4180343"/>
          </a:xfrm>
          <a:prstGeom prst="rect">
            <a:avLst/>
          </a:prstGeom>
        </p:spPr>
      </p:pic>
      <p:sp>
        <p:nvSpPr>
          <p:cNvPr id="4" name="Rectangle 48"/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9D68C93C-6A7B-1709-CA01-5CAF3EA8AEF9}"/>
              </a:ext>
            </a:extLst>
          </p:cNvPr>
          <p:cNvSpPr/>
          <p:nvPr/>
        </p:nvSpPr>
        <p:spPr>
          <a:xfrm>
            <a:off x="1670304" y="1807464"/>
            <a:ext cx="249936" cy="17678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5D6A07-5CF0-6B6B-1FC7-E0F483A94701}"/>
              </a:ext>
            </a:extLst>
          </p:cNvPr>
          <p:cNvSpPr txBox="1"/>
          <p:nvPr/>
        </p:nvSpPr>
        <p:spPr>
          <a:xfrm>
            <a:off x="824231" y="1618857"/>
            <a:ext cx="9387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rgbClr val="FF0000"/>
                </a:solidFill>
              </a:rPr>
              <a:t>Armazenar a o valor na memória RB</a:t>
            </a:r>
          </a:p>
        </p:txBody>
      </p:sp>
      <p:sp>
        <p:nvSpPr>
          <p:cNvPr id="20" name="Seta: para Baixo 19">
            <a:extLst>
              <a:ext uri="{FF2B5EF4-FFF2-40B4-BE49-F238E27FC236}">
                <a16:creationId xmlns:a16="http://schemas.microsoft.com/office/drawing/2014/main" id="{CB209E93-3113-7081-3A0E-E6EEE86AE496}"/>
              </a:ext>
            </a:extLst>
          </p:cNvPr>
          <p:cNvSpPr/>
          <p:nvPr/>
        </p:nvSpPr>
        <p:spPr>
          <a:xfrm rot="10800000">
            <a:off x="2926079" y="5382378"/>
            <a:ext cx="236221" cy="25908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0EED8A5-6AD8-8FED-7BEC-A29229826B5A}"/>
              </a:ext>
            </a:extLst>
          </p:cNvPr>
          <p:cNvSpPr txBox="1"/>
          <p:nvPr/>
        </p:nvSpPr>
        <p:spPr>
          <a:xfrm>
            <a:off x="1670304" y="5675233"/>
            <a:ext cx="2811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Você pode digitar: </a:t>
            </a:r>
            <a:r>
              <a:rPr lang="pt-BR" b="1" dirty="0" err="1">
                <a:solidFill>
                  <a:srgbClr val="FF0000"/>
                </a:solidFill>
              </a:rPr>
              <a:t>ldr</a:t>
            </a:r>
            <a:r>
              <a:rPr lang="pt-BR" b="1" dirty="0">
                <a:solidFill>
                  <a:srgbClr val="FF0000"/>
                </a:solidFill>
              </a:rPr>
              <a:t> b #10</a:t>
            </a:r>
          </a:p>
        </p:txBody>
      </p:sp>
    </p:spTree>
    <p:extLst>
      <p:ext uri="{BB962C8B-B14F-4D97-AF65-F5344CB8AC3E}">
        <p14:creationId xmlns:p14="http://schemas.microsoft.com/office/powerpoint/2010/main" val="1185250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1F3C8EE8-0568-C8F5-7B3B-5C18DF1C7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33" y="1308454"/>
            <a:ext cx="5380506" cy="4180343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08B834C4-D564-740E-340D-97914B363B48}"/>
              </a:ext>
            </a:extLst>
          </p:cNvPr>
          <p:cNvGrpSpPr/>
          <p:nvPr/>
        </p:nvGrpSpPr>
        <p:grpSpPr>
          <a:xfrm>
            <a:off x="824231" y="1857345"/>
            <a:ext cx="1096009" cy="400110"/>
            <a:chOff x="824231" y="1695801"/>
            <a:chExt cx="1096009" cy="400110"/>
          </a:xfrm>
        </p:grpSpPr>
        <p:sp>
          <p:nvSpPr>
            <p:cNvPr id="7" name="Seta: para a Direita 6">
              <a:extLst>
                <a:ext uri="{FF2B5EF4-FFF2-40B4-BE49-F238E27FC236}">
                  <a16:creationId xmlns:a16="http://schemas.microsoft.com/office/drawing/2014/main" id="{9D68C93C-6A7B-1709-CA01-5CAF3EA8AEF9}"/>
                </a:ext>
              </a:extLst>
            </p:cNvPr>
            <p:cNvSpPr/>
            <p:nvPr/>
          </p:nvSpPr>
          <p:spPr>
            <a:xfrm>
              <a:off x="1670304" y="1807464"/>
              <a:ext cx="249936" cy="176784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755D6A07-5CF0-6B6B-1FC7-E0F483A94701}"/>
                </a:ext>
              </a:extLst>
            </p:cNvPr>
            <p:cNvSpPr txBox="1"/>
            <p:nvPr/>
          </p:nvSpPr>
          <p:spPr>
            <a:xfrm>
              <a:off x="824231" y="1695801"/>
              <a:ext cx="9387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b="1" dirty="0">
                  <a:solidFill>
                    <a:srgbClr val="FF0000"/>
                  </a:solidFill>
                </a:rPr>
                <a:t>Valor   ”10” armazenado</a:t>
              </a:r>
            </a:p>
          </p:txBody>
        </p:sp>
      </p:grpSp>
      <p:sp>
        <p:nvSpPr>
          <p:cNvPr id="17" name="Rectangle 48">
            <a:extLst>
              <a:ext uri="{FF2B5EF4-FFF2-40B4-BE49-F238E27FC236}">
                <a16:creationId xmlns:a16="http://schemas.microsoft.com/office/drawing/2014/main" id="{DB2891C8-2ABB-D2DD-38C9-C11CB1961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</p:spTree>
    <p:extLst>
      <p:ext uri="{BB962C8B-B14F-4D97-AF65-F5344CB8AC3E}">
        <p14:creationId xmlns:p14="http://schemas.microsoft.com/office/powerpoint/2010/main" val="1490258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E57A7053-6DF8-6D2E-EFB1-25B5877C1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33" y="1308454"/>
            <a:ext cx="5380506" cy="4180343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41E67C9B-B4CC-AF97-7FD9-7663B5646E66}"/>
              </a:ext>
            </a:extLst>
          </p:cNvPr>
          <p:cNvGrpSpPr/>
          <p:nvPr/>
        </p:nvGrpSpPr>
        <p:grpSpPr>
          <a:xfrm>
            <a:off x="451105" y="2028033"/>
            <a:ext cx="1469136" cy="400110"/>
            <a:chOff x="451105" y="2043273"/>
            <a:chExt cx="1469136" cy="400110"/>
          </a:xfrm>
        </p:grpSpPr>
        <p:sp>
          <p:nvSpPr>
            <p:cNvPr id="7" name="Seta: para a Direita 6">
              <a:extLst>
                <a:ext uri="{FF2B5EF4-FFF2-40B4-BE49-F238E27FC236}">
                  <a16:creationId xmlns:a16="http://schemas.microsoft.com/office/drawing/2014/main" id="{9D68C93C-6A7B-1709-CA01-5CAF3EA8AEF9}"/>
                </a:ext>
              </a:extLst>
            </p:cNvPr>
            <p:cNvSpPr/>
            <p:nvPr/>
          </p:nvSpPr>
          <p:spPr>
            <a:xfrm>
              <a:off x="1674511" y="2154936"/>
              <a:ext cx="245730" cy="176784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755D6A07-5CF0-6B6B-1FC7-E0F483A94701}"/>
                </a:ext>
              </a:extLst>
            </p:cNvPr>
            <p:cNvSpPr txBox="1"/>
            <p:nvPr/>
          </p:nvSpPr>
          <p:spPr>
            <a:xfrm>
              <a:off x="451105" y="2043273"/>
              <a:ext cx="12801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b="1" dirty="0">
                  <a:solidFill>
                    <a:srgbClr val="FF0000"/>
                  </a:solidFill>
                </a:rPr>
                <a:t>Desvio da </a:t>
              </a:r>
              <a:r>
                <a:rPr lang="pt-BR" sz="1000" b="1" dirty="0" err="1">
                  <a:solidFill>
                    <a:srgbClr val="FF0000"/>
                  </a:solidFill>
                </a:rPr>
                <a:t>subrotina</a:t>
              </a:r>
              <a:r>
                <a:rPr lang="pt-BR" sz="1000" b="1" dirty="0">
                  <a:solidFill>
                    <a:srgbClr val="FF0000"/>
                  </a:solidFill>
                </a:rPr>
                <a:t> (para linha 14)</a:t>
              </a:r>
            </a:p>
          </p:txBody>
        </p:sp>
      </p:grpSp>
      <p:sp>
        <p:nvSpPr>
          <p:cNvPr id="13" name="Rectangle 48">
            <a:extLst>
              <a:ext uri="{FF2B5EF4-FFF2-40B4-BE49-F238E27FC236}">
                <a16:creationId xmlns:a16="http://schemas.microsoft.com/office/drawing/2014/main" id="{741590E2-9F7E-56AC-A4F6-21B25CC22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</p:spTree>
    <p:extLst>
      <p:ext uri="{BB962C8B-B14F-4D97-AF65-F5344CB8AC3E}">
        <p14:creationId xmlns:p14="http://schemas.microsoft.com/office/powerpoint/2010/main" val="2179681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D7FBAC59-D5A5-DF31-33C7-328195AA9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33" y="1308454"/>
            <a:ext cx="5380506" cy="4180343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41E67C9B-B4CC-AF97-7FD9-7663B5646E66}"/>
              </a:ext>
            </a:extLst>
          </p:cNvPr>
          <p:cNvGrpSpPr/>
          <p:nvPr/>
        </p:nvGrpSpPr>
        <p:grpSpPr>
          <a:xfrm>
            <a:off x="685799" y="2171289"/>
            <a:ext cx="1234442" cy="400110"/>
            <a:chOff x="685799" y="2043273"/>
            <a:chExt cx="1234442" cy="400110"/>
          </a:xfrm>
        </p:grpSpPr>
        <p:sp>
          <p:nvSpPr>
            <p:cNvPr id="7" name="Seta: para a Direita 6">
              <a:extLst>
                <a:ext uri="{FF2B5EF4-FFF2-40B4-BE49-F238E27FC236}">
                  <a16:creationId xmlns:a16="http://schemas.microsoft.com/office/drawing/2014/main" id="{9D68C93C-6A7B-1709-CA01-5CAF3EA8AEF9}"/>
                </a:ext>
              </a:extLst>
            </p:cNvPr>
            <p:cNvSpPr/>
            <p:nvPr/>
          </p:nvSpPr>
          <p:spPr>
            <a:xfrm>
              <a:off x="1674511" y="2154936"/>
              <a:ext cx="245730" cy="176784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755D6A07-5CF0-6B6B-1FC7-E0F483A94701}"/>
                </a:ext>
              </a:extLst>
            </p:cNvPr>
            <p:cNvSpPr txBox="1"/>
            <p:nvPr/>
          </p:nvSpPr>
          <p:spPr>
            <a:xfrm>
              <a:off x="685799" y="2043273"/>
              <a:ext cx="10454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b="1" dirty="0">
                  <a:solidFill>
                    <a:srgbClr val="FF0000"/>
                  </a:solidFill>
                </a:rPr>
                <a:t>Desvio para a linha 14</a:t>
              </a:r>
            </a:p>
          </p:txBody>
        </p:sp>
      </p:grpSp>
      <p:sp>
        <p:nvSpPr>
          <p:cNvPr id="12" name="Rectangle 48">
            <a:extLst>
              <a:ext uri="{FF2B5EF4-FFF2-40B4-BE49-F238E27FC236}">
                <a16:creationId xmlns:a16="http://schemas.microsoft.com/office/drawing/2014/main" id="{29A872C1-6D1B-276F-88D8-3E3C0A3C6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</p:spTree>
    <p:extLst>
      <p:ext uri="{BB962C8B-B14F-4D97-AF65-F5344CB8AC3E}">
        <p14:creationId xmlns:p14="http://schemas.microsoft.com/office/powerpoint/2010/main" val="3513227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01245688-21F8-65E6-FC23-68594AA87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33" y="1308454"/>
            <a:ext cx="5380506" cy="4180343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750F25E2-4747-F6F3-8BED-0523353D3BD3}"/>
              </a:ext>
            </a:extLst>
          </p:cNvPr>
          <p:cNvGrpSpPr/>
          <p:nvPr/>
        </p:nvGrpSpPr>
        <p:grpSpPr>
          <a:xfrm>
            <a:off x="175260" y="3885789"/>
            <a:ext cx="1744981" cy="553998"/>
            <a:chOff x="175260" y="3885789"/>
            <a:chExt cx="1744981" cy="553998"/>
          </a:xfrm>
        </p:grpSpPr>
        <p:sp>
          <p:nvSpPr>
            <p:cNvPr id="7" name="Seta: para a Direita 6">
              <a:extLst>
                <a:ext uri="{FF2B5EF4-FFF2-40B4-BE49-F238E27FC236}">
                  <a16:creationId xmlns:a16="http://schemas.microsoft.com/office/drawing/2014/main" id="{9D68C93C-6A7B-1709-CA01-5CAF3EA8AEF9}"/>
                </a:ext>
              </a:extLst>
            </p:cNvPr>
            <p:cNvSpPr/>
            <p:nvPr/>
          </p:nvSpPr>
          <p:spPr>
            <a:xfrm>
              <a:off x="1674511" y="4073652"/>
              <a:ext cx="245730" cy="176784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755D6A07-5CF0-6B6B-1FC7-E0F483A94701}"/>
                </a:ext>
              </a:extLst>
            </p:cNvPr>
            <p:cNvSpPr txBox="1"/>
            <p:nvPr/>
          </p:nvSpPr>
          <p:spPr>
            <a:xfrm>
              <a:off x="175260" y="3885789"/>
              <a:ext cx="155600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b="1" dirty="0">
                  <a:solidFill>
                    <a:srgbClr val="FF0000"/>
                  </a:solidFill>
                </a:rPr>
                <a:t>Linha que o programa deve “voltar” após rodar a </a:t>
              </a:r>
              <a:r>
                <a:rPr lang="pt-BR" sz="1000" b="1" dirty="0" err="1">
                  <a:solidFill>
                    <a:srgbClr val="FF0000"/>
                  </a:solidFill>
                </a:rPr>
                <a:t>subrotina</a:t>
              </a:r>
              <a:endParaRPr lang="pt-BR" sz="1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4" name="Rectangle 48">
            <a:extLst>
              <a:ext uri="{FF2B5EF4-FFF2-40B4-BE49-F238E27FC236}">
                <a16:creationId xmlns:a16="http://schemas.microsoft.com/office/drawing/2014/main" id="{7CB1A112-34B0-3925-D9B4-CC9BB62A4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</p:spTree>
    <p:extLst>
      <p:ext uri="{BB962C8B-B14F-4D97-AF65-F5344CB8AC3E}">
        <p14:creationId xmlns:p14="http://schemas.microsoft.com/office/powerpoint/2010/main" val="1862253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C039E54-E959-9C38-AAFF-3CD2C982F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33" y="1308454"/>
            <a:ext cx="5380506" cy="4180343"/>
          </a:xfrm>
          <a:prstGeom prst="rect">
            <a:avLst/>
          </a:prstGeom>
        </p:spPr>
      </p:pic>
      <p:sp>
        <p:nvSpPr>
          <p:cNvPr id="9" name="Chave Esquerda 8">
            <a:extLst>
              <a:ext uri="{FF2B5EF4-FFF2-40B4-BE49-F238E27FC236}">
                <a16:creationId xmlns:a16="http://schemas.microsoft.com/office/drawing/2014/main" id="{1AA73D82-C27E-4BD5-21CD-FC928AA82AA2}"/>
              </a:ext>
            </a:extLst>
          </p:cNvPr>
          <p:cNvSpPr/>
          <p:nvPr/>
        </p:nvSpPr>
        <p:spPr>
          <a:xfrm>
            <a:off x="1999872" y="4263128"/>
            <a:ext cx="121920" cy="419362"/>
          </a:xfrm>
          <a:prstGeom prst="leftBrac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5D6A07-5CF0-6B6B-1FC7-E0F483A94701}"/>
              </a:ext>
            </a:extLst>
          </p:cNvPr>
          <p:cNvSpPr txBox="1"/>
          <p:nvPr/>
        </p:nvSpPr>
        <p:spPr>
          <a:xfrm>
            <a:off x="245745" y="4195810"/>
            <a:ext cx="17103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rgbClr val="FF0000"/>
                </a:solidFill>
              </a:rPr>
              <a:t>Programa a ser executado na  </a:t>
            </a:r>
            <a:r>
              <a:rPr lang="pt-BR" sz="1000" b="1" dirty="0" err="1">
                <a:solidFill>
                  <a:srgbClr val="FF0000"/>
                </a:solidFill>
              </a:rPr>
              <a:t>subrotina</a:t>
            </a:r>
            <a:r>
              <a:rPr lang="pt-BR" sz="1000" b="1" dirty="0">
                <a:solidFill>
                  <a:srgbClr val="FF0000"/>
                </a:solidFill>
              </a:rPr>
              <a:t> (neste exemplo o complemento de 2)</a:t>
            </a:r>
          </a:p>
        </p:txBody>
      </p:sp>
      <p:sp>
        <p:nvSpPr>
          <p:cNvPr id="11" name="Rectangle 48">
            <a:extLst>
              <a:ext uri="{FF2B5EF4-FFF2-40B4-BE49-F238E27FC236}">
                <a16:creationId xmlns:a16="http://schemas.microsoft.com/office/drawing/2014/main" id="{B3DEB848-2671-30CF-92F4-DF6D22257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</p:spTree>
    <p:extLst>
      <p:ext uri="{BB962C8B-B14F-4D97-AF65-F5344CB8AC3E}">
        <p14:creationId xmlns:p14="http://schemas.microsoft.com/office/powerpoint/2010/main" val="3317328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5151B7B-B261-D7A6-1909-B5F8906C0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33" y="1308454"/>
            <a:ext cx="5380506" cy="4180343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E9D6A098-173C-A520-EC6A-8FB6B4199FD5}"/>
              </a:ext>
            </a:extLst>
          </p:cNvPr>
          <p:cNvGrpSpPr/>
          <p:nvPr/>
        </p:nvGrpSpPr>
        <p:grpSpPr>
          <a:xfrm>
            <a:off x="175260" y="4510629"/>
            <a:ext cx="1744981" cy="707886"/>
            <a:chOff x="175260" y="3885789"/>
            <a:chExt cx="1744981" cy="707886"/>
          </a:xfrm>
        </p:grpSpPr>
        <p:sp>
          <p:nvSpPr>
            <p:cNvPr id="3" name="Seta: para a Direita 2">
              <a:extLst>
                <a:ext uri="{FF2B5EF4-FFF2-40B4-BE49-F238E27FC236}">
                  <a16:creationId xmlns:a16="http://schemas.microsoft.com/office/drawing/2014/main" id="{9E1CD2A9-5B5F-E982-5396-65DF8F54764C}"/>
                </a:ext>
              </a:extLst>
            </p:cNvPr>
            <p:cNvSpPr/>
            <p:nvPr/>
          </p:nvSpPr>
          <p:spPr>
            <a:xfrm>
              <a:off x="1674511" y="4073652"/>
              <a:ext cx="245730" cy="176784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78A946DC-5613-A17A-CB31-8C5DECDB1EAC}"/>
                </a:ext>
              </a:extLst>
            </p:cNvPr>
            <p:cNvSpPr txBox="1"/>
            <p:nvPr/>
          </p:nvSpPr>
          <p:spPr>
            <a:xfrm>
              <a:off x="175260" y="3885789"/>
              <a:ext cx="155600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b="1" dirty="0">
                  <a:solidFill>
                    <a:srgbClr val="FF0000"/>
                  </a:solidFill>
                </a:rPr>
                <a:t>Pular (JMP) para o endereço onde está indicando o endereço de retorno da </a:t>
              </a:r>
              <a:r>
                <a:rPr lang="pt-BR" sz="1000" b="1" dirty="0" err="1">
                  <a:solidFill>
                    <a:srgbClr val="FF0000"/>
                  </a:solidFill>
                </a:rPr>
                <a:t>subrotina</a:t>
              </a:r>
              <a:r>
                <a:rPr lang="pt-BR" sz="1000" b="1" dirty="0">
                  <a:solidFill>
                    <a:srgbClr val="FF0000"/>
                  </a:solidFill>
                </a:rPr>
                <a:t>.</a:t>
              </a:r>
            </a:p>
          </p:txBody>
        </p:sp>
      </p:grpSp>
      <p:sp>
        <p:nvSpPr>
          <p:cNvPr id="10" name="Rectangle 48">
            <a:extLst>
              <a:ext uri="{FF2B5EF4-FFF2-40B4-BE49-F238E27FC236}">
                <a16:creationId xmlns:a16="http://schemas.microsoft.com/office/drawing/2014/main" id="{072E11B0-6EE1-A88E-6C90-A9B3E563C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</p:spTree>
    <p:extLst>
      <p:ext uri="{BB962C8B-B14F-4D97-AF65-F5344CB8AC3E}">
        <p14:creationId xmlns:p14="http://schemas.microsoft.com/office/powerpoint/2010/main" val="288036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C5C6D42-41BE-2C3C-E06A-DAE78C323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33" y="1308454"/>
            <a:ext cx="5380506" cy="4180343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E9D6A098-173C-A520-EC6A-8FB6B4199FD5}"/>
              </a:ext>
            </a:extLst>
          </p:cNvPr>
          <p:cNvGrpSpPr/>
          <p:nvPr/>
        </p:nvGrpSpPr>
        <p:grpSpPr>
          <a:xfrm>
            <a:off x="175260" y="4800933"/>
            <a:ext cx="1744981" cy="246221"/>
            <a:chOff x="175260" y="4038933"/>
            <a:chExt cx="1744981" cy="246221"/>
          </a:xfrm>
        </p:grpSpPr>
        <p:sp>
          <p:nvSpPr>
            <p:cNvPr id="3" name="Seta: para a Direita 2">
              <a:extLst>
                <a:ext uri="{FF2B5EF4-FFF2-40B4-BE49-F238E27FC236}">
                  <a16:creationId xmlns:a16="http://schemas.microsoft.com/office/drawing/2014/main" id="{9E1CD2A9-5B5F-E982-5396-65DF8F54764C}"/>
                </a:ext>
              </a:extLst>
            </p:cNvPr>
            <p:cNvSpPr/>
            <p:nvPr/>
          </p:nvSpPr>
          <p:spPr>
            <a:xfrm>
              <a:off x="1674511" y="4073652"/>
              <a:ext cx="245730" cy="176784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78A946DC-5613-A17A-CB31-8C5DECDB1EAC}"/>
                </a:ext>
              </a:extLst>
            </p:cNvPr>
            <p:cNvSpPr txBox="1"/>
            <p:nvPr/>
          </p:nvSpPr>
          <p:spPr>
            <a:xfrm>
              <a:off x="175260" y="4038933"/>
              <a:ext cx="155600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000" b="1" dirty="0">
                  <a:solidFill>
                    <a:srgbClr val="FF0000"/>
                  </a:solidFill>
                </a:rPr>
                <a:t>Endereço 14     </a:t>
              </a:r>
            </a:p>
          </p:txBody>
        </p:sp>
      </p:grpSp>
      <p:sp>
        <p:nvSpPr>
          <p:cNvPr id="8" name="Rectangle 48">
            <a:extLst>
              <a:ext uri="{FF2B5EF4-FFF2-40B4-BE49-F238E27FC236}">
                <a16:creationId xmlns:a16="http://schemas.microsoft.com/office/drawing/2014/main" id="{5A63CBE9-B494-4CBE-EA2A-F7134ACEC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</p:spTree>
    <p:extLst>
      <p:ext uri="{BB962C8B-B14F-4D97-AF65-F5344CB8AC3E}">
        <p14:creationId xmlns:p14="http://schemas.microsoft.com/office/powerpoint/2010/main" val="16623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F675FF4F-1A24-4DEB-D51D-E55688A2B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33" y="1308454"/>
            <a:ext cx="5380506" cy="4180343"/>
          </a:xfrm>
          <a:prstGeom prst="rect">
            <a:avLst/>
          </a:prstGeom>
        </p:spPr>
      </p:pic>
      <p:sp>
        <p:nvSpPr>
          <p:cNvPr id="7" name="Seta: Curva para Baixo 6">
            <a:extLst>
              <a:ext uri="{FF2B5EF4-FFF2-40B4-BE49-F238E27FC236}">
                <a16:creationId xmlns:a16="http://schemas.microsoft.com/office/drawing/2014/main" id="{3DE4CADE-6AF5-E266-3433-810F6BC482D4}"/>
              </a:ext>
            </a:extLst>
          </p:cNvPr>
          <p:cNvSpPr/>
          <p:nvPr/>
        </p:nvSpPr>
        <p:spPr>
          <a:xfrm rot="16200000">
            <a:off x="1451547" y="4337685"/>
            <a:ext cx="925829" cy="373380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67069C7D-46AC-A675-5ED6-597623A984D7}"/>
              </a:ext>
            </a:extLst>
          </p:cNvPr>
          <p:cNvSpPr/>
          <p:nvPr/>
        </p:nvSpPr>
        <p:spPr>
          <a:xfrm>
            <a:off x="2385568" y="4053332"/>
            <a:ext cx="195072" cy="1813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ctangle 48">
            <a:extLst>
              <a:ext uri="{FF2B5EF4-FFF2-40B4-BE49-F238E27FC236}">
                <a16:creationId xmlns:a16="http://schemas.microsoft.com/office/drawing/2014/main" id="{73133622-A203-190E-4C1E-AD3F3ABC7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</p:spTree>
    <p:extLst>
      <p:ext uri="{BB962C8B-B14F-4D97-AF65-F5344CB8AC3E}">
        <p14:creationId xmlns:p14="http://schemas.microsoft.com/office/powerpoint/2010/main" val="3833384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2B0E6F2-A6DE-FC74-BB7F-19D2522A6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33" y="1308454"/>
            <a:ext cx="5380506" cy="4180343"/>
          </a:xfrm>
          <a:prstGeom prst="rect">
            <a:avLst/>
          </a:prstGeom>
        </p:spPr>
      </p:pic>
      <p:sp>
        <p:nvSpPr>
          <p:cNvPr id="7" name="Seta: Curva para Baixo 6">
            <a:extLst>
              <a:ext uri="{FF2B5EF4-FFF2-40B4-BE49-F238E27FC236}">
                <a16:creationId xmlns:a16="http://schemas.microsoft.com/office/drawing/2014/main" id="{3DE4CADE-6AF5-E266-3433-810F6BC482D4}"/>
              </a:ext>
            </a:extLst>
          </p:cNvPr>
          <p:cNvSpPr/>
          <p:nvPr/>
        </p:nvSpPr>
        <p:spPr>
          <a:xfrm rot="16200000">
            <a:off x="1072770" y="3156967"/>
            <a:ext cx="1725165" cy="373380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67069C7D-46AC-A675-5ED6-597623A984D7}"/>
              </a:ext>
            </a:extLst>
          </p:cNvPr>
          <p:cNvSpPr/>
          <p:nvPr/>
        </p:nvSpPr>
        <p:spPr>
          <a:xfrm>
            <a:off x="2380488" y="4054602"/>
            <a:ext cx="195072" cy="1813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01A9D0D6-FAB9-6784-8B88-FB8E4054BB74}"/>
              </a:ext>
            </a:extLst>
          </p:cNvPr>
          <p:cNvSpPr/>
          <p:nvPr/>
        </p:nvSpPr>
        <p:spPr>
          <a:xfrm>
            <a:off x="2143823" y="2452118"/>
            <a:ext cx="195072" cy="1813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ctangle 48">
            <a:extLst>
              <a:ext uri="{FF2B5EF4-FFF2-40B4-BE49-F238E27FC236}">
                <a16:creationId xmlns:a16="http://schemas.microsoft.com/office/drawing/2014/main" id="{4C2B24A7-C056-3D2A-8683-CF83B385B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A04D25C-FAC2-476F-BEDD-306CBF42E2F0}"/>
              </a:ext>
            </a:extLst>
          </p:cNvPr>
          <p:cNvSpPr txBox="1"/>
          <p:nvPr/>
        </p:nvSpPr>
        <p:spPr>
          <a:xfrm>
            <a:off x="205734" y="3115425"/>
            <a:ext cx="17103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rgbClr val="FF0000"/>
                </a:solidFill>
              </a:rPr>
              <a:t>O programa pula para o endereço 4 (onde finaliza (HLT) o programa.</a:t>
            </a:r>
          </a:p>
        </p:txBody>
      </p:sp>
    </p:spTree>
    <p:extLst>
      <p:ext uri="{BB962C8B-B14F-4D97-AF65-F5344CB8AC3E}">
        <p14:creationId xmlns:p14="http://schemas.microsoft.com/office/powerpoint/2010/main" val="1518696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CE002852-5B3F-FC8E-C697-895A75800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33" y="1308454"/>
            <a:ext cx="5380506" cy="4180343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37122EB6-003F-7B74-58F9-525E1841282F}"/>
              </a:ext>
            </a:extLst>
          </p:cNvPr>
          <p:cNvSpPr/>
          <p:nvPr/>
        </p:nvSpPr>
        <p:spPr>
          <a:xfrm rot="5400000">
            <a:off x="4663131" y="3382218"/>
            <a:ext cx="426720" cy="30672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48">
            <a:extLst>
              <a:ext uri="{FF2B5EF4-FFF2-40B4-BE49-F238E27FC236}">
                <a16:creationId xmlns:a16="http://schemas.microsoft.com/office/drawing/2014/main" id="{8DF1F40E-6119-35C4-082A-ECB708A79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D46FD74-A427-CE1F-3CC6-61C7B3C95046}"/>
              </a:ext>
            </a:extLst>
          </p:cNvPr>
          <p:cNvSpPr txBox="1"/>
          <p:nvPr/>
        </p:nvSpPr>
        <p:spPr>
          <a:xfrm>
            <a:off x="5029854" y="3412469"/>
            <a:ext cx="1710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rgbClr val="FF0000"/>
                </a:solidFill>
              </a:rPr>
              <a:t>Rodar o programa</a:t>
            </a:r>
          </a:p>
        </p:txBody>
      </p:sp>
    </p:spTree>
    <p:extLst>
      <p:ext uri="{BB962C8B-B14F-4D97-AF65-F5344CB8AC3E}">
        <p14:creationId xmlns:p14="http://schemas.microsoft.com/office/powerpoint/2010/main" val="2684683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CE002852-5B3F-FC8E-C697-895A75800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33" y="1308454"/>
            <a:ext cx="5380506" cy="4180343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37122EB6-003F-7B74-58F9-525E1841282F}"/>
              </a:ext>
            </a:extLst>
          </p:cNvPr>
          <p:cNvSpPr/>
          <p:nvPr/>
        </p:nvSpPr>
        <p:spPr>
          <a:xfrm>
            <a:off x="4411979" y="1369203"/>
            <a:ext cx="426720" cy="38365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066803E-D50A-9F28-6B4A-99CB2E6D8C6F}"/>
              </a:ext>
            </a:extLst>
          </p:cNvPr>
          <p:cNvSpPr/>
          <p:nvPr/>
        </p:nvSpPr>
        <p:spPr>
          <a:xfrm>
            <a:off x="4328160" y="1813560"/>
            <a:ext cx="601980" cy="502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ctangle 48">
            <a:extLst>
              <a:ext uri="{FF2B5EF4-FFF2-40B4-BE49-F238E27FC236}">
                <a16:creationId xmlns:a16="http://schemas.microsoft.com/office/drawing/2014/main" id="{3C5A34DB-4602-8AC5-FA9C-12950E162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</p:spTree>
    <p:extLst>
      <p:ext uri="{BB962C8B-B14F-4D97-AF65-F5344CB8AC3E}">
        <p14:creationId xmlns:p14="http://schemas.microsoft.com/office/powerpoint/2010/main" val="4001079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97160BE-0D12-9E7B-6451-5076B02BC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33" y="1262995"/>
            <a:ext cx="5358378" cy="4180343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37122EB6-003F-7B74-58F9-525E1841282F}"/>
              </a:ext>
            </a:extLst>
          </p:cNvPr>
          <p:cNvSpPr/>
          <p:nvPr/>
        </p:nvSpPr>
        <p:spPr>
          <a:xfrm>
            <a:off x="4411979" y="1369203"/>
            <a:ext cx="426720" cy="38365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066803E-D50A-9F28-6B4A-99CB2E6D8C6F}"/>
              </a:ext>
            </a:extLst>
          </p:cNvPr>
          <p:cNvSpPr/>
          <p:nvPr/>
        </p:nvSpPr>
        <p:spPr>
          <a:xfrm>
            <a:off x="4328160" y="1813560"/>
            <a:ext cx="601980" cy="502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ctangle 48">
            <a:extLst>
              <a:ext uri="{FF2B5EF4-FFF2-40B4-BE49-F238E27FC236}">
                <a16:creationId xmlns:a16="http://schemas.microsoft.com/office/drawing/2014/main" id="{3C5A34DB-4602-8AC5-FA9C-12950E162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62E7762E-7BE9-49F4-8583-66B5A6A3B2C1}"/>
              </a:ext>
            </a:extLst>
          </p:cNvPr>
          <p:cNvSpPr/>
          <p:nvPr/>
        </p:nvSpPr>
        <p:spPr>
          <a:xfrm rot="10800000">
            <a:off x="2979419" y="5329038"/>
            <a:ext cx="236221" cy="25908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F1BC5AA-DBA2-24B6-7058-B1D1CAEFF05E}"/>
              </a:ext>
            </a:extLst>
          </p:cNvPr>
          <p:cNvSpPr txBox="1"/>
          <p:nvPr/>
        </p:nvSpPr>
        <p:spPr>
          <a:xfrm>
            <a:off x="2506980" y="5641458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>
                <a:solidFill>
                  <a:srgbClr val="FF0000"/>
                </a:solidFill>
              </a:rPr>
              <a:t>ldr</a:t>
            </a:r>
            <a:r>
              <a:rPr lang="pt-BR" b="1" dirty="0">
                <a:solidFill>
                  <a:srgbClr val="FF0000"/>
                </a:solidFill>
              </a:rPr>
              <a:t> b #246</a:t>
            </a:r>
          </a:p>
        </p:txBody>
      </p:sp>
    </p:spTree>
    <p:extLst>
      <p:ext uri="{BB962C8B-B14F-4D97-AF65-F5344CB8AC3E}">
        <p14:creationId xmlns:p14="http://schemas.microsoft.com/office/powerpoint/2010/main" val="2237610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8">
            <a:extLst>
              <a:ext uri="{FF2B5EF4-FFF2-40B4-BE49-F238E27FC236}">
                <a16:creationId xmlns:a16="http://schemas.microsoft.com/office/drawing/2014/main" id="{3C5A34DB-4602-8AC5-FA9C-12950E162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D3BEFF-A59B-0461-DAD2-B657A7DC9944}"/>
              </a:ext>
            </a:extLst>
          </p:cNvPr>
          <p:cNvSpPr txBox="1"/>
          <p:nvPr/>
        </p:nvSpPr>
        <p:spPr>
          <a:xfrm>
            <a:off x="856759" y="1829329"/>
            <a:ext cx="7095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Agora vamos reutilizar a mesma sub-rotina, realizando o complemento de 2 do mesmo valor, ou seja, vamos fazer o -10 (246) voltar a ser 10 novamente!</a:t>
            </a:r>
          </a:p>
        </p:txBody>
      </p:sp>
    </p:spTree>
    <p:extLst>
      <p:ext uri="{BB962C8B-B14F-4D97-AF65-F5344CB8AC3E}">
        <p14:creationId xmlns:p14="http://schemas.microsoft.com/office/powerpoint/2010/main" val="2152193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F14A09EC-1CAD-1697-A044-B1AD5273D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157" y="1276854"/>
            <a:ext cx="5341254" cy="4134948"/>
          </a:xfrm>
          <a:prstGeom prst="rect">
            <a:avLst/>
          </a:prstGeom>
        </p:spPr>
      </p:pic>
      <p:sp>
        <p:nvSpPr>
          <p:cNvPr id="3" name="Rectangle 48">
            <a:extLst>
              <a:ext uri="{FF2B5EF4-FFF2-40B4-BE49-F238E27FC236}">
                <a16:creationId xmlns:a16="http://schemas.microsoft.com/office/drawing/2014/main" id="{3C5A34DB-4602-8AC5-FA9C-12950E162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62E7762E-7BE9-49F4-8583-66B5A6A3B2C1}"/>
              </a:ext>
            </a:extLst>
          </p:cNvPr>
          <p:cNvSpPr/>
          <p:nvPr/>
        </p:nvSpPr>
        <p:spPr>
          <a:xfrm rot="16200000">
            <a:off x="1877587" y="2380100"/>
            <a:ext cx="236221" cy="25908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1">
            <a:extLst>
              <a:ext uri="{FF2B5EF4-FFF2-40B4-BE49-F238E27FC236}">
                <a16:creationId xmlns:a16="http://schemas.microsoft.com/office/drawing/2014/main" id="{6C5B80E5-D860-4800-9924-805903BCEA8D}"/>
              </a:ext>
            </a:extLst>
          </p:cNvPr>
          <p:cNvSpPr txBox="1"/>
          <p:nvPr/>
        </p:nvSpPr>
        <p:spPr>
          <a:xfrm>
            <a:off x="155802" y="2155697"/>
            <a:ext cx="17103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rgbClr val="FF0000"/>
                </a:solidFill>
              </a:rPr>
              <a:t>Observe que eu determinei o valor -10 (246) </a:t>
            </a:r>
            <a:r>
              <a:rPr lang="pt-BR" sz="1000" b="1">
                <a:solidFill>
                  <a:srgbClr val="FF0000"/>
                </a:solidFill>
              </a:rPr>
              <a:t>no RB, </a:t>
            </a:r>
            <a:r>
              <a:rPr lang="pt-BR" sz="1000" b="1" dirty="0">
                <a:solidFill>
                  <a:srgbClr val="FF0000"/>
                </a:solidFill>
              </a:rPr>
              <a:t>mas poderia ter enviado para um endereço de memória.</a:t>
            </a:r>
          </a:p>
        </p:txBody>
      </p:sp>
    </p:spTree>
    <p:extLst>
      <p:ext uri="{BB962C8B-B14F-4D97-AF65-F5344CB8AC3E}">
        <p14:creationId xmlns:p14="http://schemas.microsoft.com/office/powerpoint/2010/main" val="1286168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F14A09EC-1CAD-1697-A044-B1AD5273D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157" y="1276854"/>
            <a:ext cx="5341254" cy="4134948"/>
          </a:xfrm>
          <a:prstGeom prst="rect">
            <a:avLst/>
          </a:prstGeom>
        </p:spPr>
      </p:pic>
      <p:sp>
        <p:nvSpPr>
          <p:cNvPr id="3" name="Rectangle 48">
            <a:extLst>
              <a:ext uri="{FF2B5EF4-FFF2-40B4-BE49-F238E27FC236}">
                <a16:creationId xmlns:a16="http://schemas.microsoft.com/office/drawing/2014/main" id="{3C5A34DB-4602-8AC5-FA9C-12950E162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62E7762E-7BE9-49F4-8583-66B5A6A3B2C1}"/>
              </a:ext>
            </a:extLst>
          </p:cNvPr>
          <p:cNvSpPr/>
          <p:nvPr/>
        </p:nvSpPr>
        <p:spPr>
          <a:xfrm rot="16200000">
            <a:off x="1877587" y="2695060"/>
            <a:ext cx="236221" cy="25908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C68DAB7-641F-5A2E-A4DC-395B5E19DAD8}"/>
              </a:ext>
            </a:extLst>
          </p:cNvPr>
          <p:cNvSpPr txBox="1"/>
          <p:nvPr/>
        </p:nvSpPr>
        <p:spPr>
          <a:xfrm>
            <a:off x="155802" y="2547601"/>
            <a:ext cx="17103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rgbClr val="FF0000"/>
                </a:solidFill>
              </a:rPr>
              <a:t>Utilizaremos um JSR para a linha 14 para executarmos novamente a Sub-rotina.</a:t>
            </a:r>
          </a:p>
        </p:txBody>
      </p:sp>
    </p:spTree>
    <p:extLst>
      <p:ext uri="{BB962C8B-B14F-4D97-AF65-F5344CB8AC3E}">
        <p14:creationId xmlns:p14="http://schemas.microsoft.com/office/powerpoint/2010/main" val="32412012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F14A09EC-1CAD-1697-A044-B1AD5273D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157" y="1276854"/>
            <a:ext cx="5341254" cy="4134948"/>
          </a:xfrm>
          <a:prstGeom prst="rect">
            <a:avLst/>
          </a:prstGeom>
        </p:spPr>
      </p:pic>
      <p:sp>
        <p:nvSpPr>
          <p:cNvPr id="3" name="Rectangle 48">
            <a:extLst>
              <a:ext uri="{FF2B5EF4-FFF2-40B4-BE49-F238E27FC236}">
                <a16:creationId xmlns:a16="http://schemas.microsoft.com/office/drawing/2014/main" id="{3C5A34DB-4602-8AC5-FA9C-12950E162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62E7762E-7BE9-49F4-8583-66B5A6A3B2C1}"/>
              </a:ext>
            </a:extLst>
          </p:cNvPr>
          <p:cNvSpPr/>
          <p:nvPr/>
        </p:nvSpPr>
        <p:spPr>
          <a:xfrm rot="16200000">
            <a:off x="1877588" y="3973489"/>
            <a:ext cx="236221" cy="25908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C68DAB7-641F-5A2E-A4DC-395B5E19DAD8}"/>
              </a:ext>
            </a:extLst>
          </p:cNvPr>
          <p:cNvSpPr txBox="1"/>
          <p:nvPr/>
        </p:nvSpPr>
        <p:spPr>
          <a:xfrm>
            <a:off x="193040" y="3826030"/>
            <a:ext cx="1754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rgbClr val="FF0000"/>
                </a:solidFill>
              </a:rPr>
              <a:t>Observe que automaticamente o endereço  de retorno mudou de 4 para 8!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55E9EC9-8354-15A2-8AB3-7F1F041815F0}"/>
              </a:ext>
            </a:extLst>
          </p:cNvPr>
          <p:cNvSpPr/>
          <p:nvPr/>
        </p:nvSpPr>
        <p:spPr>
          <a:xfrm>
            <a:off x="2400808" y="4003802"/>
            <a:ext cx="195072" cy="1813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7372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F14A09EC-1CAD-1697-A044-B1AD5273D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157" y="1276854"/>
            <a:ext cx="5341254" cy="4134948"/>
          </a:xfrm>
          <a:prstGeom prst="rect">
            <a:avLst/>
          </a:prstGeom>
        </p:spPr>
      </p:pic>
      <p:sp>
        <p:nvSpPr>
          <p:cNvPr id="3" name="Rectangle 48">
            <a:extLst>
              <a:ext uri="{FF2B5EF4-FFF2-40B4-BE49-F238E27FC236}">
                <a16:creationId xmlns:a16="http://schemas.microsoft.com/office/drawing/2014/main" id="{3C5A34DB-4602-8AC5-FA9C-12950E162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62E7762E-7BE9-49F4-8583-66B5A6A3B2C1}"/>
              </a:ext>
            </a:extLst>
          </p:cNvPr>
          <p:cNvSpPr/>
          <p:nvPr/>
        </p:nvSpPr>
        <p:spPr>
          <a:xfrm rot="16200000">
            <a:off x="1877588" y="3008289"/>
            <a:ext cx="236221" cy="25908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C68DAB7-641F-5A2E-A4DC-395B5E19DAD8}"/>
              </a:ext>
            </a:extLst>
          </p:cNvPr>
          <p:cNvSpPr txBox="1"/>
          <p:nvPr/>
        </p:nvSpPr>
        <p:spPr>
          <a:xfrm>
            <a:off x="510032" y="2890294"/>
            <a:ext cx="175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rgbClr val="FF0000"/>
                </a:solidFill>
              </a:rPr>
              <a:t>Depois terminamos o programa HLT</a:t>
            </a:r>
          </a:p>
        </p:txBody>
      </p:sp>
    </p:spTree>
    <p:extLst>
      <p:ext uri="{BB962C8B-B14F-4D97-AF65-F5344CB8AC3E}">
        <p14:creationId xmlns:p14="http://schemas.microsoft.com/office/powerpoint/2010/main" val="2572723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F14A09EC-1CAD-1697-A044-B1AD5273D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157" y="1276854"/>
            <a:ext cx="5341254" cy="4134948"/>
          </a:xfrm>
          <a:prstGeom prst="rect">
            <a:avLst/>
          </a:prstGeom>
        </p:spPr>
      </p:pic>
      <p:sp>
        <p:nvSpPr>
          <p:cNvPr id="3" name="Rectangle 48">
            <a:extLst>
              <a:ext uri="{FF2B5EF4-FFF2-40B4-BE49-F238E27FC236}">
                <a16:creationId xmlns:a16="http://schemas.microsoft.com/office/drawing/2014/main" id="{3C5A34DB-4602-8AC5-FA9C-12950E162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E8C172D3-E6D2-1031-17B8-F7E03D73945A}"/>
              </a:ext>
            </a:extLst>
          </p:cNvPr>
          <p:cNvSpPr/>
          <p:nvPr/>
        </p:nvSpPr>
        <p:spPr>
          <a:xfrm rot="5400000">
            <a:off x="4663131" y="3382218"/>
            <a:ext cx="426720" cy="30672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C576F90-D8DE-9CA1-244B-2B43FF0718C5}"/>
              </a:ext>
            </a:extLst>
          </p:cNvPr>
          <p:cNvSpPr txBox="1"/>
          <p:nvPr/>
        </p:nvSpPr>
        <p:spPr>
          <a:xfrm>
            <a:off x="5029854" y="3412469"/>
            <a:ext cx="1710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rgbClr val="FF0000"/>
                </a:solidFill>
              </a:rPr>
              <a:t>Rodar o programa</a:t>
            </a:r>
          </a:p>
        </p:txBody>
      </p:sp>
    </p:spTree>
    <p:extLst>
      <p:ext uri="{BB962C8B-B14F-4D97-AF65-F5344CB8AC3E}">
        <p14:creationId xmlns:p14="http://schemas.microsoft.com/office/powerpoint/2010/main" val="2188745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0183D96-545F-6B12-EC7C-95820961A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920" y="1267914"/>
            <a:ext cx="5459616" cy="4218486"/>
          </a:xfrm>
          <a:prstGeom prst="rect">
            <a:avLst/>
          </a:prstGeom>
        </p:spPr>
      </p:pic>
      <p:sp>
        <p:nvSpPr>
          <p:cNvPr id="3" name="Rectangle 48">
            <a:extLst>
              <a:ext uri="{FF2B5EF4-FFF2-40B4-BE49-F238E27FC236}">
                <a16:creationId xmlns:a16="http://schemas.microsoft.com/office/drawing/2014/main" id="{3C5A34DB-4602-8AC5-FA9C-12950E162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724535"/>
            <a:ext cx="7802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Sub-rotinas: </a:t>
            </a:r>
            <a:r>
              <a:rPr lang="pt-BR" altLang="pt-BR" sz="2800" b="1" u="none" dirty="0"/>
              <a:t>Exemplo – Complemento de 2</a:t>
            </a:r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2F17EEBB-C78E-83AC-848D-502FDFA9497E}"/>
              </a:ext>
            </a:extLst>
          </p:cNvPr>
          <p:cNvSpPr/>
          <p:nvPr/>
        </p:nvSpPr>
        <p:spPr>
          <a:xfrm>
            <a:off x="4488179" y="1369203"/>
            <a:ext cx="426720" cy="38365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DC53A7F-0B6F-465A-EDF9-109EE7CF641F}"/>
              </a:ext>
            </a:extLst>
          </p:cNvPr>
          <p:cNvSpPr/>
          <p:nvPr/>
        </p:nvSpPr>
        <p:spPr>
          <a:xfrm>
            <a:off x="4384040" y="1783080"/>
            <a:ext cx="601980" cy="502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3807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>
            <a:extLst>
              <a:ext uri="{FF2B5EF4-FFF2-40B4-BE49-F238E27FC236}">
                <a16:creationId xmlns:a16="http://schemas.microsoft.com/office/drawing/2014/main" id="{3CD65825-C88D-4673-6E51-161A46C5F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773238"/>
            <a:ext cx="5543550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Título 1">
            <a:extLst>
              <a:ext uri="{FF2B5EF4-FFF2-40B4-BE49-F238E27FC236}">
                <a16:creationId xmlns:a16="http://schemas.microsoft.com/office/drawing/2014/main" id="{8B929C0E-D817-B08E-8AE2-63F44E997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54792" y="705977"/>
            <a:ext cx="7886700" cy="1325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dirty="0">
                <a:latin typeface="Gotham HTF" charset="0"/>
                <a:ea typeface="MS PGothic" panose="020B0600070205080204" pitchFamily="34" charset="-128"/>
              </a:rPr>
              <a:t>Dúvidas?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86581" y="748882"/>
            <a:ext cx="7865806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Exercícios:</a:t>
            </a:r>
          </a:p>
          <a:p>
            <a:pPr algn="just" eaLnBrk="1" hangingPunct="1"/>
            <a:endParaRPr lang="pt-BR" altLang="pt-BR" sz="1800" u="none" dirty="0"/>
          </a:p>
          <a:p>
            <a:pPr marL="342900" indent="-342900" algn="just" eaLnBrk="1" hangingPunct="1">
              <a:buAutoNum type="arabicParenR"/>
            </a:pPr>
            <a:r>
              <a:rPr lang="pt-BR" altLang="pt-BR" sz="1800" u="none" dirty="0"/>
              <a:t>Construa um programa que primeiro atribua o valor 15 ao registrador A, depois atribua o valor 20 ao registrador B, salve o valor de A na posição de memória 128 e o de B na posição de memória 129 e, por fim, chame uma sub-rotina que some os valores das posições de memória 128 e 129 e salva na 130.</a:t>
            </a:r>
          </a:p>
          <a:p>
            <a:pPr marL="342900" indent="-342900" algn="just" eaLnBrk="1" hangingPunct="1">
              <a:buAutoNum type="arabicParenR"/>
            </a:pPr>
            <a:endParaRPr lang="pt-BR" altLang="pt-BR" sz="1800" u="none" dirty="0"/>
          </a:p>
          <a:p>
            <a:pPr marL="342900" indent="-342900" algn="just" eaLnBrk="1" hangingPunct="1">
              <a:buAutoNum type="arabicParenR"/>
            </a:pPr>
            <a:r>
              <a:rPr lang="pt-BR" altLang="pt-BR" sz="1800" u="none" dirty="0"/>
              <a:t>Criar uma sub-rotina que multiplique dois números previamente salvos na memória e cujo resultado da multiplicação possa assumir valores de 0 até 6553510, ou seja, o resultado deve utilizar-se de duas posições de memória de 8 bits.</a:t>
            </a:r>
          </a:p>
        </p:txBody>
      </p:sp>
    </p:spTree>
    <p:extLst>
      <p:ext uri="{BB962C8B-B14F-4D97-AF65-F5344CB8AC3E}">
        <p14:creationId xmlns:p14="http://schemas.microsoft.com/office/powerpoint/2010/main" val="816912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Exercícios: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C83D12-6034-C68A-FA5D-2F2539866542}"/>
              </a:ext>
            </a:extLst>
          </p:cNvPr>
          <p:cNvSpPr txBox="1"/>
          <p:nvPr/>
        </p:nvSpPr>
        <p:spPr>
          <a:xfrm>
            <a:off x="751396" y="1330875"/>
            <a:ext cx="746677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3. Monte um programa que realize: ((5 x  8) – 20)/2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4. Monte um programa que realize: (15 +  8) x 2.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5. Monte um programa que realize: ((2 + 1)^3) / 2.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6. Monte um programa que realize: (5 + 26) / 3.</a:t>
            </a:r>
          </a:p>
          <a:p>
            <a:pPr algn="just"/>
            <a:r>
              <a:rPr lang="pt-BR" sz="1600" dirty="0"/>
              <a:t> </a:t>
            </a:r>
          </a:p>
          <a:p>
            <a:pPr algn="just"/>
            <a:r>
              <a:rPr lang="pt-BR" sz="1600" dirty="0"/>
              <a:t>7. Monte um programa que realiza a multiplicação ((2 + 1) * 3) / 2.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8. Faça um programa para realizar a operação a &gt; b. Se a &gt; b, o programa deverá realizar a operação a + b. Caso contrário, deverá realizar a operação a*b.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9. Faça um programa para calcular o Índice de Massa Corporal (IMC) de uma pessoa.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10. Execute vários valores de 8 bits: Valor1 * Valor2 * Valor3 + Valor4 + Valor5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9. Monte um programa que realize:  (A – B)^2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10. Contador: Laço de contagem regressiva de 100 até 10</a:t>
            </a:r>
          </a:p>
        </p:txBody>
      </p:sp>
    </p:spTree>
    <p:extLst>
      <p:ext uri="{BB962C8B-B14F-4D97-AF65-F5344CB8AC3E}">
        <p14:creationId xmlns:p14="http://schemas.microsoft.com/office/powerpoint/2010/main" val="1181661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11) Bomba relógio!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CBF48A8-D675-2496-6C11-779256769B1C}"/>
              </a:ext>
            </a:extLst>
          </p:cNvPr>
          <p:cNvSpPr txBox="1"/>
          <p:nvPr/>
        </p:nvSpPr>
        <p:spPr>
          <a:xfrm>
            <a:off x="677736" y="1235007"/>
            <a:ext cx="780486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O display de 7 segmentos é ainda muito utilizado em  muitos dispositivos eletrônicos.  Ele é principalmente utilizado para ilustrar valor numéricos de forma rápida e barata. Os números são apresentados, com uma sequência de leds ativados (acesos). Na imagem abaixo, vemos o display de 7 segmentos. Observe que uma sequência de leds ativados (representados pelas letras de </a:t>
            </a:r>
            <a:r>
              <a:rPr lang="pt-BR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), representam os números.</a:t>
            </a:r>
          </a:p>
          <a:p>
            <a:pPr algn="just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Assim, monte em Assembly (utilizando o Hidra) um programa que </a:t>
            </a:r>
            <a:r>
              <a:rPr lang="pt-BR" sz="1500" b="1" dirty="0">
                <a:latin typeface="Arial" panose="020B0604020202020204" pitchFamily="34" charset="0"/>
                <a:cs typeface="Arial" panose="020B0604020202020204" pitchFamily="34" charset="0"/>
              </a:rPr>
              <a:t>gere um contador decrescente de 9 a 0 (zero), com subtração, 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para colocar em uma bomba relógio de tempo regressivo! </a:t>
            </a:r>
          </a:p>
          <a:p>
            <a:pPr algn="just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Lembre-se que que 0 desativa o LED e 1 ativa o LED. Esta ativação ocorrerá, quando o seu programa enviar em um endereço correspondente a um determinado LED o valor 0 (desativado) e 1 Ativado). Utilize um display de 7 segmentos.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18B374B-298B-B830-5885-F3CE9B58034C}"/>
              </a:ext>
            </a:extLst>
          </p:cNvPr>
          <p:cNvSpPr txBox="1"/>
          <p:nvPr/>
        </p:nvSpPr>
        <p:spPr>
          <a:xfrm>
            <a:off x="5392970" y="3817445"/>
            <a:ext cx="20624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Endereços dos LEDs do display:</a:t>
            </a:r>
          </a:p>
          <a:p>
            <a:endParaRPr lang="pt-BR" b="1" dirty="0">
              <a:solidFill>
                <a:srgbClr val="FF0000"/>
              </a:solidFill>
            </a:endParaRPr>
          </a:p>
          <a:p>
            <a:r>
              <a:rPr lang="pt-BR" dirty="0">
                <a:solidFill>
                  <a:srgbClr val="FF0000"/>
                </a:solidFill>
              </a:rPr>
              <a:t>a -&gt; 244</a:t>
            </a:r>
          </a:p>
          <a:p>
            <a:r>
              <a:rPr lang="pt-BR" dirty="0">
                <a:solidFill>
                  <a:srgbClr val="FF0000"/>
                </a:solidFill>
              </a:rPr>
              <a:t>b-&gt; 245</a:t>
            </a:r>
          </a:p>
          <a:p>
            <a:r>
              <a:rPr lang="pt-BR" dirty="0">
                <a:solidFill>
                  <a:srgbClr val="FF0000"/>
                </a:solidFill>
              </a:rPr>
              <a:t>c -&gt; 246</a:t>
            </a:r>
          </a:p>
          <a:p>
            <a:r>
              <a:rPr lang="pt-BR" dirty="0">
                <a:solidFill>
                  <a:srgbClr val="FF0000"/>
                </a:solidFill>
              </a:rPr>
              <a:t>d -&gt; 247</a:t>
            </a:r>
          </a:p>
          <a:p>
            <a:r>
              <a:rPr lang="pt-BR" dirty="0">
                <a:solidFill>
                  <a:srgbClr val="FF0000"/>
                </a:solidFill>
              </a:rPr>
              <a:t>e -&gt; 248</a:t>
            </a:r>
          </a:p>
          <a:p>
            <a:r>
              <a:rPr lang="pt-BR" dirty="0">
                <a:solidFill>
                  <a:srgbClr val="FF0000"/>
                </a:solidFill>
              </a:rPr>
              <a:t>f -&gt; 249</a:t>
            </a:r>
          </a:p>
          <a:p>
            <a:r>
              <a:rPr lang="pt-BR" dirty="0">
                <a:solidFill>
                  <a:srgbClr val="FF0000"/>
                </a:solidFill>
              </a:rPr>
              <a:t>g -&gt; 250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70298AB-6440-CCA5-4E79-98C1E81F20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334" t="59980" r="52555" b="1704"/>
          <a:stretch/>
        </p:blipFill>
        <p:spPr>
          <a:xfrm>
            <a:off x="3351595" y="4474454"/>
            <a:ext cx="1381760" cy="1970786"/>
          </a:xfrm>
          <a:prstGeom prst="rect">
            <a:avLst/>
          </a:prstGeom>
        </p:spPr>
      </p:pic>
      <p:pic>
        <p:nvPicPr>
          <p:cNvPr id="7" name="Picture 2" descr="Esta bomba-relógio não deve ser levada na mala de viagem - TecMundo">
            <a:extLst>
              <a:ext uri="{FF2B5EF4-FFF2-40B4-BE49-F238E27FC236}">
                <a16:creationId xmlns:a16="http://schemas.microsoft.com/office/drawing/2014/main" id="{4F1BB3EA-75C1-278A-6D75-7B7D5EA23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49" y="3978967"/>
            <a:ext cx="2567131" cy="280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44993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4D5306F-A7C7-2585-F2FE-1871420E42ED}"/>
              </a:ext>
            </a:extLst>
          </p:cNvPr>
          <p:cNvSpPr/>
          <p:nvPr/>
        </p:nvSpPr>
        <p:spPr>
          <a:xfrm>
            <a:off x="0" y="0"/>
            <a:ext cx="9144000" cy="793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2707" name="CaixaDeTexto 3">
            <a:extLst>
              <a:ext uri="{FF2B5EF4-FFF2-40B4-BE49-F238E27FC236}">
                <a16:creationId xmlns:a16="http://schemas.microsoft.com/office/drawing/2014/main" id="{C30DD4AF-878C-8AEE-787E-8B7EE3911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833438"/>
            <a:ext cx="53467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SOUZA, D.J. </a:t>
            </a:r>
            <a:r>
              <a:rPr lang="pt-BR" altLang="pt-BR" sz="1200" b="1" dirty="0">
                <a:solidFill>
                  <a:schemeClr val="tx1"/>
                </a:solidFill>
              </a:rPr>
              <a:t>Desbravando o PIC</a:t>
            </a:r>
            <a:r>
              <a:rPr lang="pt-BR" altLang="pt-BR" sz="1200" dirty="0">
                <a:solidFill>
                  <a:schemeClr val="tx1"/>
                </a:solidFill>
              </a:rPr>
              <a:t>. 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2708" name="CaixaDeTexto 4">
            <a:extLst>
              <a:ext uri="{FF2B5EF4-FFF2-40B4-BE49-F238E27FC236}">
                <a16:creationId xmlns:a16="http://schemas.microsoft.com/office/drawing/2014/main" id="{166B574B-25CD-A340-93B2-8EE0F4E5B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1193800"/>
            <a:ext cx="4897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SOUSA, D.R.; SOUZA, D.J. </a:t>
            </a:r>
            <a:r>
              <a:rPr lang="pt-BR" altLang="pt-BR" sz="1200" b="1" dirty="0">
                <a:solidFill>
                  <a:schemeClr val="tx1"/>
                </a:solidFill>
              </a:rPr>
              <a:t>Desbravando o microcontrolador PIC18</a:t>
            </a:r>
            <a:r>
              <a:rPr lang="pt-BR" altLang="pt-BR" sz="1200" dirty="0">
                <a:solidFill>
                  <a:schemeClr val="tx1"/>
                </a:solidFill>
              </a:rPr>
              <a:t>. 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2709" name="CaixaDeTexto 5">
            <a:extLst>
              <a:ext uri="{FF2B5EF4-FFF2-40B4-BE49-F238E27FC236}">
                <a16:creationId xmlns:a16="http://schemas.microsoft.com/office/drawing/2014/main" id="{6DED6231-FE00-08BD-F3FF-51F87F11D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1801813"/>
            <a:ext cx="4968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SOUSA, D.R.; SOUZA, D.J. </a:t>
            </a:r>
            <a:r>
              <a:rPr lang="pt-BR" altLang="pt-BR" sz="1200" b="1" dirty="0">
                <a:solidFill>
                  <a:schemeClr val="tx1"/>
                </a:solidFill>
              </a:rPr>
              <a:t>Desbravando o PIC24.</a:t>
            </a:r>
            <a:r>
              <a:rPr lang="pt-BR" altLang="pt-BR" sz="1200" dirty="0">
                <a:solidFill>
                  <a:schemeClr val="tx1"/>
                </a:solidFill>
              </a:rPr>
              <a:t> 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2710" name="CaixaDeTexto 6">
            <a:extLst>
              <a:ext uri="{FF2B5EF4-FFF2-40B4-BE49-F238E27FC236}">
                <a16:creationId xmlns:a16="http://schemas.microsoft.com/office/drawing/2014/main" id="{1C22C38A-BB19-84B3-5995-C7BF85F9C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2409825"/>
            <a:ext cx="50196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PEREIRA, F. </a:t>
            </a:r>
            <a:r>
              <a:rPr lang="pt-BR" altLang="pt-BR" sz="1200" b="1" dirty="0">
                <a:solidFill>
                  <a:schemeClr val="tx1"/>
                </a:solidFill>
              </a:rPr>
              <a:t>Tecnologia ARM – Microcontroladores de 32 bits. </a:t>
            </a:r>
            <a:r>
              <a:rPr lang="pt-BR" altLang="pt-BR" sz="1200" dirty="0">
                <a:solidFill>
                  <a:schemeClr val="tx1"/>
                </a:solidFill>
              </a:rPr>
              <a:t>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2711" name="CaixaDeTexto 7">
            <a:extLst>
              <a:ext uri="{FF2B5EF4-FFF2-40B4-BE49-F238E27FC236}">
                <a16:creationId xmlns:a16="http://schemas.microsoft.com/office/drawing/2014/main" id="{3F04EF15-E322-8BE8-898B-A0F43F730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2967038"/>
            <a:ext cx="5145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SOUSA, D.R. </a:t>
            </a:r>
            <a:r>
              <a:rPr lang="pt-BR" altLang="pt-BR" sz="1200" b="1" dirty="0">
                <a:solidFill>
                  <a:schemeClr val="tx1"/>
                </a:solidFill>
              </a:rPr>
              <a:t>Microcontroladores ARM7 – O poder dos 32 bits.</a:t>
            </a:r>
            <a:r>
              <a:rPr lang="pt-BR" altLang="pt-BR" sz="1200" dirty="0">
                <a:solidFill>
                  <a:schemeClr val="tx1"/>
                </a:solidFill>
              </a:rPr>
              <a:t> Editora Érica Saraiva.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CCA5F36-ABF8-F515-2761-85E504568D44}"/>
              </a:ext>
            </a:extLst>
          </p:cNvPr>
          <p:cNvSpPr txBox="1"/>
          <p:nvPr/>
        </p:nvSpPr>
        <p:spPr>
          <a:xfrm>
            <a:off x="3952875" y="4008438"/>
            <a:ext cx="5033963" cy="2862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altLang="pt-BR" sz="1200" dirty="0"/>
              <a:t>OLIVEIRA, A. S., ANDRADE, F. S. </a:t>
            </a:r>
            <a:r>
              <a:rPr lang="pt-BR" altLang="pt-BR" sz="1200" b="1" dirty="0"/>
              <a:t>Sistemas Embarcados: hardware e firmware na prática. </a:t>
            </a:r>
            <a:r>
              <a:rPr lang="pt-BR" altLang="pt-BR" sz="1200" dirty="0"/>
              <a:t>Editora Érica Saraiva. </a:t>
            </a:r>
            <a:r>
              <a:rPr lang="pt-BR" altLang="pt-BR" sz="1200" dirty="0">
                <a:solidFill>
                  <a:schemeClr val="tx1">
                    <a:lumMod val="50000"/>
                  </a:schemeClr>
                </a:solidFill>
              </a:rPr>
              <a:t>(Biblioteca FIAP – livro físico)</a:t>
            </a:r>
          </a:p>
          <a:p>
            <a:pPr>
              <a:defRPr/>
            </a:pPr>
            <a:endParaRPr lang="pt-BR" altLang="pt-BR" sz="12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pt-BR" altLang="pt-BR" sz="1200" dirty="0"/>
              <a:t>SOUSA, D.R.; SOUZA, D.J., LAVÍNIA, N. C. </a:t>
            </a:r>
            <a:r>
              <a:rPr lang="pt-BR" altLang="pt-BR" sz="1200" b="1" dirty="0"/>
              <a:t>Desbravando o microcontrolador PIC18: recursos avançados</a:t>
            </a:r>
            <a:r>
              <a:rPr lang="pt-BR" altLang="pt-BR" sz="1200" dirty="0"/>
              <a:t>. Editora Érica Saraiva</a:t>
            </a:r>
            <a:r>
              <a:rPr lang="pt-BR" altLang="pt-BR" sz="1200" b="1" dirty="0"/>
              <a:t>.</a:t>
            </a:r>
          </a:p>
          <a:p>
            <a:pPr>
              <a:defRPr/>
            </a:pPr>
            <a:endParaRPr lang="pt-BR" altLang="pt-BR" sz="1200" dirty="0"/>
          </a:p>
          <a:p>
            <a:pPr>
              <a:defRPr/>
            </a:pPr>
            <a:r>
              <a:rPr lang="pt-BR" altLang="pt-BR" sz="1200" dirty="0"/>
              <a:t>PEREIRA, F. </a:t>
            </a:r>
            <a:r>
              <a:rPr lang="pt-BR" altLang="pt-BR" sz="1200" b="1" dirty="0"/>
              <a:t>Microcontroladores PIC: programação em C</a:t>
            </a:r>
            <a:r>
              <a:rPr lang="pt-BR" altLang="pt-BR" sz="1200" dirty="0"/>
              <a:t>. Editora Érica Saraiva.</a:t>
            </a:r>
          </a:p>
          <a:p>
            <a:pPr>
              <a:defRPr/>
            </a:pPr>
            <a:endParaRPr lang="pt-BR" altLang="pt-BR" sz="12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pt-BR" altLang="pt-BR" sz="1200" dirty="0"/>
              <a:t>YIU, J. </a:t>
            </a:r>
            <a:r>
              <a:rPr lang="pt-BR" altLang="pt-BR" sz="1200" b="1" dirty="0"/>
              <a:t>The </a:t>
            </a:r>
            <a:r>
              <a:rPr lang="pt-BR" altLang="pt-BR" sz="1200" b="1" dirty="0" err="1"/>
              <a:t>definitive</a:t>
            </a:r>
            <a:r>
              <a:rPr lang="pt-BR" altLang="pt-BR" sz="1200" b="1" dirty="0"/>
              <a:t> </a:t>
            </a:r>
            <a:r>
              <a:rPr lang="pt-BR" altLang="pt-BR" sz="1200" b="1" dirty="0" err="1"/>
              <a:t>guide</a:t>
            </a:r>
            <a:r>
              <a:rPr lang="pt-BR" altLang="pt-BR" sz="1200" b="1" dirty="0"/>
              <a:t> </a:t>
            </a:r>
            <a:r>
              <a:rPr lang="pt-BR" altLang="pt-BR" sz="1200" b="1" dirty="0" err="1"/>
              <a:t>to</a:t>
            </a:r>
            <a:r>
              <a:rPr lang="pt-BR" altLang="pt-BR" sz="1200" b="1" dirty="0"/>
              <a:t> ARM </a:t>
            </a:r>
            <a:r>
              <a:rPr lang="pt-BR" altLang="pt-BR" sz="1200" b="1" dirty="0" err="1"/>
              <a:t>Cortex</a:t>
            </a:r>
            <a:r>
              <a:rPr lang="pt-BR" altLang="pt-BR" sz="1200" b="1" dirty="0"/>
              <a:t> M3 </a:t>
            </a:r>
            <a:r>
              <a:rPr lang="pt-BR" altLang="pt-BR" sz="1200" b="1" dirty="0" err="1"/>
              <a:t>and</a:t>
            </a:r>
            <a:r>
              <a:rPr lang="pt-BR" altLang="pt-BR" sz="1200" b="1" dirty="0"/>
              <a:t> ARM </a:t>
            </a:r>
            <a:r>
              <a:rPr lang="pt-BR" altLang="pt-BR" sz="1200" b="1" dirty="0" err="1"/>
              <a:t>Cortex</a:t>
            </a:r>
            <a:r>
              <a:rPr lang="pt-BR" altLang="pt-BR" sz="1200" b="1" dirty="0"/>
              <a:t> M4 processors. </a:t>
            </a:r>
            <a:r>
              <a:rPr lang="pt-BR" altLang="pt-BR" sz="1200" dirty="0"/>
              <a:t>Ed. Elsevier.</a:t>
            </a:r>
          </a:p>
          <a:p>
            <a:pPr>
              <a:defRPr/>
            </a:pPr>
            <a:endParaRPr lang="pt-BR" altLang="pt-BR" sz="1200" dirty="0"/>
          </a:p>
          <a:p>
            <a:pPr>
              <a:defRPr/>
            </a:pPr>
            <a:r>
              <a:rPr lang="pt-BR" altLang="pt-BR" sz="1200" dirty="0"/>
              <a:t>SLOSS, A. N., SYMES, D., WRIGHT, C. </a:t>
            </a:r>
            <a:r>
              <a:rPr lang="pt-BR" altLang="pt-BR" sz="1200" b="1" dirty="0"/>
              <a:t>ARM System </a:t>
            </a:r>
            <a:r>
              <a:rPr lang="pt-BR" altLang="pt-BR" sz="1200" b="1" dirty="0" err="1"/>
              <a:t>Developer’s</a:t>
            </a:r>
            <a:r>
              <a:rPr lang="pt-BR" altLang="pt-BR" sz="1200" b="1" dirty="0"/>
              <a:t> </a:t>
            </a:r>
            <a:r>
              <a:rPr lang="pt-BR" altLang="pt-BR" sz="1200" b="1" dirty="0" err="1"/>
              <a:t>Guide</a:t>
            </a:r>
            <a:r>
              <a:rPr lang="pt-BR" altLang="pt-BR" sz="1200" b="1" dirty="0"/>
              <a:t>. </a:t>
            </a:r>
            <a:r>
              <a:rPr lang="pt-BR" altLang="pt-BR" sz="1200" dirty="0"/>
              <a:t>Ed. Elsevier.</a:t>
            </a:r>
          </a:p>
        </p:txBody>
      </p:sp>
      <p:sp>
        <p:nvSpPr>
          <p:cNvPr id="72713" name="CaixaDeTexto 9">
            <a:extLst>
              <a:ext uri="{FF2B5EF4-FFF2-40B4-BE49-F238E27FC236}">
                <a16:creationId xmlns:a16="http://schemas.microsoft.com/office/drawing/2014/main" id="{DF8BF2A0-02FA-25EE-E047-A475E5C0C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9075" y="404813"/>
            <a:ext cx="19431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600" b="1">
                <a:solidFill>
                  <a:srgbClr val="2E0DF1"/>
                </a:solidFill>
              </a:rPr>
              <a:t>BÁSICA</a:t>
            </a:r>
          </a:p>
        </p:txBody>
      </p:sp>
      <p:sp>
        <p:nvSpPr>
          <p:cNvPr id="72714" name="CaixaDeTexto 10">
            <a:extLst>
              <a:ext uri="{FF2B5EF4-FFF2-40B4-BE49-F238E27FC236}">
                <a16:creationId xmlns:a16="http://schemas.microsoft.com/office/drawing/2014/main" id="{ECCBAF9A-D1DD-17EE-4671-FB535F04B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1925" y="3633788"/>
            <a:ext cx="19446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600" b="1">
                <a:solidFill>
                  <a:srgbClr val="2E0DF1"/>
                </a:solidFill>
              </a:rPr>
              <a:t>COMPLEMENTAR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2" name="Rectangle 1026">
            <a:extLst>
              <a:ext uri="{FF2B5EF4-FFF2-40B4-BE49-F238E27FC236}">
                <a16:creationId xmlns:a16="http://schemas.microsoft.com/office/drawing/2014/main" id="{0559F948-421A-33CA-9624-407393978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371" y="3269995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Sandro A.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6758</TotalTime>
  <Words>1355</Words>
  <Application>Microsoft Office PowerPoint</Application>
  <PresentationFormat>On-screen Show (4:3)</PresentationFormat>
  <Paragraphs>127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Dúvidas?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Laboratório FIAP</cp:lastModifiedBy>
  <cp:revision>448</cp:revision>
  <cp:lastPrinted>2016-02-15T09:06:24Z</cp:lastPrinted>
  <dcterms:created xsi:type="dcterms:W3CDTF">2015-02-07T21:24:47Z</dcterms:created>
  <dcterms:modified xsi:type="dcterms:W3CDTF">2024-10-09T11:02:23Z</dcterms:modified>
</cp:coreProperties>
</file>