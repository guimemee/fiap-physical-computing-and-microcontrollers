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46"/>
  </p:notesMasterIdLst>
  <p:handoutMasterIdLst>
    <p:handoutMasterId r:id="rId47"/>
  </p:handoutMasterIdLst>
  <p:sldIdLst>
    <p:sldId id="256" r:id="rId6"/>
    <p:sldId id="487" r:id="rId7"/>
    <p:sldId id="534" r:id="rId8"/>
    <p:sldId id="532" r:id="rId9"/>
    <p:sldId id="444" r:id="rId10"/>
    <p:sldId id="555" r:id="rId11"/>
    <p:sldId id="453" r:id="rId12"/>
    <p:sldId id="454" r:id="rId13"/>
    <p:sldId id="529" r:id="rId14"/>
    <p:sldId id="542" r:id="rId15"/>
    <p:sldId id="526" r:id="rId16"/>
    <p:sldId id="543" r:id="rId17"/>
    <p:sldId id="544" r:id="rId18"/>
    <p:sldId id="545" r:id="rId19"/>
    <p:sldId id="546" r:id="rId20"/>
    <p:sldId id="547" r:id="rId21"/>
    <p:sldId id="548" r:id="rId22"/>
    <p:sldId id="566" r:id="rId23"/>
    <p:sldId id="549" r:id="rId24"/>
    <p:sldId id="550" r:id="rId25"/>
    <p:sldId id="568" r:id="rId26"/>
    <p:sldId id="569" r:id="rId27"/>
    <p:sldId id="570" r:id="rId28"/>
    <p:sldId id="551" r:id="rId29"/>
    <p:sldId id="571" r:id="rId30"/>
    <p:sldId id="572" r:id="rId31"/>
    <p:sldId id="573" r:id="rId32"/>
    <p:sldId id="574" r:id="rId33"/>
    <p:sldId id="575" r:id="rId34"/>
    <p:sldId id="578" r:id="rId35"/>
    <p:sldId id="579" r:id="rId36"/>
    <p:sldId id="580" r:id="rId37"/>
    <p:sldId id="581" r:id="rId38"/>
    <p:sldId id="576" r:id="rId39"/>
    <p:sldId id="552" r:id="rId40"/>
    <p:sldId id="307" r:id="rId41"/>
    <p:sldId id="563" r:id="rId42"/>
    <p:sldId id="592" r:id="rId43"/>
    <p:sldId id="593" r:id="rId44"/>
    <p:sldId id="265" r:id="rId4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ACC"/>
    <a:srgbClr val="020000"/>
    <a:srgbClr val="F0265D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94786" autoAdjust="0"/>
  </p:normalViewPr>
  <p:slideViewPr>
    <p:cSldViewPr snapToGrid="0" snapToObjects="1">
      <p:cViewPr varScale="1">
        <p:scale>
          <a:sx n="75" d="100"/>
          <a:sy n="75" d="100"/>
        </p:scale>
        <p:origin x="1800" y="48"/>
      </p:cViewPr>
      <p:guideLst>
        <p:guide pos="2880"/>
        <p:guide orient="horz" pos="213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12/09/2023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2E5EAA4D-734C-FB2B-5805-93F6F42AC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65460698-FC29-6A3E-74F5-58B9BB38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A035F7C8-9F59-BDC4-BA1A-3BF8398FF8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3ECB2A-6AF7-410F-A7D7-63C12142FD9A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38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2E5EAA4D-734C-FB2B-5805-93F6F42AC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65460698-FC29-6A3E-74F5-58B9BB38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A035F7C8-9F59-BDC4-BA1A-3BF8398FF8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3ECB2A-6AF7-410F-A7D7-63C12142FD9A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39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0789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LFQc_0Slyw&amp;t=195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AHMES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BB401F-2946-FAB8-CB40-AC40FAEA3076}"/>
              </a:ext>
            </a:extLst>
          </p:cNvPr>
          <p:cNvSpPr/>
          <p:nvPr/>
        </p:nvSpPr>
        <p:spPr>
          <a:xfrm>
            <a:off x="0" y="-36512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8A5E8-D33C-9865-B585-B91DAF0FF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044" y="2759586"/>
            <a:ext cx="499938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800" b="1" dirty="0">
                <a:solidFill>
                  <a:srgbClr val="FF0000"/>
                </a:solidFill>
              </a:rPr>
              <a:t>O Computador AHMES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7A5766-C68C-88B4-366D-C2FFCD112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72" r="33727"/>
          <a:stretch/>
        </p:blipFill>
        <p:spPr bwMode="auto">
          <a:xfrm>
            <a:off x="69572" y="-363220"/>
            <a:ext cx="4112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9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925" y="765175"/>
            <a:ext cx="820896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800" b="1" dirty="0">
                <a:solidFill>
                  <a:srgbClr val="FF0000"/>
                </a:solidFill>
              </a:rPr>
              <a:t>	O Simulador </a:t>
            </a:r>
            <a:r>
              <a:rPr lang="pt-BR" altLang="pt-BR" sz="2800" b="1">
                <a:solidFill>
                  <a:srgbClr val="FF0000"/>
                </a:solidFill>
              </a:rPr>
              <a:t>Ahmes</a:t>
            </a:r>
            <a:endParaRPr lang="pt-BR" altLang="pt-BR" sz="2800" b="1" dirty="0">
              <a:solidFill>
                <a:srgbClr val="FF0000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05678" y="1489310"/>
            <a:ext cx="7951305" cy="227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200" u="none" dirty="0">
                <a:solidFill>
                  <a:schemeClr val="tx1"/>
                </a:solidFill>
              </a:rPr>
              <a:t>O simulador </a:t>
            </a:r>
            <a:r>
              <a:rPr lang="pt-BR" altLang="pt-BR" sz="2200" u="none" dirty="0" err="1">
                <a:solidFill>
                  <a:schemeClr val="tx1"/>
                </a:solidFill>
              </a:rPr>
              <a:t>Ahmes</a:t>
            </a:r>
            <a:r>
              <a:rPr lang="pt-BR" altLang="pt-BR" sz="2200" u="none" dirty="0">
                <a:solidFill>
                  <a:schemeClr val="tx1"/>
                </a:solidFill>
              </a:rPr>
              <a:t> acrescenta algumas funções ao processador </a:t>
            </a:r>
            <a:r>
              <a:rPr lang="pt-BR" altLang="pt-BR" sz="2200" u="none" dirty="0" err="1">
                <a:solidFill>
                  <a:schemeClr val="tx1"/>
                </a:solidFill>
              </a:rPr>
              <a:t>Neander</a:t>
            </a:r>
            <a:r>
              <a:rPr lang="pt-BR" altLang="pt-BR" sz="2200" u="none" dirty="0">
                <a:solidFill>
                  <a:schemeClr val="tx1"/>
                </a:solidFill>
              </a:rPr>
              <a:t>, ou seja, ele é uma evolução do </a:t>
            </a:r>
            <a:r>
              <a:rPr lang="pt-BR" altLang="pt-BR" sz="2200" u="none" dirty="0" err="1">
                <a:solidFill>
                  <a:schemeClr val="tx1"/>
                </a:solidFill>
              </a:rPr>
              <a:t>Neander</a:t>
            </a:r>
            <a:r>
              <a:rPr lang="pt-BR" altLang="pt-BR" sz="2200" u="none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pt-BR" altLang="pt-BR" sz="1000" u="none" dirty="0">
              <a:solidFill>
                <a:schemeClr val="tx1"/>
              </a:solidFill>
            </a:endParaRPr>
          </a:p>
          <a:p>
            <a:pPr algn="just"/>
            <a:r>
              <a:rPr lang="pt-BR" altLang="pt-BR" sz="2200" u="none" dirty="0">
                <a:solidFill>
                  <a:schemeClr val="tx1"/>
                </a:solidFill>
              </a:rPr>
              <a:t>	</a:t>
            </a:r>
            <a:r>
              <a:rPr lang="pt-BR" altLang="pt-BR" sz="2200" u="none" dirty="0" err="1">
                <a:solidFill>
                  <a:schemeClr val="tx1"/>
                </a:solidFill>
              </a:rPr>
              <a:t>Ahmés</a:t>
            </a:r>
            <a:r>
              <a:rPr lang="pt-BR" altLang="pt-BR" sz="2200" u="none" dirty="0">
                <a:solidFill>
                  <a:schemeClr val="tx1"/>
                </a:solidFill>
              </a:rPr>
              <a:t>, </a:t>
            </a:r>
            <a:r>
              <a:rPr lang="pt-BR" altLang="pt-BR" sz="2200" u="none" dirty="0" err="1">
                <a:solidFill>
                  <a:schemeClr val="tx1"/>
                </a:solidFill>
              </a:rPr>
              <a:t>Ahmose</a:t>
            </a:r>
            <a:r>
              <a:rPr lang="pt-BR" altLang="pt-BR" sz="2200" u="none" dirty="0">
                <a:solidFill>
                  <a:schemeClr val="tx1"/>
                </a:solidFill>
              </a:rPr>
              <a:t> ou </a:t>
            </a:r>
            <a:r>
              <a:rPr lang="pt-BR" altLang="pt-BR" sz="2200" u="none" dirty="0" err="1">
                <a:solidFill>
                  <a:schemeClr val="tx1"/>
                </a:solidFill>
              </a:rPr>
              <a:t>Amósis</a:t>
            </a:r>
            <a:r>
              <a:rPr lang="pt-BR" altLang="pt-BR" sz="2200" u="none" dirty="0">
                <a:solidFill>
                  <a:schemeClr val="tx1"/>
                </a:solidFill>
              </a:rPr>
              <a:t> ("a Lua nasceu") foi o primeiro rei da XVIII dinastia egípcia, que inaugura um dos períodos mais famosos da história do Antigo Egito.</a:t>
            </a:r>
          </a:p>
        </p:txBody>
      </p:sp>
      <p:pic>
        <p:nvPicPr>
          <p:cNvPr id="2" name="Picture 2" descr="The Reign of Ahmose, the First King of the XVIIIth Dynasty">
            <a:extLst>
              <a:ext uri="{FF2B5EF4-FFF2-40B4-BE49-F238E27FC236}">
                <a16:creationId xmlns:a16="http://schemas.microsoft.com/office/drawing/2014/main" id="{A9B6DDA0-C63D-70A9-EE3B-57B73D358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4061161"/>
            <a:ext cx="3632200" cy="26150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63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onentes de um computador - o que são e o que são?">
            <a:extLst>
              <a:ext uri="{FF2B5EF4-FFF2-40B4-BE49-F238E27FC236}">
                <a16:creationId xmlns:a16="http://schemas.microsoft.com/office/drawing/2014/main" id="{F3D15AAB-2D73-BD99-D388-5745EC3A1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597" y="74140"/>
            <a:ext cx="9242380" cy="678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225706" y="1265467"/>
            <a:ext cx="51102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Aspectos da arquitetura do “processador”</a:t>
            </a:r>
          </a:p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hipotético AHMES</a:t>
            </a:r>
          </a:p>
        </p:txBody>
      </p:sp>
    </p:spTree>
    <p:extLst>
      <p:ext uri="{BB962C8B-B14F-4D97-AF65-F5344CB8AC3E}">
        <p14:creationId xmlns:p14="http://schemas.microsoft.com/office/powerpoint/2010/main" val="3575093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6517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O Simulador AHMES – Características Gerais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89023" y="1711731"/>
            <a:ext cx="6700317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Largura de Dados e Endereços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Operações Aritméticas representado em Complemento de 2;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1 Acumulador (AC)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1 Apontador de programa (PC)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1 Registrador de Estado com dois </a:t>
            </a:r>
            <a:r>
              <a:rPr lang="pt-BR" altLang="pt-BR" i="1" u="none" dirty="0">
                <a:solidFill>
                  <a:schemeClr val="tx1"/>
                </a:solidFill>
              </a:rPr>
              <a:t>flags (códigos de condição)</a:t>
            </a:r>
            <a:r>
              <a:rPr lang="pt-BR" altLang="pt-BR" u="none" dirty="0">
                <a:solidFill>
                  <a:schemeClr val="tx1"/>
                </a:solidFill>
              </a:rPr>
              <a:t>:</a:t>
            </a:r>
          </a:p>
          <a:p>
            <a:r>
              <a:rPr lang="pt-BR" altLang="pt-BR" u="none" dirty="0">
                <a:solidFill>
                  <a:schemeClr val="tx1"/>
                </a:solidFill>
              </a:rPr>
              <a:t>	</a:t>
            </a:r>
          </a:p>
          <a:p>
            <a:r>
              <a:rPr lang="pt-BR" altLang="pt-BR" u="none" dirty="0">
                <a:solidFill>
                  <a:schemeClr val="tx1"/>
                </a:solidFill>
              </a:rPr>
              <a:t>	</a:t>
            </a:r>
            <a:r>
              <a:rPr lang="pt-BR" altLang="pt-BR" b="1" u="none" dirty="0">
                <a:solidFill>
                  <a:schemeClr val="tx1"/>
                </a:solidFill>
              </a:rPr>
              <a:t>N</a:t>
            </a:r>
            <a:r>
              <a:rPr lang="pt-BR" altLang="pt-BR" u="none" dirty="0">
                <a:solidFill>
                  <a:schemeClr val="tx1"/>
                </a:solidFill>
              </a:rPr>
              <a:t>: Negativo;</a:t>
            </a:r>
          </a:p>
          <a:p>
            <a:r>
              <a:rPr lang="pt-BR" altLang="pt-BR" u="none" dirty="0">
                <a:solidFill>
                  <a:schemeClr val="tx1"/>
                </a:solidFill>
              </a:rPr>
              <a:t>	</a:t>
            </a:r>
            <a:r>
              <a:rPr lang="pt-BR" altLang="pt-BR" b="1" u="none" dirty="0">
                <a:solidFill>
                  <a:schemeClr val="tx1"/>
                </a:solidFill>
              </a:rPr>
              <a:t>Z</a:t>
            </a:r>
            <a:r>
              <a:rPr lang="pt-BR" altLang="pt-BR" u="none" dirty="0">
                <a:solidFill>
                  <a:schemeClr val="tx1"/>
                </a:solidFill>
              </a:rPr>
              <a:t>: Zero;</a:t>
            </a:r>
          </a:p>
          <a:p>
            <a:pPr marL="893763"/>
            <a:r>
              <a:rPr lang="pt-BR" altLang="pt-BR" b="1" u="none" dirty="0">
                <a:solidFill>
                  <a:schemeClr val="tx1"/>
                </a:solidFill>
              </a:rPr>
              <a:t>C</a:t>
            </a:r>
            <a:r>
              <a:rPr lang="pt-BR" altLang="pt-BR" u="none" dirty="0">
                <a:solidFill>
                  <a:schemeClr val="tx1"/>
                </a:solidFill>
              </a:rPr>
              <a:t>: Vai-um;</a:t>
            </a:r>
          </a:p>
          <a:p>
            <a:pPr marL="893763"/>
            <a:r>
              <a:rPr lang="pt-BR" altLang="pt-BR" b="1" u="none" dirty="0">
                <a:solidFill>
                  <a:schemeClr val="tx1"/>
                </a:solidFill>
              </a:rPr>
              <a:t>B</a:t>
            </a:r>
            <a:r>
              <a:rPr lang="pt-BR" altLang="pt-BR" u="none" dirty="0">
                <a:solidFill>
                  <a:schemeClr val="tx1"/>
                </a:solidFill>
              </a:rPr>
              <a:t>: Vem-um; e</a:t>
            </a:r>
          </a:p>
          <a:p>
            <a:pPr marL="893763"/>
            <a:r>
              <a:rPr lang="pt-BR" altLang="pt-BR" b="1" u="none" dirty="0">
                <a:solidFill>
                  <a:schemeClr val="tx1"/>
                </a:solidFill>
              </a:rPr>
              <a:t>V</a:t>
            </a:r>
            <a:r>
              <a:rPr lang="pt-BR" altLang="pt-BR" u="none" dirty="0">
                <a:solidFill>
                  <a:schemeClr val="tx1"/>
                </a:solidFill>
              </a:rPr>
              <a:t>: Overflow.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Modo de Endereçamento Direto.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Duas memórias de 256 posições, de 8 bits cada uma.</a:t>
            </a:r>
          </a:p>
        </p:txBody>
      </p:sp>
    </p:spTree>
    <p:extLst>
      <p:ext uri="{BB962C8B-B14F-4D97-AF65-F5344CB8AC3E}">
        <p14:creationId xmlns:p14="http://schemas.microsoft.com/office/powerpoint/2010/main" val="1698555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3350"/>
            <a:ext cx="9143999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800" b="1" u="none" dirty="0">
              <a:solidFill>
                <a:srgbClr val="FF0000"/>
              </a:solidFill>
            </a:endParaRPr>
          </a:p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Modos de endereçamento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657670" y="1550505"/>
            <a:ext cx="78286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AHMES só possui um modo de endereçamento: o modo direto (ou absoluto).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No modo de endereçamento direto (ver figura), </a:t>
            </a:r>
            <a:r>
              <a:rPr lang="pt-BR" b="1" dirty="0"/>
              <a:t>a apalavra que segue o código da instrução contém, nas instruções de manipulação de dados, o endereço de memória do operando.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Nas instruções de desvio, o endereço contido na instrução corresponde à posição de memória onde está uma instrução a ser executada.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55EFD5-636B-3409-451F-97422C1AB4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43" t="50000" r="6956" b="20821"/>
          <a:stretch/>
        </p:blipFill>
        <p:spPr>
          <a:xfrm>
            <a:off x="278296" y="4303125"/>
            <a:ext cx="4095712" cy="22710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7FF9692-EDE3-492E-F7F2-B5288D27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730" y="4421099"/>
            <a:ext cx="4550114" cy="2079092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0236F42-F8B9-B4E8-80FD-C8A77C494167}"/>
              </a:ext>
            </a:extLst>
          </p:cNvPr>
          <p:cNvGrpSpPr/>
          <p:nvPr/>
        </p:nvGrpSpPr>
        <p:grpSpPr>
          <a:xfrm>
            <a:off x="4729022" y="4969481"/>
            <a:ext cx="4290894" cy="669319"/>
            <a:chOff x="4729022" y="4969481"/>
            <a:chExt cx="4290894" cy="669319"/>
          </a:xfrm>
        </p:grpSpPr>
        <p:sp>
          <p:nvSpPr>
            <p:cNvPr id="8" name="Texto Explicativo: Seta para Cima 7">
              <a:extLst>
                <a:ext uri="{FF2B5EF4-FFF2-40B4-BE49-F238E27FC236}">
                  <a16:creationId xmlns:a16="http://schemas.microsoft.com/office/drawing/2014/main" id="{8FF98DC4-DAFA-DAEC-0912-DFE5CBD4E11A}"/>
                </a:ext>
              </a:extLst>
            </p:cNvPr>
            <p:cNvSpPr/>
            <p:nvPr/>
          </p:nvSpPr>
          <p:spPr>
            <a:xfrm>
              <a:off x="4729022" y="4969481"/>
              <a:ext cx="1552076" cy="669319"/>
            </a:xfrm>
            <a:prstGeom prst="up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</a:rPr>
                <a:t>Que está no endereço da memória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6D21F98-BDC8-CC37-983B-46EB859B2CBC}"/>
                </a:ext>
              </a:extLst>
            </p:cNvPr>
            <p:cNvSpPr/>
            <p:nvPr/>
          </p:nvSpPr>
          <p:spPr>
            <a:xfrm>
              <a:off x="8692442" y="5423002"/>
              <a:ext cx="327474" cy="9616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1" name="Texto Explicativo: Seta para Baixo 10">
            <a:extLst>
              <a:ext uri="{FF2B5EF4-FFF2-40B4-BE49-F238E27FC236}">
                <a16:creationId xmlns:a16="http://schemas.microsoft.com/office/drawing/2014/main" id="{287A4AD5-3943-3CE8-FD79-3B3A3B4F10F9}"/>
              </a:ext>
            </a:extLst>
          </p:cNvPr>
          <p:cNvSpPr/>
          <p:nvPr/>
        </p:nvSpPr>
        <p:spPr>
          <a:xfrm>
            <a:off x="4333240" y="4101726"/>
            <a:ext cx="1209040" cy="365052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Carregue algo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9EBCB9C-8E83-84F3-68D9-1C7FF17C0C81}"/>
              </a:ext>
            </a:extLst>
          </p:cNvPr>
          <p:cNvGrpSpPr/>
          <p:nvPr/>
        </p:nvGrpSpPr>
        <p:grpSpPr>
          <a:xfrm>
            <a:off x="5577840" y="4537323"/>
            <a:ext cx="2070091" cy="430887"/>
            <a:chOff x="5816600" y="4537323"/>
            <a:chExt cx="2070091" cy="430887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6F52DAD-A015-7F01-C4EF-55D1A6CCD9AA}"/>
                </a:ext>
              </a:extLst>
            </p:cNvPr>
            <p:cNvGrpSpPr/>
            <p:nvPr/>
          </p:nvGrpSpPr>
          <p:grpSpPr>
            <a:xfrm>
              <a:off x="5816600" y="4566712"/>
              <a:ext cx="778823" cy="327660"/>
              <a:chOff x="5542280" y="4573761"/>
              <a:chExt cx="778823" cy="327660"/>
            </a:xfrm>
          </p:grpSpPr>
          <p:sp>
            <p:nvSpPr>
              <p:cNvPr id="2" name="Seta: Curva para a Esquerda 1">
                <a:extLst>
                  <a:ext uri="{FF2B5EF4-FFF2-40B4-BE49-F238E27FC236}">
                    <a16:creationId xmlns:a16="http://schemas.microsoft.com/office/drawing/2014/main" id="{63E6B078-168C-2D36-AC56-2859A362148F}"/>
                  </a:ext>
                </a:extLst>
              </p:cNvPr>
              <p:cNvSpPr/>
              <p:nvPr/>
            </p:nvSpPr>
            <p:spPr>
              <a:xfrm>
                <a:off x="5985823" y="4573761"/>
                <a:ext cx="335280" cy="327660"/>
              </a:xfrm>
              <a:prstGeom prst="curvedLeftArrow">
                <a:avLst>
                  <a:gd name="adj1" fmla="val 16736"/>
                  <a:gd name="adj2" fmla="val 50000"/>
                  <a:gd name="adj3" fmla="val 25000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DEC720E5-141E-70F6-4FC8-445F62EA6341}"/>
                  </a:ext>
                </a:extLst>
              </p:cNvPr>
              <p:cNvSpPr/>
              <p:nvPr/>
            </p:nvSpPr>
            <p:spPr>
              <a:xfrm>
                <a:off x="5542280" y="4574436"/>
                <a:ext cx="443543" cy="51990"/>
              </a:xfrm>
              <a:prstGeom prst="rect">
                <a:avLst/>
              </a:prstGeom>
              <a:solidFill>
                <a:srgbClr val="7C9A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77266BC-13A9-34E1-EF26-CD878D593C6D}"/>
                </a:ext>
              </a:extLst>
            </p:cNvPr>
            <p:cNvSpPr txBox="1"/>
            <p:nvPr/>
          </p:nvSpPr>
          <p:spPr>
            <a:xfrm>
              <a:off x="6573189" y="4537323"/>
              <a:ext cx="13135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rgbClr val="FF0000"/>
                  </a:solidFill>
                </a:rPr>
                <a:t>0x0005</a:t>
              </a:r>
            </a:p>
            <a:p>
              <a:r>
                <a:rPr lang="pt-BR" sz="800" dirty="0">
                  <a:solidFill>
                    <a:srgbClr val="FF0000"/>
                  </a:solidFill>
                </a:rPr>
                <a:t>(em Hexadecimal)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8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Formato das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instruções do AHMES são formadas por um ou dois bytes (8 bits), ou seja, ocupam uma ou duas posições na memória.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283D19-F286-50A3-7DCB-6E46E451916A}"/>
              </a:ext>
            </a:extLst>
          </p:cNvPr>
          <p:cNvSpPr txBox="1"/>
          <p:nvPr/>
        </p:nvSpPr>
        <p:spPr>
          <a:xfrm flipH="1">
            <a:off x="820970" y="4925541"/>
            <a:ext cx="7547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Nas instruções de um byte, somente os 4 bits mais significativos contém o código da instrução. Os demais 4 bits não são utilizados. Nas instruções de dois bytes, o primeiro byte contém o código (também nos 4 bits mais significativos) e o segundo byte contém um endereço. Instruções de dois bytes, no AHMES, são aquelas instruções que fazem referência à memória.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6FACC-0830-AEDF-333D-B9C9632E83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979" t="38213" r="20260" b="40145"/>
          <a:stretch/>
        </p:blipFill>
        <p:spPr>
          <a:xfrm>
            <a:off x="2267052" y="2912795"/>
            <a:ext cx="5134107" cy="1533386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2F949DD-5E5B-7E4A-0D15-2D8794355AC5}"/>
              </a:ext>
            </a:extLst>
          </p:cNvPr>
          <p:cNvGrpSpPr/>
          <p:nvPr/>
        </p:nvGrpSpPr>
        <p:grpSpPr>
          <a:xfrm>
            <a:off x="1004782" y="3202834"/>
            <a:ext cx="1272209" cy="369332"/>
            <a:chOff x="646974" y="2864906"/>
            <a:chExt cx="1272209" cy="369332"/>
          </a:xfrm>
        </p:grpSpPr>
        <p:sp>
          <p:nvSpPr>
            <p:cNvPr id="2" name="Seta: para Baixo 1">
              <a:extLst>
                <a:ext uri="{FF2B5EF4-FFF2-40B4-BE49-F238E27FC236}">
                  <a16:creationId xmlns:a16="http://schemas.microsoft.com/office/drawing/2014/main" id="{693A57FC-F216-009C-6194-F62B288BE44C}"/>
                </a:ext>
              </a:extLst>
            </p:cNvPr>
            <p:cNvSpPr/>
            <p:nvPr/>
          </p:nvSpPr>
          <p:spPr>
            <a:xfrm rot="16200000">
              <a:off x="1560766" y="2850182"/>
              <a:ext cx="318052" cy="39878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C73753C-ED65-8121-48C2-BC8596B556E0}"/>
                </a:ext>
              </a:extLst>
            </p:cNvPr>
            <p:cNvSpPr txBox="1"/>
            <p:nvPr/>
          </p:nvSpPr>
          <p:spPr>
            <a:xfrm>
              <a:off x="646974" y="2864906"/>
              <a:ext cx="873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0070C0"/>
                  </a:solidFill>
                </a:rPr>
                <a:t>1º Byte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E8B799A-1C32-34F9-EB78-A306CFB336C2}"/>
              </a:ext>
            </a:extLst>
          </p:cNvPr>
          <p:cNvGrpSpPr/>
          <p:nvPr/>
        </p:nvGrpSpPr>
        <p:grpSpPr>
          <a:xfrm>
            <a:off x="1004782" y="3900067"/>
            <a:ext cx="1272209" cy="369332"/>
            <a:chOff x="646974" y="2864906"/>
            <a:chExt cx="1272209" cy="369332"/>
          </a:xfrm>
        </p:grpSpPr>
        <p:sp>
          <p:nvSpPr>
            <p:cNvPr id="9" name="Seta: para Baixo 8">
              <a:extLst>
                <a:ext uri="{FF2B5EF4-FFF2-40B4-BE49-F238E27FC236}">
                  <a16:creationId xmlns:a16="http://schemas.microsoft.com/office/drawing/2014/main" id="{55CAA3D0-2F2A-FC03-BD8A-82F2D0258BF7}"/>
                </a:ext>
              </a:extLst>
            </p:cNvPr>
            <p:cNvSpPr/>
            <p:nvPr/>
          </p:nvSpPr>
          <p:spPr>
            <a:xfrm rot="16200000">
              <a:off x="1560766" y="2850182"/>
              <a:ext cx="318052" cy="39878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F5E7926-6A27-5567-6D3E-866CC8F60F12}"/>
                </a:ext>
              </a:extLst>
            </p:cNvPr>
            <p:cNvSpPr txBox="1"/>
            <p:nvPr/>
          </p:nvSpPr>
          <p:spPr>
            <a:xfrm>
              <a:off x="646974" y="2864906"/>
              <a:ext cx="873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0070C0"/>
                  </a:solidFill>
                </a:rPr>
                <a:t>2º Byte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A590857-A7E9-BD94-2D18-CB9F44CD6F15}"/>
              </a:ext>
            </a:extLst>
          </p:cNvPr>
          <p:cNvGrpSpPr/>
          <p:nvPr/>
        </p:nvGrpSpPr>
        <p:grpSpPr>
          <a:xfrm>
            <a:off x="2564905" y="2403057"/>
            <a:ext cx="2295329" cy="551403"/>
            <a:chOff x="2564905" y="2403057"/>
            <a:chExt cx="2295329" cy="551403"/>
          </a:xfrm>
        </p:grpSpPr>
        <p:sp>
          <p:nvSpPr>
            <p:cNvPr id="11" name="Chave Direita 10">
              <a:extLst>
                <a:ext uri="{FF2B5EF4-FFF2-40B4-BE49-F238E27FC236}">
                  <a16:creationId xmlns:a16="http://schemas.microsoft.com/office/drawing/2014/main" id="{13AFB995-5330-BC6C-0473-216ED57DE64F}"/>
                </a:ext>
              </a:extLst>
            </p:cNvPr>
            <p:cNvSpPr/>
            <p:nvPr/>
          </p:nvSpPr>
          <p:spPr>
            <a:xfrm rot="16200000">
              <a:off x="3674303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9A535F0-99D9-EEC7-2225-AC6BA6FE1B6A}"/>
                </a:ext>
              </a:extLst>
            </p:cNvPr>
            <p:cNvSpPr txBox="1"/>
            <p:nvPr/>
          </p:nvSpPr>
          <p:spPr>
            <a:xfrm flipH="1">
              <a:off x="2564905" y="2403057"/>
              <a:ext cx="2295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4 bits mais significativos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D887B4E-DA3F-A261-DF05-04FE37F219B3}"/>
              </a:ext>
            </a:extLst>
          </p:cNvPr>
          <p:cNvGrpSpPr/>
          <p:nvPr/>
        </p:nvGrpSpPr>
        <p:grpSpPr>
          <a:xfrm>
            <a:off x="7391220" y="3244334"/>
            <a:ext cx="1474484" cy="369332"/>
            <a:chOff x="7391220" y="3244334"/>
            <a:chExt cx="1474484" cy="369332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F89D5F-BB1A-8088-EF2D-D49871FB0780}"/>
                </a:ext>
              </a:extLst>
            </p:cNvPr>
            <p:cNvSpPr txBox="1"/>
            <p:nvPr/>
          </p:nvSpPr>
          <p:spPr>
            <a:xfrm>
              <a:off x="7790002" y="3244334"/>
              <a:ext cx="10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Instrução</a:t>
              </a:r>
            </a:p>
          </p:txBody>
        </p:sp>
        <p:sp>
          <p:nvSpPr>
            <p:cNvPr id="17" name="Seta: para a Esquerda 16">
              <a:extLst>
                <a:ext uri="{FF2B5EF4-FFF2-40B4-BE49-F238E27FC236}">
                  <a16:creationId xmlns:a16="http://schemas.microsoft.com/office/drawing/2014/main" id="{B58A60E5-1FE2-658C-2670-2D4CAB5FFAC3}"/>
                </a:ext>
              </a:extLst>
            </p:cNvPr>
            <p:cNvSpPr/>
            <p:nvPr/>
          </p:nvSpPr>
          <p:spPr>
            <a:xfrm>
              <a:off x="7391220" y="3279913"/>
              <a:ext cx="398782" cy="298174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089FBCF-0F33-35C8-BFD4-54F9BD9F54F1}"/>
              </a:ext>
            </a:extLst>
          </p:cNvPr>
          <p:cNvGrpSpPr/>
          <p:nvPr/>
        </p:nvGrpSpPr>
        <p:grpSpPr>
          <a:xfrm>
            <a:off x="7401976" y="3876151"/>
            <a:ext cx="1474484" cy="369332"/>
            <a:chOff x="7391220" y="3244334"/>
            <a:chExt cx="1474484" cy="369332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446F54A-F492-362C-E7CC-1AAAF592636D}"/>
                </a:ext>
              </a:extLst>
            </p:cNvPr>
            <p:cNvSpPr txBox="1"/>
            <p:nvPr/>
          </p:nvSpPr>
          <p:spPr>
            <a:xfrm>
              <a:off x="7790002" y="3244334"/>
              <a:ext cx="10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Endereço</a:t>
              </a:r>
            </a:p>
          </p:txBody>
        </p:sp>
        <p:sp>
          <p:nvSpPr>
            <p:cNvPr id="21" name="Seta: para a Esquerda 20">
              <a:extLst>
                <a:ext uri="{FF2B5EF4-FFF2-40B4-BE49-F238E27FC236}">
                  <a16:creationId xmlns:a16="http://schemas.microsoft.com/office/drawing/2014/main" id="{A107FE17-2773-F963-7D34-D23337BF0F87}"/>
                </a:ext>
              </a:extLst>
            </p:cNvPr>
            <p:cNvSpPr/>
            <p:nvPr/>
          </p:nvSpPr>
          <p:spPr>
            <a:xfrm>
              <a:off x="7391220" y="3279913"/>
              <a:ext cx="398782" cy="298174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338A746-6691-D205-2C4B-A25071AE7A18}"/>
              </a:ext>
            </a:extLst>
          </p:cNvPr>
          <p:cNvGrpSpPr/>
          <p:nvPr/>
        </p:nvGrpSpPr>
        <p:grpSpPr>
          <a:xfrm>
            <a:off x="4952666" y="2416161"/>
            <a:ext cx="2637945" cy="538299"/>
            <a:chOff x="4952666" y="2416161"/>
            <a:chExt cx="2637945" cy="538299"/>
          </a:xfrm>
        </p:grpSpPr>
        <p:sp>
          <p:nvSpPr>
            <p:cNvPr id="12" name="Chave Direita 11">
              <a:extLst>
                <a:ext uri="{FF2B5EF4-FFF2-40B4-BE49-F238E27FC236}">
                  <a16:creationId xmlns:a16="http://schemas.microsoft.com/office/drawing/2014/main" id="{5D1B12CE-129C-BC9E-8B7F-B0553C86176D}"/>
                </a:ext>
              </a:extLst>
            </p:cNvPr>
            <p:cNvSpPr/>
            <p:nvPr/>
          </p:nvSpPr>
          <p:spPr>
            <a:xfrm rot="16200000">
              <a:off x="5969631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D969A7F-B363-F380-C954-780EE68453C0}"/>
                </a:ext>
              </a:extLst>
            </p:cNvPr>
            <p:cNvSpPr txBox="1"/>
            <p:nvPr/>
          </p:nvSpPr>
          <p:spPr>
            <a:xfrm>
              <a:off x="5387715" y="2416161"/>
              <a:ext cx="2202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/>
                <a:t>Não interessa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13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Formato das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instruções do AHMES são formadas por um ou dois bytes (8 bits), ou seja, ocupam uma ou duas posições na memória.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283D19-F286-50A3-7DCB-6E46E451916A}"/>
              </a:ext>
            </a:extLst>
          </p:cNvPr>
          <p:cNvSpPr txBox="1"/>
          <p:nvPr/>
        </p:nvSpPr>
        <p:spPr>
          <a:xfrm flipH="1">
            <a:off x="820970" y="4933161"/>
            <a:ext cx="7547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Nas instruções de um byte, somente os 4 bits mais significativos contém o código da instrução. Os demais 4 bits não são utilizados. Nas instruções de dois bytes, o primeiro byte contém o código (também nos 4 bits mais significativos) e o segundo byte contém um endereço. Instruções de dois bytes, no AHMES, são aquelas instruções que fazem referência à memória.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E7B7FAA-004D-D8DC-96C8-19411BA9B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40" y="2994448"/>
            <a:ext cx="4676775" cy="1419225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4F80F181-4796-C4D4-CE0D-3A05A3443841}"/>
              </a:ext>
            </a:extLst>
          </p:cNvPr>
          <p:cNvSpPr txBox="1"/>
          <p:nvPr/>
        </p:nvSpPr>
        <p:spPr>
          <a:xfrm>
            <a:off x="2626360" y="3224821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0        1       1        0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119709C-469E-CE5E-9FB0-9927AEC68C7F}"/>
              </a:ext>
            </a:extLst>
          </p:cNvPr>
          <p:cNvSpPr txBox="1"/>
          <p:nvPr/>
        </p:nvSpPr>
        <p:spPr>
          <a:xfrm>
            <a:off x="4897120" y="323249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0        1       1        0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4336219-A7AA-1633-5C54-FB37AE35755C}"/>
              </a:ext>
            </a:extLst>
          </p:cNvPr>
          <p:cNvSpPr txBox="1"/>
          <p:nvPr/>
        </p:nvSpPr>
        <p:spPr>
          <a:xfrm>
            <a:off x="2682240" y="3930941"/>
            <a:ext cx="446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0        0       0        1           0        0       1        0</a:t>
            </a:r>
          </a:p>
          <a:p>
            <a:pPr algn="ctr"/>
            <a:endParaRPr lang="pt-BR" dirty="0">
              <a:solidFill>
                <a:srgbClr val="0070C0"/>
              </a:solidFill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75729664-E9F1-0CB4-51EF-4B1A861499ED}"/>
              </a:ext>
            </a:extLst>
          </p:cNvPr>
          <p:cNvGrpSpPr/>
          <p:nvPr/>
        </p:nvGrpSpPr>
        <p:grpSpPr>
          <a:xfrm>
            <a:off x="2564905" y="2403057"/>
            <a:ext cx="2295329" cy="551403"/>
            <a:chOff x="2564905" y="2403057"/>
            <a:chExt cx="2295329" cy="551403"/>
          </a:xfrm>
        </p:grpSpPr>
        <p:sp>
          <p:nvSpPr>
            <p:cNvPr id="32" name="Chave Direita 31">
              <a:extLst>
                <a:ext uri="{FF2B5EF4-FFF2-40B4-BE49-F238E27FC236}">
                  <a16:creationId xmlns:a16="http://schemas.microsoft.com/office/drawing/2014/main" id="{ED4BF668-0CB0-D23B-B51B-2A5FEB277106}"/>
                </a:ext>
              </a:extLst>
            </p:cNvPr>
            <p:cNvSpPr/>
            <p:nvPr/>
          </p:nvSpPr>
          <p:spPr>
            <a:xfrm rot="16200000">
              <a:off x="3674303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B3A0EA5B-C4B1-D725-453B-4DC2C139EC37}"/>
                </a:ext>
              </a:extLst>
            </p:cNvPr>
            <p:cNvSpPr txBox="1"/>
            <p:nvPr/>
          </p:nvSpPr>
          <p:spPr>
            <a:xfrm flipH="1">
              <a:off x="2564905" y="2403057"/>
              <a:ext cx="2295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Instrução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CBBB50F9-34ED-1AD1-1BBD-753F35C2DA08}"/>
              </a:ext>
            </a:extLst>
          </p:cNvPr>
          <p:cNvGrpSpPr/>
          <p:nvPr/>
        </p:nvGrpSpPr>
        <p:grpSpPr>
          <a:xfrm>
            <a:off x="4952666" y="2416161"/>
            <a:ext cx="2637945" cy="538299"/>
            <a:chOff x="4952666" y="2416161"/>
            <a:chExt cx="2637945" cy="538299"/>
          </a:xfrm>
        </p:grpSpPr>
        <p:sp>
          <p:nvSpPr>
            <p:cNvPr id="35" name="Chave Direita 34">
              <a:extLst>
                <a:ext uri="{FF2B5EF4-FFF2-40B4-BE49-F238E27FC236}">
                  <a16:creationId xmlns:a16="http://schemas.microsoft.com/office/drawing/2014/main" id="{9E64BF59-227C-C8E2-8B4A-5C00EE1F128E}"/>
                </a:ext>
              </a:extLst>
            </p:cNvPr>
            <p:cNvSpPr/>
            <p:nvPr/>
          </p:nvSpPr>
          <p:spPr>
            <a:xfrm rot="16200000">
              <a:off x="5969631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1C9DFEB4-693F-D972-6441-CEF75BC847A6}"/>
                </a:ext>
              </a:extLst>
            </p:cNvPr>
            <p:cNvSpPr txBox="1"/>
            <p:nvPr/>
          </p:nvSpPr>
          <p:spPr>
            <a:xfrm>
              <a:off x="5387715" y="2416161"/>
              <a:ext cx="2202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/>
                <a:t>Não interessa</a:t>
              </a:r>
            </a:p>
          </p:txBody>
        </p:sp>
      </p:grp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26B0ADB-EF49-BFEF-D197-20ADBD8A5255}"/>
              </a:ext>
            </a:extLst>
          </p:cNvPr>
          <p:cNvCxnSpPr/>
          <p:nvPr/>
        </p:nvCxnSpPr>
        <p:spPr>
          <a:xfrm>
            <a:off x="5080000" y="3412808"/>
            <a:ext cx="1910080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E5C3A4D5-7BCA-D7E1-2216-6394652E6F3E}"/>
              </a:ext>
            </a:extLst>
          </p:cNvPr>
          <p:cNvGrpSpPr/>
          <p:nvPr/>
        </p:nvGrpSpPr>
        <p:grpSpPr>
          <a:xfrm>
            <a:off x="2792940" y="4421347"/>
            <a:ext cx="4465320" cy="486629"/>
            <a:chOff x="2792940" y="4421347"/>
            <a:chExt cx="4465320" cy="486629"/>
          </a:xfrm>
        </p:grpSpPr>
        <p:sp>
          <p:nvSpPr>
            <p:cNvPr id="39" name="Chave Direita 38">
              <a:extLst>
                <a:ext uri="{FF2B5EF4-FFF2-40B4-BE49-F238E27FC236}">
                  <a16:creationId xmlns:a16="http://schemas.microsoft.com/office/drawing/2014/main" id="{56FC45A5-6294-2FAF-A0E3-A0CE87180958}"/>
                </a:ext>
              </a:extLst>
            </p:cNvPr>
            <p:cNvSpPr/>
            <p:nvPr/>
          </p:nvSpPr>
          <p:spPr>
            <a:xfrm rot="5400000">
              <a:off x="4882464" y="2417564"/>
              <a:ext cx="140402" cy="4147967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6036F4AA-85B0-628F-073D-29AA99D5E4C9}"/>
                </a:ext>
              </a:extLst>
            </p:cNvPr>
            <p:cNvSpPr txBox="1"/>
            <p:nvPr/>
          </p:nvSpPr>
          <p:spPr>
            <a:xfrm>
              <a:off x="2792940" y="4569422"/>
              <a:ext cx="44653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FF0000"/>
                  </a:solidFill>
                </a:rPr>
                <a:t>Endereço onde o dado deve ser buscado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B55149B-6EDE-6F45-AC4D-A5F4D01FDA90}"/>
              </a:ext>
            </a:extLst>
          </p:cNvPr>
          <p:cNvGrpSpPr/>
          <p:nvPr/>
        </p:nvGrpSpPr>
        <p:grpSpPr>
          <a:xfrm>
            <a:off x="7278095" y="3907791"/>
            <a:ext cx="1808030" cy="369332"/>
            <a:chOff x="7278095" y="3907791"/>
            <a:chExt cx="1808030" cy="369332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AC942E1B-0FED-6747-319C-AE988AC34B3E}"/>
                </a:ext>
              </a:extLst>
            </p:cNvPr>
            <p:cNvSpPr txBox="1"/>
            <p:nvPr/>
          </p:nvSpPr>
          <p:spPr>
            <a:xfrm>
              <a:off x="7674013" y="3907791"/>
              <a:ext cx="1412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accent1"/>
                  </a:solidFill>
                </a:rPr>
                <a:t>Endereço 18</a:t>
              </a:r>
            </a:p>
          </p:txBody>
        </p:sp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6AA0CAD7-C274-8237-60EE-D106B1102918}"/>
                </a:ext>
              </a:extLst>
            </p:cNvPr>
            <p:cNvSpPr/>
            <p:nvPr/>
          </p:nvSpPr>
          <p:spPr>
            <a:xfrm rot="10800000">
              <a:off x="7278095" y="3930941"/>
              <a:ext cx="381964" cy="29488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06FD58E-B1F3-156B-25D3-0CE8A40EA812}"/>
              </a:ext>
            </a:extLst>
          </p:cNvPr>
          <p:cNvGrpSpPr/>
          <p:nvPr/>
        </p:nvGrpSpPr>
        <p:grpSpPr>
          <a:xfrm>
            <a:off x="744470" y="3218075"/>
            <a:ext cx="1794076" cy="369332"/>
            <a:chOff x="744470" y="3218075"/>
            <a:chExt cx="1794076" cy="369332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499AA9C7-72A8-7CD5-6163-EE46ABAC1D03}"/>
                </a:ext>
              </a:extLst>
            </p:cNvPr>
            <p:cNvSpPr txBox="1"/>
            <p:nvPr/>
          </p:nvSpPr>
          <p:spPr>
            <a:xfrm>
              <a:off x="744470" y="3218075"/>
              <a:ext cx="1412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accent1"/>
                  </a:solidFill>
                </a:rPr>
                <a:t>Ver na tabela</a:t>
              </a:r>
            </a:p>
          </p:txBody>
        </p:sp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C491C1D5-9D7F-DCC7-B00D-60FA7B8272A1}"/>
                </a:ext>
              </a:extLst>
            </p:cNvPr>
            <p:cNvSpPr/>
            <p:nvPr/>
          </p:nvSpPr>
          <p:spPr>
            <a:xfrm>
              <a:off x="2156582" y="3255301"/>
              <a:ext cx="381964" cy="29488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04999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B997FFF-D577-E0F3-36A6-907CC311C1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7E42959F-4DBE-221F-98B2-7B7A6AD60BD8}"/>
              </a:ext>
            </a:extLst>
          </p:cNvPr>
          <p:cNvGrpSpPr/>
          <p:nvPr/>
        </p:nvGrpSpPr>
        <p:grpSpPr>
          <a:xfrm>
            <a:off x="7452419" y="2365939"/>
            <a:ext cx="1747809" cy="276999"/>
            <a:chOff x="7384868" y="3048564"/>
            <a:chExt cx="1747809" cy="276999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FAE65BA-290B-0389-5186-9BA7EED62621}"/>
                </a:ext>
              </a:extLst>
            </p:cNvPr>
            <p:cNvSpPr txBox="1"/>
            <p:nvPr/>
          </p:nvSpPr>
          <p:spPr>
            <a:xfrm>
              <a:off x="7604819" y="3048564"/>
              <a:ext cx="1527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Apenas utiliza 1 ciclo</a:t>
              </a:r>
            </a:p>
          </p:txBody>
        </p:sp>
        <p:sp>
          <p:nvSpPr>
            <p:cNvPr id="9" name="Seta: para Baixo 8">
              <a:extLst>
                <a:ext uri="{FF2B5EF4-FFF2-40B4-BE49-F238E27FC236}">
                  <a16:creationId xmlns:a16="http://schemas.microsoft.com/office/drawing/2014/main" id="{8F040BDF-2F35-1EB0-CA93-9041DEA1C9C8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B3A8D96-1200-91AE-CCDA-AC6BECE18B4D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" name="Chave Esquerda 1">
              <a:extLst>
                <a:ext uri="{FF2B5EF4-FFF2-40B4-BE49-F238E27FC236}">
                  <a16:creationId xmlns:a16="http://schemas.microsoft.com/office/drawing/2014/main" id="{113DE088-D34A-CF72-6538-86A279F51CEB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have Esquerda 4">
              <a:extLst>
                <a:ext uri="{FF2B5EF4-FFF2-40B4-BE49-F238E27FC236}">
                  <a16:creationId xmlns:a16="http://schemas.microsoft.com/office/drawing/2014/main" id="{B454A034-2605-ED03-7EA2-456BF23A3610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07FCD2F-617E-E5E7-D171-6FF24BFB918B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5749042-FA08-5A36-92AC-7A8943113625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11" name="Chave Esquerda 10">
              <a:extLst>
                <a:ext uri="{FF2B5EF4-FFF2-40B4-BE49-F238E27FC236}">
                  <a16:creationId xmlns:a16="http://schemas.microsoft.com/office/drawing/2014/main" id="{54A8DB2D-0BBF-604B-59BD-18B0DCDC2E32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721816FC-BFC4-DD88-D562-804C86C4C877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13" name="Chave Esquerda 12">
              <a:extLst>
                <a:ext uri="{FF2B5EF4-FFF2-40B4-BE49-F238E27FC236}">
                  <a16:creationId xmlns:a16="http://schemas.microsoft.com/office/drawing/2014/main" id="{7F706684-7AFF-7287-AC66-9C37F1FB987D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D89C172D-DA5B-5739-825A-CDD453C81170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CCED3B99-D1C7-9FE3-098B-BB3617B9C534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12AEEF37-6A1E-E547-0CFC-88E07D6D1A3D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56C5FB47-82E9-E461-2BC3-E6F48AF13FE2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0DA93357-9DCA-435D-7789-955D0CF3BB86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507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6B05B1-29C5-2401-0EAE-A1949B783B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477471" y="2266843"/>
            <a:ext cx="1816973" cy="830997"/>
            <a:chOff x="7384868" y="2771565"/>
            <a:chExt cx="1816973" cy="830997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73983" y="2771565"/>
              <a:ext cx="15278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Memória do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), recebe o conteúdo do Acumulador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1CB3F-7745-2F21-D4AB-97BF6EFF5FCC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BF114D4-F108-24FB-B555-B08F93423C5B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FAA43118-1420-01A7-F421-1A25B2CC6174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093ACC2-7DDC-7094-5C6E-619266EBC5E1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C1A5204-B2F5-102D-740A-EB48A553EBB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DD1F93F-8987-80AF-5FA6-7C7BE7BB801B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25AD704-2A6E-3E5D-990D-179FD6FD5077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92C54AB-2920-B7AE-7C0D-5AB7119B0ADE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0A57DC4B-3345-425F-F2D0-A7EAAE0D0F73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78687B9-C35C-EDD4-E4C6-C62D20B3A3E7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81654FB9-F06D-9CDD-6AA3-3CF31A74A43D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FC5F068-A56B-9D5E-8435-22069DD2374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5210E379-3893-A3F8-0B15-B8CC0F696AEE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BC9F11D2-8CBA-7AD0-9041-796B134FE6F7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820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43A20B5-45DE-03DD-1A48-E7EB340706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2447600"/>
            <a:ext cx="1816973" cy="1015663"/>
            <a:chOff x="7384868" y="2771565"/>
            <a:chExt cx="1816973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73983" y="2771565"/>
              <a:ext cx="15278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BB824D-53C8-18B6-DEBF-8025601083FF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8D2BBA0-1BC7-9ACA-2ABC-8B7213028FCC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8DF4F89B-A9D1-7095-D844-224006F4A15B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C173BCEE-2D7B-CB70-BAF1-843AD9101EF3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F59929D-0A49-00CF-A75E-5A0395C5B597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8B9D02C-6CDE-4979-73FD-A2AA8E6F2B02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2739CC92-3449-87E0-0749-35FD1BD13973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D073A805-E7B2-1602-4F00-562F25683156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8DB3B84-005A-90FD-5F33-242D7376767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FB5EF87-31B9-F1A1-A56B-29A481124162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6A2B06F5-0F86-C46F-603E-DCB1E29AA53C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D6ED54B-7F54-88E6-C4E4-467C9DA1C83A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142B4F0E-D12A-1614-0880-5F1EC2554D75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91D80FF-1E8E-EC7C-E5A1-DE73F4AB3DA5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419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C66F5B2-2A0B-31A3-FF69-1269CBB3B5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246092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+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012789-C131-B896-8519-ACFCEB8081FF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E4264AE-4C01-E888-788F-AB138B08AB7C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4C176A43-FBE5-CF87-A1E4-6B20CD6F7665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3FA5B48-1362-64EC-A39A-85F7B3333818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ED9390AC-2FD2-0A75-51A2-79F2A678D6D4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07CD312F-7AAC-3158-5F8E-4AF099B67D37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F90D86BE-51AC-5706-6513-F1A9D42B8184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9FEE014-F164-2562-6B16-4C5B467AB30B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D0312C19-9B77-31DD-EAE6-5F67A3255D98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0E681EA-2A77-B837-1480-58AFEA5BA7A5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5D6B2CD0-3DDC-B310-AEE7-CA7C6717B721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D8A90F9-41FC-3241-FACC-4B989747C385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A8226DCD-989E-27E0-8184-CAAD72EEB657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DAD475F-3DE8-2BD0-443D-35F48F63429C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5868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211D8EC-271E-C3A7-2E73-B0EEEBA5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263364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</a:t>
              </a:r>
              <a:r>
                <a:rPr lang="pt-BR" sz="1200" dirty="0">
                  <a:solidFill>
                    <a:schemeClr val="accent1"/>
                  </a:solidFill>
                </a:rPr>
                <a:t>OU</a:t>
              </a:r>
              <a:r>
                <a:rPr lang="pt-BR" sz="1200" dirty="0">
                  <a:solidFill>
                    <a:srgbClr val="C00000"/>
                  </a:solidFill>
                </a:rPr>
                <a:t> (OR)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E460E1-F245-A46A-9C28-9F14E6914988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BC6C89DE-36F5-C425-3399-05AB814D0B3D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5F8D1558-1B3D-A1CD-F53A-E1EF6E434A99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6CA56504-D3B5-61CA-A1E0-4CB857929079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473CB62-C438-475F-0420-128D9A9202A1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2B2DAA0-43AB-7FCF-48F9-BA2B0EFD88CA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7707EFE1-6CAF-812D-D8B5-1F4E287896CA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AE6C3279-3A30-9EE7-0E27-23CB3126ED08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848C502-3AF5-F71D-3BC6-62ADDD0D39F6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2469499B-C0AD-78B9-71F3-6788D50C4A83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3B7A20D0-825B-A883-9758-B8A5B0E1AFEA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E4F8277B-31D7-B527-D661-E22D7B1B9C1C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CF2C4EC5-149C-7EC7-C066-037A9BA5F026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DDE5B09-1F25-5182-467C-A22707E93C97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1338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5F9D1DE-3B98-0CC5-7AD4-AC0FF40C3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281652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</a:t>
              </a:r>
              <a:r>
                <a:rPr lang="pt-BR" sz="1200" dirty="0">
                  <a:solidFill>
                    <a:schemeClr val="accent1"/>
                  </a:solidFill>
                </a:rPr>
                <a:t>E</a:t>
              </a:r>
              <a:r>
                <a:rPr lang="pt-BR" sz="1200" dirty="0">
                  <a:solidFill>
                    <a:srgbClr val="C00000"/>
                  </a:solidFill>
                </a:rPr>
                <a:t> (AND)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E975CB-4CF4-E627-A4F4-A72887EB9461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797DA8E-E749-696C-73C7-5A7CE905A90E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461B16B6-7A67-11DB-B9B7-D4A6E3917D0B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FD11634-8EA5-4F26-7F57-41B06FD31482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9D6A03C6-96B5-2862-047E-79B4B032475A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3456198-3EC8-5631-D1CF-7381AC989C7C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7E55D9D9-0FE1-F893-E10E-A4F659D027FB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B152D799-45A7-8257-6F94-5B9F27AA7907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EFAE3509-304C-D6AA-5A35-61CC640EA4AB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BB37A468-B389-FD37-D769-FF68E3A61431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8D1A709C-C5EA-CA72-AAA4-93B9B3126B5F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AD24CEB8-B72A-9E6E-09D4-5CE46C70A3DD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5D9A49C7-4A22-A9FF-22C1-0FC8890F106C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60F60289-FBE3-5B9C-3FA7-4E061F7EFEF2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018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2F5982C-CFF4-FB80-0951-B53B6F19C7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299940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</a:t>
              </a:r>
              <a:r>
                <a:rPr lang="pt-BR" sz="1200" dirty="0">
                  <a:solidFill>
                    <a:schemeClr val="accent1"/>
                  </a:solidFill>
                </a:rPr>
                <a:t>NÃO</a:t>
              </a:r>
              <a:r>
                <a:rPr lang="pt-BR" sz="1200" dirty="0">
                  <a:solidFill>
                    <a:srgbClr val="C00000"/>
                  </a:solidFill>
                </a:rPr>
                <a:t> (NOT) o conteúdo do próprio Acumulador, ou seja, nega (inverte)  cada bit do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45E67B-7801-0672-0F55-9C0B46412997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B31B09A2-6A76-11AC-D825-BCB905205532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C72304E0-1F24-B9AE-A6D7-E61D6B664382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FA421217-D0E1-CD78-18E4-985611BA9058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C2744391-E7D4-5A12-2936-48409E44960F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2F014363-D3BA-6F71-47E3-3F0D02B8D0F3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EE75602-C25E-1511-FA1C-FDD9EA46C199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AF188E25-7EB0-233C-D161-B28EEA5459B9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B4AD6807-FFD5-FB44-5DD8-F5BE5B65E2C1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72E0F0CF-09CF-0886-5026-5FD65FD273BD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62A75573-8C4F-F7A2-66B9-5FB742C99984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FC1D954-A7DF-D04A-B9DA-64F508B54EBE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C78B36FC-06D4-2192-334A-38502052654D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44BEE120-4B51-28D4-BCC0-89DA2FD9EFC4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6903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C66F5B2-2A0B-31A3-FF69-1269CBB3B5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18228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-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2"/>
                </a:solidFill>
              </a:endParaRP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012789-C131-B896-8519-ACFCEB8081FF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326CA7-E675-A90C-2882-C3E3456C00EE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4150808B-F186-B0DE-E1A4-65E7A96FF9BC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1011643D-CE82-0D3E-8E5B-BA76B141C280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7D81A99-190E-932D-5F97-4F0D36A88845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8A4E3F5-5505-A353-AF9A-AED6ECEA2C8D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FE9D38F8-E691-E426-B27B-1096D277754A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AEB32B4-BA4A-C803-3DF0-EAAEAB556D1A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5FBA563A-FBCF-484E-7118-7F1998CD587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E02AC4B1-3498-B8C2-45AD-5B8C8F1C8D29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7FC12751-17A3-64C3-A34D-E56331AFCC53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932D13DF-24D2-C4D8-71C8-24E0EF2DFA00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E0E33263-5F21-4AAC-9E1D-7F0D1A3D3810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2C7467E9-F53A-36ED-0CFE-94AC740ECC58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972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A63F9B6-DD2E-99CD-375E-EFB17DDE30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2499027"/>
            <a:ext cx="1809197" cy="2308324"/>
            <a:chOff x="7384868" y="1740952"/>
            <a:chExt cx="1809197" cy="2308324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1740952"/>
              <a:ext cx="15857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Instrução Jump.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 Observe que a ULA não é utilizada, assim,  temos um desvio (outra parte do código será executada presente o endereço indicado). Pois o código é executado sequencialmente (</a:t>
              </a:r>
              <a:r>
                <a:rPr lang="pt-BR" sz="1200" dirty="0" err="1">
                  <a:solidFill>
                    <a:srgbClr val="C00000"/>
                  </a:solidFill>
                </a:rPr>
                <a:t>qdo</a:t>
              </a:r>
              <a:r>
                <a:rPr lang="pt-BR" sz="1200" dirty="0">
                  <a:solidFill>
                    <a:srgbClr val="C00000"/>
                  </a:solidFill>
                </a:rPr>
                <a:t> não há desvio) !!!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2A4083-797B-24A1-5097-E90AA63391C3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4072C71-3D19-E81E-FE1F-5D27B128832A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0BB0FF4F-E793-F892-BA69-FCFD9D8AB548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E2E218C4-69C3-0369-57DC-27C0EA99DE86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0764787-FB9A-E725-0840-2B05F8E17D55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C272B509-A6DD-72DD-6A22-323823300E8E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139F1F18-EF0E-B689-B96C-9D0AC9427EE4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A6077E3-8252-1016-028A-8C4A6D18F1E5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AF47F824-75A0-531E-5764-68F0B177D5B5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9EB68B69-EB35-E98D-CCBC-F4E591E890E8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2D432423-92DC-AB16-B382-304FF794CC4A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1D5E748-5AEF-9AAD-11DE-11FCE5EB6C91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FBF23A2A-6B8C-44BA-3B22-053094452550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084A48A4-AAF8-1222-EADD-66B231ACC2CD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5269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4F97297-64C8-FD52-C3C0-7BEA86C4E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622727"/>
            <a:ext cx="1809197" cy="1015663"/>
            <a:chOff x="7384868" y="267923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67923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N = 1</a:t>
              </a:r>
              <a:r>
                <a:rPr lang="pt-BR" sz="1200" dirty="0">
                  <a:solidFill>
                    <a:srgbClr val="C00000"/>
                  </a:solidFill>
                </a:rPr>
                <a:t> (resultado for negativo),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8AEA59-6962-3DBF-C293-425FD12C5F68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B6266317-9DB1-812D-0FE9-D229C68AE013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6EB1229A-E576-6A73-C6D4-FEC4BF6BA731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3C3F8D15-BF76-330E-6133-45363FE554F6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15ACA645-8391-3B73-4445-1A0B100AE908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3A8AAB5-B710-894D-D33E-3499E93DDA7A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F847511A-EDD9-DE86-D828-49F3C874C7AF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F1771F16-7EC2-3D97-A469-FD36D76868BB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15BB1CE9-4C46-0FEC-2777-E4402E8EEEC9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8463191-3543-19CE-BF74-77C7941FD818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64934FB5-F6EC-39BD-F0DC-02523EA2A4C2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A1B4A28-954C-8BEF-4C71-C55A32BAED66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B1ABE1D9-DED3-673A-9AE7-6BB95B5ECDE0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5AFD5BB6-3D8D-7EB4-C3C4-D947E499D8B3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958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4F97297-64C8-FD52-C3C0-7BEA86C4E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805607"/>
            <a:ext cx="1809197" cy="1015663"/>
            <a:chOff x="7384868" y="267923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67923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N = 0</a:t>
              </a:r>
              <a:r>
                <a:rPr lang="pt-BR" sz="1200" dirty="0">
                  <a:solidFill>
                    <a:srgbClr val="C00000"/>
                  </a:solidFill>
                </a:rPr>
                <a:t> (resultado for positivo),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8AEA59-6962-3DBF-C293-425FD12C5F68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5C4D833-58E9-DA77-048E-C0C0EDBCED7C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9D237DE0-76EB-A6A4-374D-8CF6805B8B6F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3579AFEB-9B9F-30B6-40AE-53D9896EB8B0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8418516-889F-974E-540A-375E18583ED3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8EEDC5F-7239-B014-65CF-C27FC9D06C43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2042D87E-B900-F0DE-B968-B6467447C630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5610A982-4811-7A72-9670-F99519D6FD0B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E5114B9C-F88B-7B73-DB39-B3DBA54169C3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41E70019-4039-95F8-52F8-C9A46313E437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634A3F84-7568-BDEF-CD44-752D85EDE808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512EDD60-18AB-0D86-E50B-385B0885D66E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04A014DE-DBC2-087F-505C-617AA75B2715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2A179DD7-5EDF-85A0-B2E6-E53E35B008F2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3050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4F97297-64C8-FD52-C3C0-7BEA86C4E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978327"/>
            <a:ext cx="1809197" cy="1015663"/>
            <a:chOff x="7384868" y="267923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67923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V = 1</a:t>
              </a:r>
              <a:r>
                <a:rPr lang="pt-BR" sz="1200" dirty="0">
                  <a:solidFill>
                    <a:srgbClr val="C00000"/>
                  </a:solidFill>
                </a:rPr>
                <a:t> (resultado for overflow),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8AEA59-6962-3DBF-C293-425FD12C5F68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145C87E-2867-AB3C-B4F3-BAA79587357F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770E56D6-F462-8086-3CC8-2DF8764449B6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D62654C4-02CD-DB2C-366E-DD188927E73D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DC27453-F548-7CF1-304A-F612BAB4CBA6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EAD57FE6-BFAA-ABBC-E7DE-AE6F52F41F8F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8E63C3E4-AE05-237F-65B1-401E2A91410A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FF637414-06B9-7AC7-3F51-AF0927568250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D0E41397-F465-87C8-807B-0803533B66B7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F9C3B4C-8C89-FA55-E9C8-F5D84FEAB813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D4D39AA1-B01A-7C2B-93E5-008101696B22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196381D3-385D-938A-633B-A44938940200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E2DE078D-656C-74A6-1FCB-E7C11D96A303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255FE484-70CE-DF8D-8825-0B793E31B8E6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1311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4F97297-64C8-FD52-C3C0-7BEA86C4E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161207"/>
            <a:ext cx="1809197" cy="1015663"/>
            <a:chOff x="7384868" y="267923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67923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V = 0</a:t>
              </a:r>
              <a:r>
                <a:rPr lang="pt-BR" sz="1200" dirty="0">
                  <a:solidFill>
                    <a:srgbClr val="C00000"/>
                  </a:solidFill>
                </a:rPr>
                <a:t> (resultado não for overflow),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8AEA59-6962-3DBF-C293-425FD12C5F68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98F7FA3-21FF-F894-41BF-A54BC498D2AE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C0893852-E0BC-4F9F-1400-1538F47EE7F5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3D89CCBE-3103-107E-C71F-53091E42852C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C54D8A4-972E-2BB7-51FF-BE2F685EE814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828D6DB-097C-3F6B-0912-D3E6DCC3FC0A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EB490A7-A483-38B3-3958-7A4730A3338A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B19133AE-F4A0-AF7F-EA8F-0F7A081ADD63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7FBA9786-088D-D764-8FB6-13CE4654BF47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79E95AA-B9BF-795D-2EF6-1C8E9F997DD7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471D6A5D-3ED2-1109-28D5-00F391E5608B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CAAE5E6-F768-695D-041C-AF050D8F4DA3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015FDEC9-0CA2-4D89-1FD9-5AF6A536E85D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64CDD5E2-3273-72E0-CC4C-6E127AF587CD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8753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166287"/>
            <a:ext cx="1809197" cy="1015663"/>
            <a:chOff x="7384868" y="249635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Z = 1</a:t>
              </a:r>
              <a:r>
                <a:rPr lang="pt-BR" sz="1200" dirty="0">
                  <a:solidFill>
                    <a:srgbClr val="C00000"/>
                  </a:solidFill>
                </a:rPr>
                <a:t> (resultado igual a 1),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BBE76F-0D0D-0C26-9FFA-2835673AD24D}"/>
              </a:ext>
            </a:extLst>
          </p:cNvPr>
          <p:cNvSpPr txBox="1"/>
          <p:nvPr/>
        </p:nvSpPr>
        <p:spPr>
          <a:xfrm>
            <a:off x="7634929" y="1818309"/>
            <a:ext cx="14481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Atenção:</a:t>
            </a:r>
            <a:r>
              <a:rPr lang="pt-BR" sz="1400" dirty="0"/>
              <a:t> JN e JZ são úteis quando precisamos fazer algo parecido com o </a:t>
            </a:r>
            <a:r>
              <a:rPr lang="pt-BR" sz="1400" b="1" i="1" dirty="0"/>
              <a:t>IF</a:t>
            </a:r>
            <a:r>
              <a:rPr lang="pt-BR" sz="1400" dirty="0"/>
              <a:t> utilizado em programação de alto nível!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8B882B6-E97E-2352-6974-DA13CCDAF2A5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4A85266C-CBCD-1C5B-50CB-54657CE9B6D7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have Esquerda 23">
              <a:extLst>
                <a:ext uri="{FF2B5EF4-FFF2-40B4-BE49-F238E27FC236}">
                  <a16:creationId xmlns:a16="http://schemas.microsoft.com/office/drawing/2014/main" id="{C29D63BE-C0C5-1C2D-8258-8D0F7F645455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CF73B73-525B-7835-F327-9FBF69B86763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3590BFB-7351-D051-B9A2-6E2A87A4577D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7" name="Chave Esquerda 26">
              <a:extLst>
                <a:ext uri="{FF2B5EF4-FFF2-40B4-BE49-F238E27FC236}">
                  <a16:creationId xmlns:a16="http://schemas.microsoft.com/office/drawing/2014/main" id="{6E913A99-8854-FB58-5AAD-A06AE4305944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E3870C77-C496-9547-3F32-741BBB5BCEEE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9" name="Chave Esquerda 28">
              <a:extLst>
                <a:ext uri="{FF2B5EF4-FFF2-40B4-BE49-F238E27FC236}">
                  <a16:creationId xmlns:a16="http://schemas.microsoft.com/office/drawing/2014/main" id="{9367F9CD-4FE0-E6AA-BE8C-70B7739E78D8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CA490DF8-9A4D-CF66-D7C8-7B474567AB1F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1" name="Seta: para a Direita 30">
              <a:extLst>
                <a:ext uri="{FF2B5EF4-FFF2-40B4-BE49-F238E27FC236}">
                  <a16:creationId xmlns:a16="http://schemas.microsoft.com/office/drawing/2014/main" id="{B33AC6B3-EBC0-EBDE-E6CB-5BA4878D1829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1AA33F4-7FC7-6C01-8CA9-8FD75D5C36A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3" name="Seta: para a Direita 32">
              <a:extLst>
                <a:ext uri="{FF2B5EF4-FFF2-40B4-BE49-F238E27FC236}">
                  <a16:creationId xmlns:a16="http://schemas.microsoft.com/office/drawing/2014/main" id="{0B6B61F2-0ADA-DBFB-BAA2-826D12A02325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986F0615-580C-3626-50A1-964C071DD9F5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300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339007"/>
            <a:ext cx="1809197" cy="1015663"/>
            <a:chOff x="7384868" y="249635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Z = 0</a:t>
              </a:r>
              <a:r>
                <a:rPr lang="pt-BR" sz="1200" dirty="0">
                  <a:solidFill>
                    <a:srgbClr val="C00000"/>
                  </a:solidFill>
                </a:rPr>
                <a:t> (resultado for igual a zero),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D2BCB5D-361C-3AED-2B2B-6A08C060B17B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CFCB536E-A933-CC2E-E3CA-7358FB994260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2DBCD690-C124-8603-4E81-465B227991E0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A7125892-3DE3-00A5-1B8A-2A24DEFE10D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07F8E59-4149-A304-945A-24549F88C163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0FCC92C5-B553-F5A0-12B1-ABE3D4CB61FB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4B4052DA-76B7-1998-3944-114A53D49F9C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D05FA17F-C87B-2913-E58D-A01261AB7D1F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492A3033-4F91-F6F6-D519-D3A3F0E83919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ABFE78C4-A0A0-88EE-E90B-1CB8346FB746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C8811C7-BE5D-61EE-C514-054956176522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3F0BCA51-D1C8-075A-E8B2-9895E5A756B6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5D2F5AF8-89AA-F658-0C34-7AFE0DCA3EBC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839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521887"/>
            <a:ext cx="1809197" cy="1200329"/>
            <a:chOff x="7384868" y="2496352"/>
            <a:chExt cx="1809197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C = 1</a:t>
              </a:r>
              <a:r>
                <a:rPr lang="pt-BR" sz="1200" dirty="0">
                  <a:solidFill>
                    <a:srgbClr val="C00000"/>
                  </a:solidFill>
                </a:rPr>
                <a:t> (resultado for </a:t>
              </a:r>
              <a:r>
                <a:rPr lang="pt-BR" sz="1200" dirty="0" err="1">
                  <a:solidFill>
                    <a:srgbClr val="C00000"/>
                  </a:solidFill>
                </a:rPr>
                <a:t>carry</a:t>
              </a:r>
              <a:r>
                <a:rPr lang="pt-BR" sz="1200" dirty="0">
                  <a:solidFill>
                    <a:srgbClr val="C00000"/>
                  </a:solidFill>
                </a:rPr>
                <a:t> - carregamento),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035E832E-9644-B1BC-8B72-EEEFE52BE28E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FBAA4772-7616-D8DF-EE6D-109FBEF19A50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843A473F-784D-E18A-8617-E17D1F874B85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CA180B4-08A6-2933-B0C8-EFA9EE113EA4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282A897-7667-E730-C960-7663B22CFDD3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B5726786-69AD-6F58-0EFB-1897954A49A3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E7F0D07E-DD1D-19C0-8128-BE4168C844DC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D1F50580-0504-3122-3CAE-B1580609C55D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810AC85F-DCBC-9161-EE51-6853EB7288BA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5DB9F8C2-D327-2F29-5C93-B85F4AB5202A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33A2EF4-81C8-5FD4-79FB-6E30EA3D1557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755400E4-7644-E04D-26E7-8F3CAD809702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2A52C704-04BA-530C-3610-FBD781DA7EC3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974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704767"/>
            <a:ext cx="1809197" cy="1200329"/>
            <a:chOff x="7384868" y="2496352"/>
            <a:chExt cx="1809197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C = 0</a:t>
              </a:r>
              <a:r>
                <a:rPr lang="pt-BR" sz="1200" dirty="0">
                  <a:solidFill>
                    <a:srgbClr val="C00000"/>
                  </a:solidFill>
                </a:rPr>
                <a:t> (resultado não for </a:t>
              </a:r>
              <a:r>
                <a:rPr lang="pt-BR" sz="1200" dirty="0" err="1">
                  <a:solidFill>
                    <a:srgbClr val="C00000"/>
                  </a:solidFill>
                </a:rPr>
                <a:t>carry</a:t>
              </a:r>
              <a:r>
                <a:rPr lang="pt-BR" sz="1200" dirty="0">
                  <a:solidFill>
                    <a:srgbClr val="C00000"/>
                  </a:solidFill>
                </a:rPr>
                <a:t> - carregamento),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4E6C6F6B-F8A1-BD24-35A1-5842A19E40BF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8C939563-2692-7448-1A3F-1600C57A79EB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6CC78C93-F44E-8138-36C5-95980A1E21EB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08CB362-DE61-7E73-2234-1A5CB3B83ACF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D58AACE-7AC1-91E6-7473-8AE17077CC72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1F6FE150-D781-15D7-BFF7-B37E73F514B0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D0B0CD51-BC32-19F4-6897-39396FB36340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B39B52A8-6416-A2BD-6174-6DD35D887F0F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FE1AA1C-E83B-0271-7B1D-93FC7F5313E9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46D6564B-ACCE-30E3-6D29-812FFD63F426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A3D55D66-A80A-D051-7A0A-2EB6D8A7FD91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A4377692-7BB3-DF58-1D68-696E7230FFFA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5D07302-443B-9FD7-F0D6-0D9BA18E993D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6273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887647"/>
            <a:ext cx="1809197" cy="1200329"/>
            <a:chOff x="7384868" y="2496352"/>
            <a:chExt cx="1809197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B = 1</a:t>
              </a:r>
              <a:r>
                <a:rPr lang="pt-BR" sz="1200" dirty="0">
                  <a:solidFill>
                    <a:srgbClr val="C00000"/>
                  </a:solidFill>
                </a:rPr>
                <a:t> (resultado for </a:t>
              </a:r>
              <a:r>
                <a:rPr lang="pt-BR" sz="1200" dirty="0" err="1">
                  <a:solidFill>
                    <a:srgbClr val="C00000"/>
                  </a:solidFill>
                </a:rPr>
                <a:t>borrow</a:t>
              </a:r>
              <a:r>
                <a:rPr lang="pt-BR" sz="1200" dirty="0">
                  <a:solidFill>
                    <a:srgbClr val="C00000"/>
                  </a:solidFill>
                </a:rPr>
                <a:t> - emprestar),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B800CEAF-8955-F62B-853C-702CCF0E5FDD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AD0CA4E3-924D-5995-1B49-7652BB84A10C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8905E8A9-5591-DCD8-2A99-A7B46023EFF6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C10ACDF-8748-104E-7915-3F7200FE245D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541554D-40EC-F413-9D3C-4AA8B8BB47E8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35673AD0-8194-3AD2-D628-A47B9CF70EA4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CEA3274D-3FEF-0307-55EB-BF6E47F9C06B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48529C23-D388-0013-D24E-A8C5E8587FA1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73F33C1-004D-C0E9-48EA-64A6BC2E97E0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028FBFD3-D90A-1D42-60A7-5B2B5FECBA4D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B3E10CBE-A445-A8F6-09E4-FFCBA955CD78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4716C265-31D5-51BF-3476-43E5054BE4BF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56918C9-141C-FD23-862F-7378534BD1E4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8371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4CE994FA-FA72-4245-1EFB-7145259A234A}"/>
              </a:ext>
            </a:extLst>
          </p:cNvPr>
          <p:cNvSpPr/>
          <p:nvPr/>
        </p:nvSpPr>
        <p:spPr>
          <a:xfrm>
            <a:off x="8351520" y="6073140"/>
            <a:ext cx="792480" cy="518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060367"/>
            <a:ext cx="1809197" cy="1200329"/>
            <a:chOff x="7384868" y="2496352"/>
            <a:chExt cx="1809197" cy="1200329"/>
          </a:xfrm>
        </p:grpSpPr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B = 0</a:t>
              </a:r>
              <a:r>
                <a:rPr lang="pt-BR" sz="1200" dirty="0">
                  <a:solidFill>
                    <a:srgbClr val="C00000"/>
                  </a:solidFill>
                </a:rPr>
                <a:t> (resultado não for </a:t>
              </a:r>
              <a:r>
                <a:rPr lang="pt-BR" sz="1200" dirty="0" err="1">
                  <a:solidFill>
                    <a:srgbClr val="C00000"/>
                  </a:solidFill>
                </a:rPr>
                <a:t>borrow</a:t>
              </a:r>
              <a:r>
                <a:rPr lang="pt-BR" sz="1200" dirty="0">
                  <a:solidFill>
                    <a:srgbClr val="C00000"/>
                  </a:solidFill>
                </a:rPr>
                <a:t> - emprestar),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0BC2B5-A652-8DBD-178C-EEB97B1A9CE6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105D39C3-1A78-B366-2744-611550111517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CB5A45E-2C9F-05B0-068A-109AFC5934BA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5F065C6-9D1B-787D-D620-9BB546008B5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E3051F1-A6D9-899E-B50D-9564F1305CF9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3AB3E84-960C-219D-EA1F-3FC90A02BEF8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1059557-5962-438C-2EA0-15261FCA2731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52F9796-3048-1679-1E63-F8697FFFC03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F1D57D1-FE41-E48C-4152-2E8AA9E9954A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B516E2BB-90F4-ED96-4E3F-4A815F9D2BF7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1B13CA7-1961-E629-FF50-8ECD7789B33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D2433709-AF26-1910-1A59-7B1318048DE8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0043B11-3926-2A5C-8F18-FFFEA24AFD99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8102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4CE994FA-FA72-4245-1EFB-7145259A234A}"/>
              </a:ext>
            </a:extLst>
          </p:cNvPr>
          <p:cNvSpPr/>
          <p:nvPr/>
        </p:nvSpPr>
        <p:spPr>
          <a:xfrm>
            <a:off x="8351520" y="6073140"/>
            <a:ext cx="792480" cy="518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250867"/>
            <a:ext cx="1809197" cy="830997"/>
            <a:chOff x="7384868" y="2496352"/>
            <a:chExt cx="1809197" cy="830997"/>
          </a:xfrm>
        </p:grpSpPr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Deslocamento à direita. Divide um número por 2, perde-se o binário à direita.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0BC2B5-A652-8DBD-178C-EEB97B1A9CE6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105D39C3-1A78-B366-2744-611550111517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CB5A45E-2C9F-05B0-068A-109AFC5934BA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5F065C6-9D1B-787D-D620-9BB546008B5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E3051F1-A6D9-899E-B50D-9564F1305CF9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3AB3E84-960C-219D-EA1F-3FC90A02BEF8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1059557-5962-438C-2EA0-15261FCA2731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52F9796-3048-1679-1E63-F8697FFFC03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F1D57D1-FE41-E48C-4152-2E8AA9E9954A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B516E2BB-90F4-ED96-4E3F-4A815F9D2BF7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1B13CA7-1961-E629-FF50-8ECD7789B33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D2433709-AF26-1910-1A59-7B1318048DE8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0043B11-3926-2A5C-8F18-FFFEA24AFD99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083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4CE994FA-FA72-4245-1EFB-7145259A234A}"/>
              </a:ext>
            </a:extLst>
          </p:cNvPr>
          <p:cNvSpPr/>
          <p:nvPr/>
        </p:nvSpPr>
        <p:spPr>
          <a:xfrm>
            <a:off x="8351520" y="6073140"/>
            <a:ext cx="792480" cy="518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433747"/>
            <a:ext cx="1809197" cy="1015663"/>
            <a:chOff x="7384868" y="2496352"/>
            <a:chExt cx="1809197" cy="1015663"/>
          </a:xfrm>
        </p:grpSpPr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Deslocamento à esquerda. Multiplica um número por 2, perde-se o binário à esquerda.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0BC2B5-A652-8DBD-178C-EEB97B1A9CE6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105D39C3-1A78-B366-2744-611550111517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CB5A45E-2C9F-05B0-068A-109AFC5934BA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5F065C6-9D1B-787D-D620-9BB546008B5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E3051F1-A6D9-899E-B50D-9564F1305CF9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3AB3E84-960C-219D-EA1F-3FC90A02BEF8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1059557-5962-438C-2EA0-15261FCA2731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52F9796-3048-1679-1E63-F8697FFFC03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F1D57D1-FE41-E48C-4152-2E8AA9E9954A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B516E2BB-90F4-ED96-4E3F-4A815F9D2BF7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1B13CA7-1961-E629-FF50-8ECD7789B33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D2433709-AF26-1910-1A59-7B1318048DE8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0043B11-3926-2A5C-8F18-FFFEA24AFD99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2488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4CE994FA-FA72-4245-1EFB-7145259A234A}"/>
              </a:ext>
            </a:extLst>
          </p:cNvPr>
          <p:cNvSpPr/>
          <p:nvPr/>
        </p:nvSpPr>
        <p:spPr>
          <a:xfrm>
            <a:off x="8351520" y="6073140"/>
            <a:ext cx="792480" cy="518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609007"/>
            <a:ext cx="1809197" cy="1015663"/>
            <a:chOff x="7384868" y="2496352"/>
            <a:chExt cx="1809197" cy="1015663"/>
          </a:xfrm>
        </p:grpSpPr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Deslocamento à direita. Divide um número por 2, não perde-se o binário à direita.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0BC2B5-A652-8DBD-178C-EEB97B1A9CE6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105D39C3-1A78-B366-2744-611550111517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CB5A45E-2C9F-05B0-068A-109AFC5934BA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5F065C6-9D1B-787D-D620-9BB546008B5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E3051F1-A6D9-899E-B50D-9564F1305CF9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3AB3E84-960C-219D-EA1F-3FC90A02BEF8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1059557-5962-438C-2EA0-15261FCA2731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52F9796-3048-1679-1E63-F8697FFFC03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F1D57D1-FE41-E48C-4152-2E8AA9E9954A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B516E2BB-90F4-ED96-4E3F-4A815F9D2BF7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1B13CA7-1961-E629-FF50-8ECD7789B33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D2433709-AF26-1910-1A59-7B1318048DE8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0043B11-3926-2A5C-8F18-FFFEA24AFD99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215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4CE994FA-FA72-4245-1EFB-7145259A234A}"/>
              </a:ext>
            </a:extLst>
          </p:cNvPr>
          <p:cNvSpPr/>
          <p:nvPr/>
        </p:nvSpPr>
        <p:spPr>
          <a:xfrm>
            <a:off x="8351520" y="6073140"/>
            <a:ext cx="792480" cy="518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CAFCFC-B87A-429A-AF76-9D35C951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8" t="30543" r="16833" b="9407"/>
          <a:stretch/>
        </p:blipFill>
        <p:spPr>
          <a:xfrm>
            <a:off x="1422034" y="2203490"/>
            <a:ext cx="6268169" cy="4564064"/>
          </a:xfrm>
          <a:prstGeom prst="rect">
            <a:avLst/>
          </a:prstGeom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784267"/>
            <a:ext cx="1809197" cy="1015663"/>
            <a:chOff x="7384868" y="2496352"/>
            <a:chExt cx="1809197" cy="1015663"/>
          </a:xfrm>
        </p:grpSpPr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Deslocamento à esquerda. Multiplica um número por 2, não perde-se o binário à esquerda.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95CF4-78EF-0597-084E-8A60BDFE77CD}"/>
              </a:ext>
            </a:extLst>
          </p:cNvPr>
          <p:cNvSpPr txBox="1"/>
          <p:nvPr/>
        </p:nvSpPr>
        <p:spPr>
          <a:xfrm flipH="1">
            <a:off x="638091" y="1242268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AHMES compreende 24 instruções, codificadas através dos quatro bits mais significativos da palavra que contém o código da instrução.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0BC2B5-A652-8DBD-178C-EEB97B1A9CE6}"/>
              </a:ext>
            </a:extLst>
          </p:cNvPr>
          <p:cNvGrpSpPr/>
          <p:nvPr/>
        </p:nvGrpSpPr>
        <p:grpSpPr>
          <a:xfrm>
            <a:off x="-46901" y="2583266"/>
            <a:ext cx="1471292" cy="3921684"/>
            <a:chOff x="-46901" y="2583266"/>
            <a:chExt cx="1471292" cy="3921684"/>
          </a:xfrm>
        </p:grpSpPr>
        <p:sp>
          <p:nvSpPr>
            <p:cNvPr id="22" name="Chave Esquerda 21">
              <a:extLst>
                <a:ext uri="{FF2B5EF4-FFF2-40B4-BE49-F238E27FC236}">
                  <a16:creationId xmlns:a16="http://schemas.microsoft.com/office/drawing/2014/main" id="{105D39C3-1A78-B366-2744-611550111517}"/>
                </a:ext>
              </a:extLst>
            </p:cNvPr>
            <p:cNvSpPr/>
            <p:nvPr/>
          </p:nvSpPr>
          <p:spPr>
            <a:xfrm>
              <a:off x="1356360" y="3863340"/>
              <a:ext cx="65674" cy="1935480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BCB5A45E-2C9F-05B0-068A-109AFC5934BA}"/>
                </a:ext>
              </a:extLst>
            </p:cNvPr>
            <p:cNvSpPr/>
            <p:nvPr/>
          </p:nvSpPr>
          <p:spPr>
            <a:xfrm>
              <a:off x="1358717" y="5886947"/>
              <a:ext cx="65674" cy="618003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5F065C6-9D1B-787D-D620-9BB546008B5E}"/>
                </a:ext>
              </a:extLst>
            </p:cNvPr>
            <p:cNvSpPr txBox="1"/>
            <p:nvPr/>
          </p:nvSpPr>
          <p:spPr>
            <a:xfrm>
              <a:off x="182880" y="4569470"/>
              <a:ext cx="1173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condição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E3051F1-A6D9-899E-B50D-9564F1305CF9}"/>
                </a:ext>
              </a:extLst>
            </p:cNvPr>
            <p:cNvSpPr txBox="1"/>
            <p:nvPr/>
          </p:nvSpPr>
          <p:spPr>
            <a:xfrm>
              <a:off x="60960" y="5952997"/>
              <a:ext cx="1297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070C0"/>
                  </a:solidFill>
                </a:rPr>
                <a:t>Instruções de deslocamento</a:t>
              </a:r>
            </a:p>
          </p:txBody>
        </p:sp>
        <p:sp>
          <p:nvSpPr>
            <p:cNvPr id="26" name="Chave Esquerda 25">
              <a:extLst>
                <a:ext uri="{FF2B5EF4-FFF2-40B4-BE49-F238E27FC236}">
                  <a16:creationId xmlns:a16="http://schemas.microsoft.com/office/drawing/2014/main" id="{63AB3E84-960C-219D-EA1F-3FC90A02BEF8}"/>
                </a:ext>
              </a:extLst>
            </p:cNvPr>
            <p:cNvSpPr/>
            <p:nvPr/>
          </p:nvSpPr>
          <p:spPr>
            <a:xfrm>
              <a:off x="1361074" y="2642938"/>
              <a:ext cx="45719" cy="26675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1059557-5962-438C-2EA0-15261FCA2731}"/>
                </a:ext>
              </a:extLst>
            </p:cNvPr>
            <p:cNvSpPr txBox="1"/>
            <p:nvPr/>
          </p:nvSpPr>
          <p:spPr>
            <a:xfrm>
              <a:off x="322397" y="258326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28" name="Chave Esquerda 27">
              <a:extLst>
                <a:ext uri="{FF2B5EF4-FFF2-40B4-BE49-F238E27FC236}">
                  <a16:creationId xmlns:a16="http://schemas.microsoft.com/office/drawing/2014/main" id="{852F9796-3048-1679-1E63-F8697FFFC030}"/>
                </a:ext>
              </a:extLst>
            </p:cNvPr>
            <p:cNvSpPr/>
            <p:nvPr/>
          </p:nvSpPr>
          <p:spPr>
            <a:xfrm>
              <a:off x="1356360" y="3157210"/>
              <a:ext cx="50433" cy="508067"/>
            </a:xfrm>
            <a:prstGeom prst="leftBrac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F1D57D1-FE41-E48C-4152-2E8AA9E9954A}"/>
                </a:ext>
              </a:extLst>
            </p:cNvPr>
            <p:cNvSpPr txBox="1"/>
            <p:nvPr/>
          </p:nvSpPr>
          <p:spPr>
            <a:xfrm>
              <a:off x="322397" y="3191676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movimentação</a:t>
              </a:r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B516E2BB-90F4-ED96-4E3F-4A815F9D2BF7}"/>
                </a:ext>
              </a:extLst>
            </p:cNvPr>
            <p:cNvSpPr/>
            <p:nvPr/>
          </p:nvSpPr>
          <p:spPr>
            <a:xfrm>
              <a:off x="912409" y="2970562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1B13CA7-1961-E629-FF50-8ECD7789B33B}"/>
                </a:ext>
              </a:extLst>
            </p:cNvPr>
            <p:cNvSpPr txBox="1"/>
            <p:nvPr/>
          </p:nvSpPr>
          <p:spPr>
            <a:xfrm>
              <a:off x="-46901" y="2894430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  <p:sp>
          <p:nvSpPr>
            <p:cNvPr id="32" name="Seta: para a Direita 31">
              <a:extLst>
                <a:ext uri="{FF2B5EF4-FFF2-40B4-BE49-F238E27FC236}">
                  <a16:creationId xmlns:a16="http://schemas.microsoft.com/office/drawing/2014/main" id="{D2433709-AF26-1910-1A59-7B1318048DE8}"/>
                </a:ext>
              </a:extLst>
            </p:cNvPr>
            <p:cNvSpPr/>
            <p:nvPr/>
          </p:nvSpPr>
          <p:spPr>
            <a:xfrm>
              <a:off x="904747" y="3726416"/>
              <a:ext cx="484450" cy="9852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E0043B11-3926-2A5C-8F18-FFFEA24AFD99}"/>
                </a:ext>
              </a:extLst>
            </p:cNvPr>
            <p:cNvSpPr txBox="1"/>
            <p:nvPr/>
          </p:nvSpPr>
          <p:spPr>
            <a:xfrm>
              <a:off x="-46901" y="3583327"/>
              <a:ext cx="99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solidFill>
                    <a:srgbClr val="0070C0"/>
                  </a:solidFill>
                </a:rPr>
                <a:t>Instruções de aritmética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7052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670500" y="1530878"/>
            <a:ext cx="75477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 rotação de bits é semelhante ao processo de deslocamento de bits. Só que, nesse caso, você não "perde" os bits que extrapolam a dimensão da sua variável (o mais significativo ou o menos significativo, dependendo da direção da rotação). Esses bits são reposicionados na extremidade oposta. Ou seja, o mais significativo se torna o menos significativo ou o contrário, se a rotação for no sentido contrário.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AB93D9-7D2E-95B6-C9A8-1941E61E5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926" y="3819412"/>
            <a:ext cx="2714148" cy="217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921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39598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9DCBC5-1C41-6F8C-4D00-8C574686B23C}"/>
              </a:ext>
            </a:extLst>
          </p:cNvPr>
          <p:cNvSpPr txBox="1"/>
          <p:nvPr/>
        </p:nvSpPr>
        <p:spPr>
          <a:xfrm flipH="1">
            <a:off x="381964" y="1324678"/>
            <a:ext cx="8669438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A unidade lógica e aritmética de AHMES fornece os seguintes códigos de condição, que são usados pelas instruções de desvio condicional.</a:t>
            </a:r>
          </a:p>
          <a:p>
            <a:endParaRPr lang="pt-BR" sz="1500" dirty="0"/>
          </a:p>
          <a:p>
            <a:r>
              <a:rPr lang="pt-BR" sz="1500" b="1" dirty="0"/>
              <a:t>N</a:t>
            </a:r>
            <a:r>
              <a:rPr lang="pt-BR" sz="1500" dirty="0"/>
              <a:t> – (negativo): sinal do resultado, interpretado como complemento de dois:</a:t>
            </a:r>
          </a:p>
          <a:p>
            <a:pPr marL="358775"/>
            <a:r>
              <a:rPr lang="pt-BR" sz="1500" dirty="0"/>
              <a:t>1 – resultados é negativo</a:t>
            </a:r>
          </a:p>
          <a:p>
            <a:pPr marL="358775"/>
            <a:r>
              <a:rPr lang="pt-BR" sz="1500" dirty="0"/>
              <a:t>0 – resultado é positivo</a:t>
            </a:r>
          </a:p>
          <a:p>
            <a:endParaRPr lang="pt-BR" sz="1500" dirty="0"/>
          </a:p>
          <a:p>
            <a:r>
              <a:rPr lang="pt-BR" sz="1500" b="1" dirty="0"/>
              <a:t>Z</a:t>
            </a:r>
            <a:r>
              <a:rPr lang="pt-BR" sz="1500" dirty="0"/>
              <a:t> – (zero): indica resultado igual a zero, interpretado como complemento  de dois:</a:t>
            </a:r>
          </a:p>
          <a:p>
            <a:pPr marL="358775"/>
            <a:r>
              <a:rPr lang="pt-BR" sz="1500" dirty="0"/>
              <a:t>1 – resultado é igual a zero</a:t>
            </a:r>
          </a:p>
          <a:p>
            <a:pPr marL="358775"/>
            <a:r>
              <a:rPr lang="pt-BR" sz="1500" dirty="0"/>
              <a:t>0 – resultado é positivo</a:t>
            </a:r>
          </a:p>
          <a:p>
            <a:endParaRPr lang="pt-BR" sz="1500" dirty="0"/>
          </a:p>
          <a:p>
            <a:pPr marL="266700" indent="-266700"/>
            <a:r>
              <a:rPr lang="pt-BR" sz="1500" b="1" dirty="0"/>
              <a:t>V</a:t>
            </a:r>
            <a:r>
              <a:rPr lang="pt-BR" sz="1500" dirty="0"/>
              <a:t>- (overflow): indica estouro de representação após uma instrução de soma ou subtração, interpretando os operandos e o resultado como complemento de dois:</a:t>
            </a:r>
          </a:p>
          <a:p>
            <a:pPr marL="358775"/>
            <a:r>
              <a:rPr lang="pt-BR" sz="1500" dirty="0"/>
              <a:t>1 – houve estouro de representação do resultado</a:t>
            </a:r>
          </a:p>
          <a:p>
            <a:pPr marL="358775"/>
            <a:r>
              <a:rPr lang="pt-BR" sz="1500" dirty="0"/>
              <a:t>0 – não houve estouro (resultado está correto)</a:t>
            </a:r>
          </a:p>
          <a:p>
            <a:endParaRPr lang="pt-BR" sz="1500" dirty="0"/>
          </a:p>
          <a:p>
            <a:r>
              <a:rPr lang="pt-BR" sz="1500" b="1" dirty="0"/>
              <a:t>C</a:t>
            </a:r>
            <a:r>
              <a:rPr lang="pt-BR" sz="1500" dirty="0"/>
              <a:t> – (</a:t>
            </a:r>
            <a:r>
              <a:rPr lang="pt-BR" sz="1500" dirty="0" err="1"/>
              <a:t>carry</a:t>
            </a:r>
            <a:r>
              <a:rPr lang="pt-BR" sz="1500" dirty="0"/>
              <a:t>): indica a existência de uma “vai-um” após uma operação de soma:</a:t>
            </a:r>
          </a:p>
          <a:p>
            <a:pPr marL="358775"/>
            <a:r>
              <a:rPr lang="pt-BR" sz="1500" dirty="0"/>
              <a:t>1 – ocorreu “vai-um”</a:t>
            </a:r>
          </a:p>
          <a:p>
            <a:pPr marL="358775"/>
            <a:r>
              <a:rPr lang="pt-BR" sz="1500" dirty="0"/>
              <a:t>0 – não ocorreu “vai-um”</a:t>
            </a:r>
          </a:p>
          <a:p>
            <a:pPr marL="358775"/>
            <a:endParaRPr lang="pt-BR" sz="1500" dirty="0"/>
          </a:p>
          <a:p>
            <a:r>
              <a:rPr lang="pt-BR" sz="1500" b="1" dirty="0"/>
              <a:t>B</a:t>
            </a:r>
            <a:r>
              <a:rPr lang="pt-BR" sz="1500" dirty="0"/>
              <a:t>- (</a:t>
            </a:r>
            <a:r>
              <a:rPr lang="pt-BR" sz="1500" dirty="0" err="1"/>
              <a:t>borrow</a:t>
            </a:r>
            <a:r>
              <a:rPr lang="pt-BR" sz="1500" dirty="0"/>
              <a:t>): indica a existência de um “</a:t>
            </a:r>
            <a:r>
              <a:rPr lang="pt-BR" sz="1500" dirty="0" err="1"/>
              <a:t>empresta-um</a:t>
            </a:r>
            <a:r>
              <a:rPr lang="pt-BR" sz="1500" dirty="0"/>
              <a:t>” após uma operação de subtração:</a:t>
            </a:r>
          </a:p>
          <a:p>
            <a:pPr marL="358775"/>
            <a:r>
              <a:rPr lang="pt-BR" sz="1500" dirty="0"/>
              <a:t>1 – ocorreu “</a:t>
            </a:r>
            <a:r>
              <a:rPr lang="pt-BR" sz="1500" dirty="0" err="1"/>
              <a:t>empresta-um</a:t>
            </a:r>
            <a:r>
              <a:rPr lang="pt-BR" sz="1500" dirty="0"/>
              <a:t>”</a:t>
            </a:r>
          </a:p>
          <a:p>
            <a:pPr marL="358775"/>
            <a:r>
              <a:rPr lang="pt-BR" sz="1500" dirty="0"/>
              <a:t>0 – não ocorreu : “</a:t>
            </a:r>
            <a:r>
              <a:rPr lang="pt-BR" sz="1500" dirty="0" err="1"/>
              <a:t>empresta-um</a:t>
            </a:r>
            <a:r>
              <a:rPr lang="pt-BR" sz="15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9631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54A8286-346A-32B6-0EDC-04B1E2E3C0E5}"/>
              </a:ext>
            </a:extLst>
          </p:cNvPr>
          <p:cNvSpPr txBox="1"/>
          <p:nvPr/>
        </p:nvSpPr>
        <p:spPr>
          <a:xfrm>
            <a:off x="855980" y="766732"/>
            <a:ext cx="692658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pt-BR" sz="2000" dirty="0"/>
              <a:t>Monte um programa que realiza a subtração: 15 -  3</a:t>
            </a:r>
          </a:p>
          <a:p>
            <a:pPr marL="457200" indent="-457200" algn="just">
              <a:buAutoNum type="arabicPeriod"/>
            </a:pPr>
            <a:endParaRPr lang="pt-BR" sz="2000" dirty="0"/>
          </a:p>
          <a:p>
            <a:pPr marL="457200" indent="-457200" algn="just">
              <a:buAutoNum type="arabicPeriod"/>
            </a:pPr>
            <a:r>
              <a:rPr lang="pt-BR" sz="2000" dirty="0"/>
              <a:t>Monte um programa que realiza a soma: 15 + 23</a:t>
            </a:r>
          </a:p>
          <a:p>
            <a:pPr marL="457200" indent="-457200" algn="just">
              <a:buAutoNum type="arabicPeriod"/>
            </a:pPr>
            <a:endParaRPr lang="pt-BR" sz="2000" dirty="0"/>
          </a:p>
          <a:p>
            <a:pPr marL="457200" indent="-457200" algn="just">
              <a:buAutoNum type="arabicPeriod"/>
            </a:pPr>
            <a:r>
              <a:rPr lang="pt-BR" sz="2000" dirty="0"/>
              <a:t>Monte um programa que realiza a subtração: 125 - 59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4. Monte um programa que realize: (5 x  8) - 2.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5. Monte um programa que realize: (15 -  8) x 2.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6. Monte um programa que realize: 3 x 5 + 3.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7. Monte um programa que realize: (2 + 5) x 5.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8. Monte um programa que realize: 15 x 2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9. Monte um programa que realize: 24/2</a:t>
            </a:r>
          </a:p>
          <a:p>
            <a:pPr algn="just"/>
            <a:endParaRPr lang="pt-BR" sz="2000"/>
          </a:p>
          <a:p>
            <a:pPr algn="just"/>
            <a:r>
              <a:rPr lang="pt-BR" sz="2000"/>
              <a:t>10</a:t>
            </a:r>
            <a:r>
              <a:rPr lang="pt-BR" sz="2000" dirty="0"/>
              <a:t>. Monte um programa que realize: 12/2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D5306F-A7C7-2585-F2FE-1871420E42ED}"/>
              </a:ext>
            </a:extLst>
          </p:cNvPr>
          <p:cNvSpPr/>
          <p:nvPr/>
        </p:nvSpPr>
        <p:spPr>
          <a:xfrm>
            <a:off x="0" y="0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2707" name="CaixaDeTexto 3">
            <a:extLst>
              <a:ext uri="{FF2B5EF4-FFF2-40B4-BE49-F238E27FC236}">
                <a16:creationId xmlns:a16="http://schemas.microsoft.com/office/drawing/2014/main" id="{C30DD4AF-878C-8AEE-787E-8B7EE3911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833438"/>
            <a:ext cx="5346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8" name="CaixaDeTexto 4">
            <a:extLst>
              <a:ext uri="{FF2B5EF4-FFF2-40B4-BE49-F238E27FC236}">
                <a16:creationId xmlns:a16="http://schemas.microsoft.com/office/drawing/2014/main" id="{166B574B-25CD-A340-93B2-8EE0F4E5B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193800"/>
            <a:ext cx="489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microcontrolador PIC18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9" name="CaixaDeTexto 5">
            <a:extLst>
              <a:ext uri="{FF2B5EF4-FFF2-40B4-BE49-F238E27FC236}">
                <a16:creationId xmlns:a16="http://schemas.microsoft.com/office/drawing/2014/main" id="{6DED6231-FE00-08BD-F3FF-51F87F11D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801813"/>
            <a:ext cx="496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PIC24.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0" name="CaixaDeTexto 6">
            <a:extLst>
              <a:ext uri="{FF2B5EF4-FFF2-40B4-BE49-F238E27FC236}">
                <a16:creationId xmlns:a16="http://schemas.microsoft.com/office/drawing/2014/main" id="{1C22C38A-BB19-84B3-5995-C7BF85F9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409825"/>
            <a:ext cx="501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PEREIRA, F. </a:t>
            </a:r>
            <a:r>
              <a:rPr lang="pt-BR" altLang="pt-BR" sz="1200" b="1" dirty="0">
                <a:solidFill>
                  <a:schemeClr val="tx1"/>
                </a:solidFill>
              </a:rPr>
              <a:t>Tecnologia ARM – Microcontroladores de 32 bits. </a:t>
            </a:r>
            <a:r>
              <a:rPr lang="pt-BR" altLang="pt-BR" sz="1200" dirty="0">
                <a:solidFill>
                  <a:schemeClr val="tx1"/>
                </a:solidFill>
              </a:rPr>
              <a:t>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1" name="CaixaDeTexto 7">
            <a:extLst>
              <a:ext uri="{FF2B5EF4-FFF2-40B4-BE49-F238E27FC236}">
                <a16:creationId xmlns:a16="http://schemas.microsoft.com/office/drawing/2014/main" id="{3F04EF15-E322-8BE8-898B-A0F43F730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967038"/>
            <a:ext cx="5145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 </a:t>
            </a:r>
            <a:r>
              <a:rPr lang="pt-BR" altLang="pt-BR" sz="1200" b="1" dirty="0">
                <a:solidFill>
                  <a:schemeClr val="tx1"/>
                </a:solidFill>
              </a:rPr>
              <a:t>Microcontroladores ARM7 – O poder dos 32 bits.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CA5F36-ABF8-F515-2761-85E504568D44}"/>
              </a:ext>
            </a:extLst>
          </p:cNvPr>
          <p:cNvSpPr txBox="1"/>
          <p:nvPr/>
        </p:nvSpPr>
        <p:spPr>
          <a:xfrm>
            <a:off x="3952875" y="4008438"/>
            <a:ext cx="5033963" cy="286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1200" dirty="0"/>
              <a:t>OLIVEIRA, A. S., ANDRADE, F. S. </a:t>
            </a:r>
            <a:r>
              <a:rPr lang="pt-BR" altLang="pt-BR" sz="1200" b="1" dirty="0"/>
              <a:t>Sistemas Embarcados: hardware e firmware na prática. </a:t>
            </a:r>
            <a:r>
              <a:rPr lang="pt-BR" altLang="pt-BR" sz="1200" dirty="0"/>
              <a:t>Editora Érica Saraiva. </a:t>
            </a:r>
            <a:r>
              <a:rPr lang="pt-BR" altLang="pt-BR" sz="1200" dirty="0">
                <a:solidFill>
                  <a:schemeClr val="tx1">
                    <a:lumMod val="50000"/>
                  </a:schemeClr>
                </a:solidFill>
              </a:rPr>
              <a:t>(Biblioteca FIAP – livro físico)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SOUSA, D.R.; SOUZA, D.J., LAVÍNIA, N. C. </a:t>
            </a:r>
            <a:r>
              <a:rPr lang="pt-BR" altLang="pt-BR" sz="1200" b="1" dirty="0"/>
              <a:t>Desbravando o microcontrolador PIC18: recursos avançados</a:t>
            </a:r>
            <a:r>
              <a:rPr lang="pt-BR" altLang="pt-BR" sz="1200" dirty="0"/>
              <a:t>. Editora Érica Saraiva</a:t>
            </a:r>
            <a:r>
              <a:rPr lang="pt-BR" altLang="pt-BR" sz="1200" b="1" dirty="0"/>
              <a:t>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PEREIRA, F. </a:t>
            </a:r>
            <a:r>
              <a:rPr lang="pt-BR" altLang="pt-BR" sz="1200" b="1" dirty="0"/>
              <a:t>Microcontroladores PIC: programação em C</a:t>
            </a:r>
            <a:r>
              <a:rPr lang="pt-BR" altLang="pt-BR" sz="1200" dirty="0"/>
              <a:t>. Editora Érica Saraiva.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YIU, J. </a:t>
            </a:r>
            <a:r>
              <a:rPr lang="pt-BR" altLang="pt-BR" sz="1200" b="1" dirty="0"/>
              <a:t>The </a:t>
            </a:r>
            <a:r>
              <a:rPr lang="pt-BR" altLang="pt-BR" sz="1200" b="1" dirty="0" err="1"/>
              <a:t>definitive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to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M3 </a:t>
            </a:r>
            <a:r>
              <a:rPr lang="pt-BR" altLang="pt-BR" sz="1200" b="1" dirty="0" err="1"/>
              <a:t>and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M4 processors. </a:t>
            </a:r>
            <a:r>
              <a:rPr lang="pt-BR" altLang="pt-BR" sz="1200" dirty="0"/>
              <a:t>Ed. Elsevier.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SLOSS, A. N., SYMES, D., WRIGHT, C. </a:t>
            </a:r>
            <a:r>
              <a:rPr lang="pt-BR" altLang="pt-BR" sz="1200" b="1" dirty="0"/>
              <a:t>ARM System </a:t>
            </a:r>
            <a:r>
              <a:rPr lang="pt-BR" altLang="pt-BR" sz="1200" b="1" dirty="0" err="1"/>
              <a:t>Developer’s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. </a:t>
            </a:r>
            <a:r>
              <a:rPr lang="pt-BR" altLang="pt-BR" sz="1200" dirty="0"/>
              <a:t>Ed. Elsevier.</a:t>
            </a:r>
          </a:p>
        </p:txBody>
      </p:sp>
      <p:sp>
        <p:nvSpPr>
          <p:cNvPr id="72713" name="CaixaDeTexto 9">
            <a:extLst>
              <a:ext uri="{FF2B5EF4-FFF2-40B4-BE49-F238E27FC236}">
                <a16:creationId xmlns:a16="http://schemas.microsoft.com/office/drawing/2014/main" id="{DF8BF2A0-02FA-25EE-E047-A475E5C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04813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BÁSICA</a:t>
            </a:r>
          </a:p>
        </p:txBody>
      </p:sp>
      <p:sp>
        <p:nvSpPr>
          <p:cNvPr id="72714" name="CaixaDeTexto 10">
            <a:extLst>
              <a:ext uri="{FF2B5EF4-FFF2-40B4-BE49-F238E27FC236}">
                <a16:creationId xmlns:a16="http://schemas.microsoft.com/office/drawing/2014/main" id="{ECCBAF9A-D1DD-17EE-4671-FB535F04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3633788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COMPLEMENTAR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D5306F-A7C7-2585-F2FE-1871420E42ED}"/>
              </a:ext>
            </a:extLst>
          </p:cNvPr>
          <p:cNvSpPr/>
          <p:nvPr/>
        </p:nvSpPr>
        <p:spPr>
          <a:xfrm>
            <a:off x="0" y="0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2713" name="CaixaDeTexto 9">
            <a:extLst>
              <a:ext uri="{FF2B5EF4-FFF2-40B4-BE49-F238E27FC236}">
                <a16:creationId xmlns:a16="http://schemas.microsoft.com/office/drawing/2014/main" id="{DF8BF2A0-02FA-25EE-E047-A475E5C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04813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solidFill>
                  <a:srgbClr val="2E0DF1"/>
                </a:solidFill>
              </a:rPr>
              <a:t>Links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C0F584-6FAA-D56E-04AD-4DDCC89119EE}"/>
              </a:ext>
            </a:extLst>
          </p:cNvPr>
          <p:cNvSpPr txBox="1"/>
          <p:nvPr/>
        </p:nvSpPr>
        <p:spPr>
          <a:xfrm>
            <a:off x="4029074" y="1000394"/>
            <a:ext cx="44621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https://www.youtube.com/watch?v=6LFQc_0Slyw&amp;t=195s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1065934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A.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3123</TotalTime>
  <Words>2768</Words>
  <Application>Microsoft Office PowerPoint</Application>
  <PresentationFormat>Apresentação na tela (4:3)</PresentationFormat>
  <Paragraphs>363</Paragraphs>
  <Slides>40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40</vt:i4>
      </vt:variant>
    </vt:vector>
  </HeadingPairs>
  <TitlesOfParts>
    <vt:vector size="52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447</cp:revision>
  <cp:lastPrinted>2016-02-15T09:06:24Z</cp:lastPrinted>
  <dcterms:created xsi:type="dcterms:W3CDTF">2015-02-07T21:24:47Z</dcterms:created>
  <dcterms:modified xsi:type="dcterms:W3CDTF">2023-09-12T17:32:30Z</dcterms:modified>
</cp:coreProperties>
</file>