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58"/>
  </p:notesMasterIdLst>
  <p:handoutMasterIdLst>
    <p:handoutMasterId r:id="rId59"/>
  </p:handoutMasterIdLst>
  <p:sldIdLst>
    <p:sldId id="256" r:id="rId6"/>
    <p:sldId id="487" r:id="rId7"/>
    <p:sldId id="534" r:id="rId8"/>
    <p:sldId id="556" r:id="rId9"/>
    <p:sldId id="580" r:id="rId10"/>
    <p:sldId id="609" r:id="rId11"/>
    <p:sldId id="611" r:id="rId12"/>
    <p:sldId id="612" r:id="rId13"/>
    <p:sldId id="613" r:id="rId14"/>
    <p:sldId id="614" r:id="rId15"/>
    <p:sldId id="615" r:id="rId16"/>
    <p:sldId id="616" r:id="rId17"/>
    <p:sldId id="617" r:id="rId18"/>
    <p:sldId id="618" r:id="rId19"/>
    <p:sldId id="619" r:id="rId20"/>
    <p:sldId id="620" r:id="rId21"/>
    <p:sldId id="634" r:id="rId22"/>
    <p:sldId id="621" r:id="rId23"/>
    <p:sldId id="622" r:id="rId24"/>
    <p:sldId id="623" r:id="rId25"/>
    <p:sldId id="624" r:id="rId26"/>
    <p:sldId id="625" r:id="rId27"/>
    <p:sldId id="626" r:id="rId28"/>
    <p:sldId id="627" r:id="rId29"/>
    <p:sldId id="628" r:id="rId30"/>
    <p:sldId id="629" r:id="rId31"/>
    <p:sldId id="630" r:id="rId32"/>
    <p:sldId id="631" r:id="rId33"/>
    <p:sldId id="632" r:id="rId34"/>
    <p:sldId id="633" r:id="rId35"/>
    <p:sldId id="635" r:id="rId36"/>
    <p:sldId id="636" r:id="rId37"/>
    <p:sldId id="637" r:id="rId38"/>
    <p:sldId id="638" r:id="rId39"/>
    <p:sldId id="640" r:id="rId40"/>
    <p:sldId id="639" r:id="rId41"/>
    <p:sldId id="307" r:id="rId42"/>
    <p:sldId id="658" r:id="rId43"/>
    <p:sldId id="641" r:id="rId44"/>
    <p:sldId id="642" r:id="rId45"/>
    <p:sldId id="643" r:id="rId46"/>
    <p:sldId id="644" r:id="rId47"/>
    <p:sldId id="648" r:id="rId48"/>
    <p:sldId id="657" r:id="rId49"/>
    <p:sldId id="652" r:id="rId50"/>
    <p:sldId id="651" r:id="rId51"/>
    <p:sldId id="653" r:id="rId52"/>
    <p:sldId id="655" r:id="rId53"/>
    <p:sldId id="654" r:id="rId54"/>
    <p:sldId id="659" r:id="rId55"/>
    <p:sldId id="608" r:id="rId56"/>
    <p:sldId id="265" r:id="rId5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8739"/>
    <a:srgbClr val="FF9225"/>
    <a:srgbClr val="FF4977"/>
    <a:srgbClr val="0000FF"/>
    <a:srgbClr val="F0265D"/>
    <a:srgbClr val="020000"/>
    <a:srgbClr val="7C9ACC"/>
    <a:srgbClr val="F6F6F6"/>
    <a:srgbClr val="EBAFB5"/>
    <a:srgbClr val="F4D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786" autoAdjust="0"/>
  </p:normalViewPr>
  <p:slideViewPr>
    <p:cSldViewPr snapToGrid="0" snapToObjects="1">
      <p:cViewPr varScale="1">
        <p:scale>
          <a:sx n="68" d="100"/>
          <a:sy n="68" d="100"/>
        </p:scale>
        <p:origin x="1674" y="60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16/04/2024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4/16/2024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6178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  <p:sldLayoutId id="2147483756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NEANDER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mium Vector | Binary code matrix background nanotechnology">
            <a:extLst>
              <a:ext uri="{FF2B5EF4-FFF2-40B4-BE49-F238E27FC236}">
                <a16:creationId xmlns:a16="http://schemas.microsoft.com/office/drawing/2014/main" id="{8154733F-31D5-F639-A061-B4F163DA4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450" y="0"/>
            <a:ext cx="92014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394A4C-D6AD-5118-F983-E9CC9C59A726}"/>
              </a:ext>
            </a:extLst>
          </p:cNvPr>
          <p:cNvSpPr txBox="1"/>
          <p:nvPr/>
        </p:nvSpPr>
        <p:spPr>
          <a:xfrm>
            <a:off x="769715" y="5355608"/>
            <a:ext cx="83742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193668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5D77C1F-98AE-3743-FBEA-59011F9278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EC11ECC-A36D-9164-0324-679D494F5231}"/>
              </a:ext>
            </a:extLst>
          </p:cNvPr>
          <p:cNvGrpSpPr/>
          <p:nvPr/>
        </p:nvGrpSpPr>
        <p:grpSpPr>
          <a:xfrm>
            <a:off x="7325363" y="2436128"/>
            <a:ext cx="1584958" cy="307777"/>
            <a:chOff x="7325363" y="2436128"/>
            <a:chExt cx="1584958" cy="307777"/>
          </a:xfrm>
        </p:grpSpPr>
        <p:sp>
          <p:nvSpPr>
            <p:cNvPr id="14" name="Seta: para a Direita 13">
              <a:extLst>
                <a:ext uri="{FF2B5EF4-FFF2-40B4-BE49-F238E27FC236}">
                  <a16:creationId xmlns:a16="http://schemas.microsoft.com/office/drawing/2014/main" id="{6C821E5E-ADA9-29A1-8950-ED465B4234D5}"/>
                </a:ext>
              </a:extLst>
            </p:cNvPr>
            <p:cNvSpPr/>
            <p:nvPr/>
          </p:nvSpPr>
          <p:spPr>
            <a:xfrm rot="10800000">
              <a:off x="7325363" y="2483337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E5D3070-9A54-889A-BE80-5E0B94EB728D}"/>
                </a:ext>
              </a:extLst>
            </p:cNvPr>
            <p:cNvSpPr txBox="1"/>
            <p:nvPr/>
          </p:nvSpPr>
          <p:spPr>
            <a:xfrm>
              <a:off x="7726680" y="2436128"/>
              <a:ext cx="1183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14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F033A94-3195-BD28-5D42-AAC38DFE2F03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</p:spTree>
    <p:extLst>
      <p:ext uri="{BB962C8B-B14F-4D97-AF65-F5344CB8AC3E}">
        <p14:creationId xmlns:p14="http://schemas.microsoft.com/office/powerpoint/2010/main" val="193168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D793B9E-75D1-27EA-C424-CB287B6089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3EC11ECC-A36D-9164-0324-679D494F5231}"/>
              </a:ext>
            </a:extLst>
          </p:cNvPr>
          <p:cNvGrpSpPr/>
          <p:nvPr/>
        </p:nvGrpSpPr>
        <p:grpSpPr>
          <a:xfrm>
            <a:off x="7325363" y="2588528"/>
            <a:ext cx="1584958" cy="307777"/>
            <a:chOff x="7325363" y="2436128"/>
            <a:chExt cx="1584958" cy="307777"/>
          </a:xfrm>
        </p:grpSpPr>
        <p:sp>
          <p:nvSpPr>
            <p:cNvPr id="14" name="Seta: para a Direita 13">
              <a:extLst>
                <a:ext uri="{FF2B5EF4-FFF2-40B4-BE49-F238E27FC236}">
                  <a16:creationId xmlns:a16="http://schemas.microsoft.com/office/drawing/2014/main" id="{6C821E5E-ADA9-29A1-8950-ED465B4234D5}"/>
                </a:ext>
              </a:extLst>
            </p:cNvPr>
            <p:cNvSpPr/>
            <p:nvPr/>
          </p:nvSpPr>
          <p:spPr>
            <a:xfrm rot="10800000">
              <a:off x="7325363" y="2483337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E5D3070-9A54-889A-BE80-5E0B94EB728D}"/>
                </a:ext>
              </a:extLst>
            </p:cNvPr>
            <p:cNvSpPr txBox="1"/>
            <p:nvPr/>
          </p:nvSpPr>
          <p:spPr>
            <a:xfrm>
              <a:off x="7726680" y="2436128"/>
              <a:ext cx="1183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3FF429-2DF1-B4D2-BE6D-103ECDAA33A5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0F9DE8E-915F-34B2-F5AA-29DD22717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107795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57412B90-45A7-42EF-28BF-E8E9B9F30C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A80C9-ED75-C9E9-6110-F2F86A1B2EB3}"/>
              </a:ext>
            </a:extLst>
          </p:cNvPr>
          <p:cNvGrpSpPr/>
          <p:nvPr/>
        </p:nvGrpSpPr>
        <p:grpSpPr>
          <a:xfrm>
            <a:off x="636015" y="2418798"/>
            <a:ext cx="1381759" cy="307777"/>
            <a:chOff x="233679" y="2455374"/>
            <a:chExt cx="1381759" cy="307777"/>
          </a:xfrm>
        </p:grpSpPr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1FEB8DB-F290-23E4-346B-F6FB8349481D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94196B1-D230-48D0-DC30-29C61F41DDE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32 (LDA)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0D03542-13BA-B1DA-8277-1465768F0BA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09E36372-AE5E-75A3-3217-EE7DED04E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3442309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B7B60DE-6337-5B7E-EA32-B106A8515F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A80C9-ED75-C9E9-6110-F2F86A1B2EB3}"/>
              </a:ext>
            </a:extLst>
          </p:cNvPr>
          <p:cNvGrpSpPr/>
          <p:nvPr/>
        </p:nvGrpSpPr>
        <p:grpSpPr>
          <a:xfrm>
            <a:off x="636015" y="2583390"/>
            <a:ext cx="1381759" cy="307777"/>
            <a:chOff x="233679" y="2455374"/>
            <a:chExt cx="1381759" cy="307777"/>
          </a:xfrm>
        </p:grpSpPr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1FEB8DB-F290-23E4-346B-F6FB8349481D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94196B1-D230-48D0-DC30-29C61F41DDE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128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3BEB463E-85FF-6ED3-670B-B2148BCEECF7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7FB85B4-F0F3-0DEB-57F6-D18C641B6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781668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58D9259-D3F3-0CA5-807F-5706A8A6AF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A80C9-ED75-C9E9-6110-F2F86A1B2EB3}"/>
              </a:ext>
            </a:extLst>
          </p:cNvPr>
          <p:cNvGrpSpPr/>
          <p:nvPr/>
        </p:nvGrpSpPr>
        <p:grpSpPr>
          <a:xfrm>
            <a:off x="636015" y="2735790"/>
            <a:ext cx="1381759" cy="307777"/>
            <a:chOff x="233679" y="2455374"/>
            <a:chExt cx="1381759" cy="307777"/>
          </a:xfrm>
        </p:grpSpPr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1FEB8DB-F290-23E4-346B-F6FB8349481D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94196B1-D230-48D0-DC30-29C61F41DDE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48 (ADD)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3C53E958-A91A-3F98-8C20-0964FE46A7A3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96A20F4-4A2E-FC83-B257-2884538C5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1605947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6E07CA8-1773-691C-A80C-570F896A79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A80C9-ED75-C9E9-6110-F2F86A1B2EB3}"/>
              </a:ext>
            </a:extLst>
          </p:cNvPr>
          <p:cNvGrpSpPr/>
          <p:nvPr/>
        </p:nvGrpSpPr>
        <p:grpSpPr>
          <a:xfrm>
            <a:off x="636015" y="2906478"/>
            <a:ext cx="1381759" cy="307777"/>
            <a:chOff x="233679" y="2455374"/>
            <a:chExt cx="1381759" cy="307777"/>
          </a:xfrm>
        </p:grpSpPr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1FEB8DB-F290-23E4-346B-F6FB8349481D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94196B1-D230-48D0-DC30-29C61F41DDE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129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A48B63-BCE8-906A-06F5-EF46D714603D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F3E48FB-FE96-83F6-CDF1-E244F4BEB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2800846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54E2AC5-23D3-91FE-74E6-4524EEB3B9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A80C9-ED75-C9E9-6110-F2F86A1B2EB3}"/>
              </a:ext>
            </a:extLst>
          </p:cNvPr>
          <p:cNvGrpSpPr/>
          <p:nvPr/>
        </p:nvGrpSpPr>
        <p:grpSpPr>
          <a:xfrm>
            <a:off x="636015" y="3071070"/>
            <a:ext cx="1381759" cy="307777"/>
            <a:chOff x="233679" y="2455374"/>
            <a:chExt cx="1381759" cy="307777"/>
          </a:xfrm>
        </p:grpSpPr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1FEB8DB-F290-23E4-346B-F6FB8349481D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94196B1-D230-48D0-DC30-29C61F41DDE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10 (JMP)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83ADD7CC-6DFE-A79A-CB14-521A86A3D57C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7B1F943-A1D3-7BAE-D84F-FA678D773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164716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46D5267-19DF-FC79-5C34-E8CB795F3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A80C9-ED75-C9E9-6110-F2F86A1B2EB3}"/>
              </a:ext>
            </a:extLst>
          </p:cNvPr>
          <p:cNvGrpSpPr/>
          <p:nvPr/>
        </p:nvGrpSpPr>
        <p:grpSpPr>
          <a:xfrm>
            <a:off x="636015" y="3223470"/>
            <a:ext cx="1381759" cy="307777"/>
            <a:chOff x="233679" y="2455374"/>
            <a:chExt cx="1381759" cy="307777"/>
          </a:xfrm>
        </p:grpSpPr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1FEB8DB-F290-23E4-346B-F6FB8349481D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94196B1-D230-48D0-DC30-29C61F41DDE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D83EAC-95BB-23D3-E525-3702703B8B20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AE2CF22-DA0C-8381-59C0-B6F5F85DB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4031024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963BA1A-C9B0-8739-F089-E9627716D7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A80C9-ED75-C9E9-6110-F2F86A1B2EB3}"/>
              </a:ext>
            </a:extLst>
          </p:cNvPr>
          <p:cNvGrpSpPr/>
          <p:nvPr/>
        </p:nvGrpSpPr>
        <p:grpSpPr>
          <a:xfrm>
            <a:off x="636015" y="4052526"/>
            <a:ext cx="1381759" cy="307777"/>
            <a:chOff x="233679" y="2455374"/>
            <a:chExt cx="1381759" cy="307777"/>
          </a:xfrm>
        </p:grpSpPr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1FEB8DB-F290-23E4-346B-F6FB8349481D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94196B1-D230-48D0-DC30-29C61F41DDE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95FD3846-56AF-938C-0C5D-3536E172594A}"/>
              </a:ext>
            </a:extLst>
          </p:cNvPr>
          <p:cNvGrpSpPr/>
          <p:nvPr/>
        </p:nvGrpSpPr>
        <p:grpSpPr>
          <a:xfrm>
            <a:off x="1011935" y="3352800"/>
            <a:ext cx="1219199" cy="877824"/>
            <a:chOff x="1011935" y="3352800"/>
            <a:chExt cx="1219199" cy="877824"/>
          </a:xfrm>
        </p:grpSpPr>
        <p:sp>
          <p:nvSpPr>
            <p:cNvPr id="4" name="Seta: Curva para a Direita 3">
              <a:extLst>
                <a:ext uri="{FF2B5EF4-FFF2-40B4-BE49-F238E27FC236}">
                  <a16:creationId xmlns:a16="http://schemas.microsoft.com/office/drawing/2014/main" id="{8A983F66-5EA0-A61B-7B9D-959A782ACCC2}"/>
                </a:ext>
              </a:extLst>
            </p:cNvPr>
            <p:cNvSpPr/>
            <p:nvPr/>
          </p:nvSpPr>
          <p:spPr>
            <a:xfrm>
              <a:off x="1749550" y="3352800"/>
              <a:ext cx="268224" cy="877824"/>
            </a:xfrm>
            <a:prstGeom prst="curv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98E5808-DBC9-520D-AB86-ECA603E21167}"/>
                </a:ext>
              </a:extLst>
            </p:cNvPr>
            <p:cNvSpPr txBox="1"/>
            <p:nvPr/>
          </p:nvSpPr>
          <p:spPr>
            <a:xfrm flipH="1">
              <a:off x="1011935" y="3542467"/>
              <a:ext cx="1219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tx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JUMP</a:t>
              </a:r>
            </a:p>
          </p:txBody>
        </p: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21495E-FCEA-6815-3501-E4F26BD463B6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A8C243A-1DAF-6E8B-1497-7983EC760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114104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4466249-539B-CFE4-BD8F-215B7F8C17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A80C9-ED75-C9E9-6110-F2F86A1B2EB3}"/>
              </a:ext>
            </a:extLst>
          </p:cNvPr>
          <p:cNvGrpSpPr/>
          <p:nvPr/>
        </p:nvGrpSpPr>
        <p:grpSpPr>
          <a:xfrm>
            <a:off x="614678" y="4223214"/>
            <a:ext cx="1381759" cy="307777"/>
            <a:chOff x="233679" y="2455374"/>
            <a:chExt cx="1381759" cy="307777"/>
          </a:xfrm>
        </p:grpSpPr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1FEB8DB-F290-23E4-346B-F6FB8349481D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94196B1-D230-48D0-DC30-29C61F41DDE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130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9C06D557-FD26-5A38-B44C-D0143FEB211D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0784857-F75C-8F4A-F5B5-77659C50A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1854294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4466249-539B-CFE4-BD8F-215B7F8C17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3" t="28551" r="30133" b="23527"/>
          <a:stretch/>
        </p:blipFill>
        <p:spPr>
          <a:xfrm>
            <a:off x="1759391" y="1851222"/>
            <a:ext cx="5772536" cy="380148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A80C9-ED75-C9E9-6110-F2F86A1B2EB3}"/>
              </a:ext>
            </a:extLst>
          </p:cNvPr>
          <p:cNvGrpSpPr/>
          <p:nvPr/>
        </p:nvGrpSpPr>
        <p:grpSpPr>
          <a:xfrm>
            <a:off x="614678" y="4392177"/>
            <a:ext cx="1381759" cy="307777"/>
            <a:chOff x="233679" y="2455374"/>
            <a:chExt cx="1381759" cy="307777"/>
          </a:xfrm>
        </p:grpSpPr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1FEB8DB-F290-23E4-346B-F6FB8349481D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94196B1-D230-48D0-DC30-29C61F41DDE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240</a:t>
              </a:r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F28C5E-A669-9431-C7BB-EF11DF4ECA13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D96527B-75AF-3E6D-3872-F9FE7A806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3802492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14 com 8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BD16017-9D8F-339F-B115-37D247D31B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48" t="28357" r="30109" b="23527"/>
          <a:stretch/>
        </p:blipFill>
        <p:spPr>
          <a:xfrm>
            <a:off x="1759391" y="1821405"/>
            <a:ext cx="5772536" cy="3769853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5C86F82-DF90-AB5F-BA39-DBD64537F591}"/>
              </a:ext>
            </a:extLst>
          </p:cNvPr>
          <p:cNvGrpSpPr/>
          <p:nvPr/>
        </p:nvGrpSpPr>
        <p:grpSpPr>
          <a:xfrm>
            <a:off x="7325363" y="2694210"/>
            <a:ext cx="1584958" cy="307777"/>
            <a:chOff x="7325363" y="2436128"/>
            <a:chExt cx="1584958" cy="307777"/>
          </a:xfrm>
        </p:grpSpPr>
        <p:sp>
          <p:nvSpPr>
            <p:cNvPr id="12" name="Seta: para a Direita 11">
              <a:extLst>
                <a:ext uri="{FF2B5EF4-FFF2-40B4-BE49-F238E27FC236}">
                  <a16:creationId xmlns:a16="http://schemas.microsoft.com/office/drawing/2014/main" id="{10C68021-E2E8-CAD4-1293-F49A89C093CB}"/>
                </a:ext>
              </a:extLst>
            </p:cNvPr>
            <p:cNvSpPr/>
            <p:nvPr/>
          </p:nvSpPr>
          <p:spPr>
            <a:xfrm rot="10800000">
              <a:off x="7325363" y="2483337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938C1F4-13B9-FD36-B729-0CC38A0868B3}"/>
                </a:ext>
              </a:extLst>
            </p:cNvPr>
            <p:cNvSpPr txBox="1"/>
            <p:nvPr/>
          </p:nvSpPr>
          <p:spPr>
            <a:xfrm>
              <a:off x="7726680" y="2436128"/>
              <a:ext cx="1183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22</a:t>
              </a:r>
            </a:p>
          </p:txBody>
        </p:sp>
      </p:grp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344575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mium Vector | Binary code matrix background nanotechnology">
            <a:extLst>
              <a:ext uri="{FF2B5EF4-FFF2-40B4-BE49-F238E27FC236}">
                <a16:creationId xmlns:a16="http://schemas.microsoft.com/office/drawing/2014/main" id="{8154733F-31D5-F639-A061-B4F163DA4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450" y="0"/>
            <a:ext cx="92014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394A4C-D6AD-5118-F983-E9CC9C59A726}"/>
              </a:ext>
            </a:extLst>
          </p:cNvPr>
          <p:cNvSpPr txBox="1"/>
          <p:nvPr/>
        </p:nvSpPr>
        <p:spPr>
          <a:xfrm>
            <a:off x="769715" y="5355608"/>
            <a:ext cx="83742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Subtração</a:t>
            </a:r>
          </a:p>
        </p:txBody>
      </p:sp>
    </p:spTree>
    <p:extLst>
      <p:ext uri="{BB962C8B-B14F-4D97-AF65-F5344CB8AC3E}">
        <p14:creationId xmlns:p14="http://schemas.microsoft.com/office/powerpoint/2010/main" val="3518389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634A87B-5924-845C-E3ED-81DFFB526FCC}"/>
              </a:ext>
            </a:extLst>
          </p:cNvPr>
          <p:cNvGrpSpPr/>
          <p:nvPr/>
        </p:nvGrpSpPr>
        <p:grpSpPr>
          <a:xfrm>
            <a:off x="7746782" y="2907523"/>
            <a:ext cx="1584958" cy="307777"/>
            <a:chOff x="7325363" y="2436128"/>
            <a:chExt cx="1584958" cy="307777"/>
          </a:xfrm>
        </p:grpSpPr>
        <p:sp>
          <p:nvSpPr>
            <p:cNvPr id="18" name="Seta: para a Direita 17">
              <a:extLst>
                <a:ext uri="{FF2B5EF4-FFF2-40B4-BE49-F238E27FC236}">
                  <a16:creationId xmlns:a16="http://schemas.microsoft.com/office/drawing/2014/main" id="{278BA096-011D-FD73-6944-920C8E2115DF}"/>
                </a:ext>
              </a:extLst>
            </p:cNvPr>
            <p:cNvSpPr/>
            <p:nvPr/>
          </p:nvSpPr>
          <p:spPr>
            <a:xfrm rot="10800000">
              <a:off x="7325363" y="2483337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9DE2D1D-4AA8-DC71-7A06-BE823EA35A87}"/>
                </a:ext>
              </a:extLst>
            </p:cNvPr>
            <p:cNvSpPr txBox="1"/>
            <p:nvPr/>
          </p:nvSpPr>
          <p:spPr>
            <a:xfrm>
              <a:off x="7726680" y="2436128"/>
              <a:ext cx="1183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427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634A87B-5924-845C-E3ED-81DFFB526FCC}"/>
              </a:ext>
            </a:extLst>
          </p:cNvPr>
          <p:cNvGrpSpPr/>
          <p:nvPr/>
        </p:nvGrpSpPr>
        <p:grpSpPr>
          <a:xfrm>
            <a:off x="7746782" y="3081289"/>
            <a:ext cx="1584958" cy="307777"/>
            <a:chOff x="7325363" y="2436128"/>
            <a:chExt cx="1584958" cy="307777"/>
          </a:xfrm>
        </p:grpSpPr>
        <p:sp>
          <p:nvSpPr>
            <p:cNvPr id="18" name="Seta: para a Direita 17">
              <a:extLst>
                <a:ext uri="{FF2B5EF4-FFF2-40B4-BE49-F238E27FC236}">
                  <a16:creationId xmlns:a16="http://schemas.microsoft.com/office/drawing/2014/main" id="{278BA096-011D-FD73-6944-920C8E2115DF}"/>
                </a:ext>
              </a:extLst>
            </p:cNvPr>
            <p:cNvSpPr/>
            <p:nvPr/>
          </p:nvSpPr>
          <p:spPr>
            <a:xfrm rot="10800000">
              <a:off x="7325363" y="2483337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9DE2D1D-4AA8-DC71-7A06-BE823EA35A87}"/>
                </a:ext>
              </a:extLst>
            </p:cNvPr>
            <p:cNvSpPr txBox="1"/>
            <p:nvPr/>
          </p:nvSpPr>
          <p:spPr>
            <a:xfrm>
              <a:off x="7726680" y="2436128"/>
              <a:ext cx="1183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855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634A87B-5924-845C-E3ED-81DFFB526FCC}"/>
              </a:ext>
            </a:extLst>
          </p:cNvPr>
          <p:cNvGrpSpPr/>
          <p:nvPr/>
        </p:nvGrpSpPr>
        <p:grpSpPr>
          <a:xfrm>
            <a:off x="7746782" y="3270130"/>
            <a:ext cx="1584958" cy="307777"/>
            <a:chOff x="7325363" y="2436128"/>
            <a:chExt cx="1584958" cy="307777"/>
          </a:xfrm>
        </p:grpSpPr>
        <p:sp>
          <p:nvSpPr>
            <p:cNvPr id="18" name="Seta: para a Direita 17">
              <a:extLst>
                <a:ext uri="{FF2B5EF4-FFF2-40B4-BE49-F238E27FC236}">
                  <a16:creationId xmlns:a16="http://schemas.microsoft.com/office/drawing/2014/main" id="{278BA096-011D-FD73-6944-920C8E2115DF}"/>
                </a:ext>
              </a:extLst>
            </p:cNvPr>
            <p:cNvSpPr/>
            <p:nvPr/>
          </p:nvSpPr>
          <p:spPr>
            <a:xfrm rot="10800000">
              <a:off x="7325363" y="2483337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9DE2D1D-4AA8-DC71-7A06-BE823EA35A87}"/>
                </a:ext>
              </a:extLst>
            </p:cNvPr>
            <p:cNvSpPr txBox="1"/>
            <p:nvPr/>
          </p:nvSpPr>
          <p:spPr>
            <a:xfrm>
              <a:off x="7726680" y="2436128"/>
              <a:ext cx="1183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497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623400" y="2887646"/>
            <a:ext cx="1381759" cy="307777"/>
            <a:chOff x="233679" y="2455374"/>
            <a:chExt cx="1381759" cy="307777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32 (LDA)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288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623400" y="3066548"/>
            <a:ext cx="1381759" cy="307777"/>
            <a:chOff x="233679" y="2455374"/>
            <a:chExt cx="1381759" cy="307777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129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1357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0" y="3265328"/>
            <a:ext cx="2005159" cy="738664"/>
            <a:chOff x="233679" y="2455374"/>
            <a:chExt cx="1381759" cy="738664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Inverte os bits (96 NOT)</a:t>
              </a:r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DBFC2A14-369E-A9C7-FDE3-A7F9AA10F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06" y="3240007"/>
            <a:ext cx="1426588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37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-178904" y="3424352"/>
            <a:ext cx="2184063" cy="523220"/>
            <a:chOff x="233679" y="2455374"/>
            <a:chExt cx="1381759" cy="523220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Soma 1 (48 ADD)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1872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-178904" y="3623132"/>
            <a:ext cx="2184063" cy="307777"/>
            <a:chOff x="233679" y="2455374"/>
            <a:chExt cx="1381759" cy="307777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130 (valor de 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8437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-178904" y="3782156"/>
            <a:ext cx="2184063" cy="307777"/>
            <a:chOff x="233679" y="2455374"/>
            <a:chExt cx="1381759" cy="307777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48 (ADD)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4256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-178904" y="3980936"/>
            <a:ext cx="2184063" cy="307777"/>
            <a:chOff x="233679" y="2455374"/>
            <a:chExt cx="1381759" cy="307777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8616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-178904" y="4169777"/>
            <a:ext cx="2184063" cy="307777"/>
            <a:chOff x="233679" y="2455374"/>
            <a:chExt cx="1381759" cy="307777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16 (STA)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840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-178904" y="4338740"/>
            <a:ext cx="2184063" cy="307777"/>
            <a:chOff x="233679" y="2455374"/>
            <a:chExt cx="1381759" cy="307777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131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40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9A706-5F5F-FCE9-ED3B-EFD24FFE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t="32029" r="41848" b="20628"/>
          <a:stretch/>
        </p:blipFill>
        <p:spPr>
          <a:xfrm>
            <a:off x="1599614" y="2258663"/>
            <a:ext cx="6461611" cy="41520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39AAC56-7151-6403-D9E3-42B084982256}"/>
              </a:ext>
            </a:extLst>
          </p:cNvPr>
          <p:cNvGrpSpPr/>
          <p:nvPr/>
        </p:nvGrpSpPr>
        <p:grpSpPr>
          <a:xfrm>
            <a:off x="-178904" y="4537520"/>
            <a:ext cx="2184063" cy="307777"/>
            <a:chOff x="233679" y="2455374"/>
            <a:chExt cx="1381759" cy="307777"/>
          </a:xfrm>
        </p:grpSpPr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B67AF2B2-1B2A-D2A2-2CEF-B1F877A3A99E}"/>
                </a:ext>
              </a:extLst>
            </p:cNvPr>
            <p:cNvSpPr/>
            <p:nvPr/>
          </p:nvSpPr>
          <p:spPr>
            <a:xfrm>
              <a:off x="1219199" y="2512743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F575E8-42C5-5BC2-B166-11A64E8A4447}"/>
                </a:ext>
              </a:extLst>
            </p:cNvPr>
            <p:cNvSpPr txBox="1"/>
            <p:nvPr/>
          </p:nvSpPr>
          <p:spPr>
            <a:xfrm>
              <a:off x="233679" y="2455374"/>
              <a:ext cx="980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240 (HLT)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9647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76CCE262-828E-086A-A018-82D065CE58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57" t="32450" r="42199" b="19662"/>
          <a:stretch/>
        </p:blipFill>
        <p:spPr>
          <a:xfrm>
            <a:off x="1599613" y="2268751"/>
            <a:ext cx="6372529" cy="414198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 – B = </a:t>
            </a:r>
            <a:r>
              <a:rPr lang="pt-BR" sz="2000" b="1" dirty="0">
                <a:solidFill>
                  <a:srgbClr val="F0265D"/>
                </a:solidFill>
              </a:rPr>
              <a:t>A</a:t>
            </a:r>
            <a:r>
              <a:rPr lang="pt-BR" sz="2000" b="1" dirty="0">
                <a:solidFill>
                  <a:srgbClr val="00B0F0"/>
                </a:solidFill>
              </a:rPr>
              <a:t> + </a:t>
            </a:r>
            <a:r>
              <a:rPr lang="pt-BR" sz="2000" b="1" dirty="0">
                <a:solidFill>
                  <a:srgbClr val="FFC000"/>
                </a:solidFill>
              </a:rPr>
              <a:t>NOT B +1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Subtração de dois números (complemento de dois)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DF6CCB4-6B74-1033-5A0C-E30301FF69BE}"/>
              </a:ext>
            </a:extLst>
          </p:cNvPr>
          <p:cNvSpPr txBox="1"/>
          <p:nvPr/>
        </p:nvSpPr>
        <p:spPr>
          <a:xfrm>
            <a:off x="853549" y="1773750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10 – 7 = (</a:t>
            </a:r>
            <a:r>
              <a:rPr lang="pt-BR" sz="2000" b="1" dirty="0">
                <a:solidFill>
                  <a:srgbClr val="FFC000"/>
                </a:solidFill>
              </a:rPr>
              <a:t>NOT 7 +1) </a:t>
            </a:r>
            <a:r>
              <a:rPr lang="pt-BR" sz="2000" b="1" dirty="0">
                <a:solidFill>
                  <a:srgbClr val="00B0F0"/>
                </a:solidFill>
              </a:rPr>
              <a:t>+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07046555-9155-948C-FAA8-A61AE3E7DB42}"/>
              </a:ext>
            </a:extLst>
          </p:cNvPr>
          <p:cNvGrpSpPr/>
          <p:nvPr/>
        </p:nvGrpSpPr>
        <p:grpSpPr>
          <a:xfrm>
            <a:off x="7746782" y="3429000"/>
            <a:ext cx="1584958" cy="307777"/>
            <a:chOff x="7325363" y="2436128"/>
            <a:chExt cx="1584958" cy="307777"/>
          </a:xfrm>
        </p:grpSpPr>
        <p:sp>
          <p:nvSpPr>
            <p:cNvPr id="12" name="Seta: para a Direita 11">
              <a:extLst>
                <a:ext uri="{FF2B5EF4-FFF2-40B4-BE49-F238E27FC236}">
                  <a16:creationId xmlns:a16="http://schemas.microsoft.com/office/drawing/2014/main" id="{99248679-66FE-7A2B-C893-1E999574AD0F}"/>
                </a:ext>
              </a:extLst>
            </p:cNvPr>
            <p:cNvSpPr/>
            <p:nvPr/>
          </p:nvSpPr>
          <p:spPr>
            <a:xfrm rot="10800000">
              <a:off x="7325363" y="2483337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6559EEB-C331-ECCD-E98D-2A46635F53D9}"/>
                </a:ext>
              </a:extLst>
            </p:cNvPr>
            <p:cNvSpPr txBox="1"/>
            <p:nvPr/>
          </p:nvSpPr>
          <p:spPr>
            <a:xfrm>
              <a:off x="7726680" y="2436128"/>
              <a:ext cx="1183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137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mium Vector | Binary code matrix background nanotechnology">
            <a:extLst>
              <a:ext uri="{FF2B5EF4-FFF2-40B4-BE49-F238E27FC236}">
                <a16:creationId xmlns:a16="http://schemas.microsoft.com/office/drawing/2014/main" id="{8154733F-31D5-F639-A061-B4F163DA4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450" y="0"/>
            <a:ext cx="92014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394A4C-D6AD-5118-F983-E9CC9C59A726}"/>
              </a:ext>
            </a:extLst>
          </p:cNvPr>
          <p:cNvSpPr txBox="1"/>
          <p:nvPr/>
        </p:nvSpPr>
        <p:spPr>
          <a:xfrm>
            <a:off x="769715" y="5355608"/>
            <a:ext cx="83742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Multiplicação</a:t>
            </a:r>
          </a:p>
        </p:txBody>
      </p:sp>
    </p:spTree>
    <p:extLst>
      <p:ext uri="{BB962C8B-B14F-4D97-AF65-F5344CB8AC3E}">
        <p14:creationId xmlns:p14="http://schemas.microsoft.com/office/powerpoint/2010/main" val="1138056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Multiplicação de dois números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022F79-602B-482A-7300-7929424E52A4}"/>
              </a:ext>
            </a:extLst>
          </p:cNvPr>
          <p:cNvSpPr txBox="1"/>
          <p:nvPr/>
        </p:nvSpPr>
        <p:spPr>
          <a:xfrm>
            <a:off x="853549" y="1217910"/>
            <a:ext cx="7942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B0F0"/>
                </a:solidFill>
              </a:rPr>
              <a:t>Analise o programa e descubra a lógica da multiplicação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A5F21D-B495-E9D3-5915-3AF8B289B0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39" t="32029" r="29348" b="19855"/>
          <a:stretch/>
        </p:blipFill>
        <p:spPr>
          <a:xfrm>
            <a:off x="853549" y="1773904"/>
            <a:ext cx="7292620" cy="47660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4750F1C-CF4F-63E3-76C1-EBFA920A2B91}"/>
              </a:ext>
            </a:extLst>
          </p:cNvPr>
          <p:cNvSpPr txBox="1"/>
          <p:nvPr/>
        </p:nvSpPr>
        <p:spPr>
          <a:xfrm>
            <a:off x="853549" y="6449611"/>
            <a:ext cx="331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Continua no próximo slide...</a:t>
            </a:r>
          </a:p>
        </p:txBody>
      </p:sp>
    </p:spTree>
    <p:extLst>
      <p:ext uri="{BB962C8B-B14F-4D97-AF65-F5344CB8AC3E}">
        <p14:creationId xmlns:p14="http://schemas.microsoft.com/office/powerpoint/2010/main" val="1569248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2D52D13-F1D5-50AA-2FE3-2D6567CD5F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56" t="32029" r="29130" b="20435"/>
          <a:stretch/>
        </p:blipFill>
        <p:spPr>
          <a:xfrm>
            <a:off x="924339" y="1828800"/>
            <a:ext cx="7221830" cy="4662915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Multiplicação de dois números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022F79-602B-482A-7300-7929424E52A4}"/>
              </a:ext>
            </a:extLst>
          </p:cNvPr>
          <p:cNvSpPr txBox="1"/>
          <p:nvPr/>
        </p:nvSpPr>
        <p:spPr>
          <a:xfrm>
            <a:off x="853549" y="1217910"/>
            <a:ext cx="7942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B0F0"/>
                </a:solidFill>
              </a:rPr>
              <a:t>Analise o programa e descubra a lógica da multiplicação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E46071-EF01-4C5B-A765-4AF8F7F090D8}"/>
              </a:ext>
            </a:extLst>
          </p:cNvPr>
          <p:cNvSpPr/>
          <p:nvPr/>
        </p:nvSpPr>
        <p:spPr>
          <a:xfrm>
            <a:off x="1885071" y="2665825"/>
            <a:ext cx="886264" cy="144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NOT 129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BF6030-D279-4614-9F17-1C6734A48FC6}"/>
              </a:ext>
            </a:extLst>
          </p:cNvPr>
          <p:cNvSpPr/>
          <p:nvPr/>
        </p:nvSpPr>
        <p:spPr>
          <a:xfrm>
            <a:off x="1582616" y="2879863"/>
            <a:ext cx="886264" cy="144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tx1"/>
                </a:solidFill>
              </a:rPr>
              <a:t>129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37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7C6C312-67B5-CC39-487D-847FC19D4C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57" t="32222" r="29239" b="20628"/>
          <a:stretch/>
        </p:blipFill>
        <p:spPr>
          <a:xfrm>
            <a:off x="968014" y="1908312"/>
            <a:ext cx="7082682" cy="4547827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Multiplicação de dois números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022F79-602B-482A-7300-7929424E52A4}"/>
              </a:ext>
            </a:extLst>
          </p:cNvPr>
          <p:cNvSpPr txBox="1"/>
          <p:nvPr/>
        </p:nvSpPr>
        <p:spPr>
          <a:xfrm>
            <a:off x="853549" y="1217910"/>
            <a:ext cx="7942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B0F0"/>
                </a:solidFill>
              </a:rPr>
              <a:t>Teste o programa!!! Verifique o resultado é 12.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BF35F31B-B437-237E-49BD-F853EAA4D7E9}"/>
              </a:ext>
            </a:extLst>
          </p:cNvPr>
          <p:cNvGrpSpPr/>
          <p:nvPr/>
        </p:nvGrpSpPr>
        <p:grpSpPr>
          <a:xfrm>
            <a:off x="7746782" y="3021496"/>
            <a:ext cx="1584958" cy="307777"/>
            <a:chOff x="7325363" y="2436128"/>
            <a:chExt cx="1584958" cy="307777"/>
          </a:xfrm>
        </p:grpSpPr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E56798D1-C829-59F0-92E4-2369F3730BDD}"/>
                </a:ext>
              </a:extLst>
            </p:cNvPr>
            <p:cNvSpPr/>
            <p:nvPr/>
          </p:nvSpPr>
          <p:spPr>
            <a:xfrm rot="10800000">
              <a:off x="7325363" y="2483337"/>
              <a:ext cx="396239" cy="1930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F7CCC2A9-6AE3-4396-0D90-A19688C42720}"/>
                </a:ext>
              </a:extLst>
            </p:cNvPr>
            <p:cNvSpPr txBox="1"/>
            <p:nvPr/>
          </p:nvSpPr>
          <p:spPr>
            <a:xfrm>
              <a:off x="7726680" y="2436128"/>
              <a:ext cx="1183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714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Multiplicação de dois números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022F79-602B-482A-7300-7929424E52A4}"/>
              </a:ext>
            </a:extLst>
          </p:cNvPr>
          <p:cNvSpPr txBox="1"/>
          <p:nvPr/>
        </p:nvSpPr>
        <p:spPr>
          <a:xfrm>
            <a:off x="853549" y="1217910"/>
            <a:ext cx="7942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B0F0"/>
                </a:solidFill>
              </a:rPr>
              <a:t>Analise o programa e descubra a lógica da multiplicação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2912A1-29D1-B3F7-460E-9A583BD24B45}"/>
              </a:ext>
            </a:extLst>
          </p:cNvPr>
          <p:cNvSpPr txBox="1"/>
          <p:nvPr/>
        </p:nvSpPr>
        <p:spPr>
          <a:xfrm>
            <a:off x="893305" y="4340081"/>
            <a:ext cx="75052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programa soma os dois números, pela primeira vez e salva na posição 130. Depois executa uma subtração do segundo operando (2º operando menos 1),. Em seguida compara o valor do acumulador (resultado da subtração) se ele é zero (instrução JZ), se o </a:t>
            </a:r>
            <a:r>
              <a:rPr lang="pt-BR" dirty="0" err="1"/>
              <a:t>falor</a:t>
            </a:r>
            <a:r>
              <a:rPr lang="pt-BR" dirty="0"/>
              <a:t> for igual a zero ele pula (jump – JMP) o final do programa e para a execução (HLT)! Agora se o valor diferente de zero, ele pula (jump – JMP) para o início do programa, ou seja, para uma nova soma. Esse laço se repete até que o valor do Acumulador (AC) for igual a zero!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3AFA30-0431-FEC4-D6EE-A7A8E7F2DDBF}"/>
              </a:ext>
            </a:extLst>
          </p:cNvPr>
          <p:cNvSpPr txBox="1"/>
          <p:nvPr/>
        </p:nvSpPr>
        <p:spPr>
          <a:xfrm flipH="1">
            <a:off x="2939994" y="2661969"/>
            <a:ext cx="3264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A x B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E6D8675E-E0BA-33BB-D121-1D2FD0D295FE}"/>
              </a:ext>
            </a:extLst>
          </p:cNvPr>
          <p:cNvSpPr/>
          <p:nvPr/>
        </p:nvSpPr>
        <p:spPr>
          <a:xfrm>
            <a:off x="4184374" y="2399441"/>
            <a:ext cx="198783" cy="32799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4592349A-AE03-070B-E1F8-C735D0D363A6}"/>
              </a:ext>
            </a:extLst>
          </p:cNvPr>
          <p:cNvSpPr/>
          <p:nvPr/>
        </p:nvSpPr>
        <p:spPr>
          <a:xfrm rot="10800000">
            <a:off x="4785083" y="3246744"/>
            <a:ext cx="198783" cy="32799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AC2107D-10A7-3E80-673A-3FF1E3852E19}"/>
              </a:ext>
            </a:extLst>
          </p:cNvPr>
          <p:cNvSpPr txBox="1"/>
          <p:nvPr/>
        </p:nvSpPr>
        <p:spPr>
          <a:xfrm>
            <a:off x="3344517" y="1687646"/>
            <a:ext cx="1878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Primeiro operando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2D771D6-61AC-1783-13F9-08696451FDF9}"/>
              </a:ext>
            </a:extLst>
          </p:cNvPr>
          <p:cNvSpPr txBox="1"/>
          <p:nvPr/>
        </p:nvSpPr>
        <p:spPr>
          <a:xfrm>
            <a:off x="3945226" y="3614364"/>
            <a:ext cx="1878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Segundo operando</a:t>
            </a:r>
          </a:p>
        </p:txBody>
      </p:sp>
    </p:spTree>
    <p:extLst>
      <p:ext uri="{BB962C8B-B14F-4D97-AF65-F5344CB8AC3E}">
        <p14:creationId xmlns:p14="http://schemas.microsoft.com/office/powerpoint/2010/main" val="1487188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>
            <a:extLst>
              <a:ext uri="{FF2B5EF4-FFF2-40B4-BE49-F238E27FC236}">
                <a16:creationId xmlns:a16="http://schemas.microsoft.com/office/drawing/2014/main" id="{3CD65825-C88D-4673-6E51-161A46C5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73238"/>
            <a:ext cx="554355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ítulo 1">
            <a:extLst>
              <a:ext uri="{FF2B5EF4-FFF2-40B4-BE49-F238E27FC236}">
                <a16:creationId xmlns:a16="http://schemas.microsoft.com/office/drawing/2014/main" id="{8B929C0E-D817-B08E-8AE2-63F44E997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96664" y="706437"/>
            <a:ext cx="7886700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dirty="0">
                <a:latin typeface="Gotham HTF" charset="0"/>
                <a:ea typeface="MS PGothic" panose="020B0600070205080204" pitchFamily="34" charset="-128"/>
              </a:rPr>
              <a:t>Dúvidas?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 (parte 1)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AB0BA5-363D-DF03-1E88-ECF7A3BD451D}"/>
              </a:ext>
            </a:extLst>
          </p:cNvPr>
          <p:cNvSpPr txBox="1"/>
          <p:nvPr/>
        </p:nvSpPr>
        <p:spPr>
          <a:xfrm>
            <a:off x="661945" y="1241228"/>
            <a:ext cx="74667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1. Monte um programa que realiza a multiplicação 15 -  3.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2. Monte um programa que realiza a multiplicação (5 x  8) - 2.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3. Monte um programa que realiza a multiplicação (15 -  8) x 2.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4. Monte um programa que realiza a multiplicação 3 x 5 + 3.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5. Monte um programa que realiza a multiplicação (2 + 5) x 5.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6. Monte um programa que realiza a multiplicação ((1 + 5)^2) x 2.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7. Monte um programa que realiza a multiplicação (2^2) + (2^3) x 2.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7403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mium Vector | Binary code matrix background nanotechnology">
            <a:extLst>
              <a:ext uri="{FF2B5EF4-FFF2-40B4-BE49-F238E27FC236}">
                <a16:creationId xmlns:a16="http://schemas.microsoft.com/office/drawing/2014/main" id="{8154733F-31D5-F639-A061-B4F163DA4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450" y="0"/>
            <a:ext cx="92014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394A4C-D6AD-5118-F983-E9CC9C59A726}"/>
              </a:ext>
            </a:extLst>
          </p:cNvPr>
          <p:cNvSpPr txBox="1"/>
          <p:nvPr/>
        </p:nvSpPr>
        <p:spPr>
          <a:xfrm>
            <a:off x="769715" y="5355608"/>
            <a:ext cx="83742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Divisão</a:t>
            </a:r>
          </a:p>
        </p:txBody>
      </p:sp>
    </p:spTree>
    <p:extLst>
      <p:ext uri="{BB962C8B-B14F-4D97-AF65-F5344CB8AC3E}">
        <p14:creationId xmlns:p14="http://schemas.microsoft.com/office/powerpoint/2010/main" val="32619469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2912A1-29D1-B3F7-460E-9A583BD24B45}"/>
              </a:ext>
            </a:extLst>
          </p:cNvPr>
          <p:cNvSpPr txBox="1"/>
          <p:nvPr/>
        </p:nvSpPr>
        <p:spPr>
          <a:xfrm>
            <a:off x="714401" y="1364539"/>
            <a:ext cx="75052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divisão é realizada com a mesma lógica da multiplicação, no entanto, ao invés de somarmos sucessivamente, iremos </a:t>
            </a:r>
            <a:r>
              <a:rPr lang="pt-BR" b="1" dirty="0">
                <a:solidFill>
                  <a:srgbClr val="FF0000"/>
                </a:solidFill>
              </a:rPr>
              <a:t>subtrair sucessivamente </a:t>
            </a:r>
            <a:r>
              <a:rPr lang="pt-BR" dirty="0"/>
              <a:t>o </a:t>
            </a:r>
            <a:r>
              <a:rPr lang="pt-BR" b="1" dirty="0">
                <a:solidFill>
                  <a:srgbClr val="FFC000"/>
                </a:solidFill>
              </a:rPr>
              <a:t>dividendo</a:t>
            </a:r>
            <a:r>
              <a:rPr lang="pt-BR" dirty="0"/>
              <a:t> </a:t>
            </a:r>
            <a:r>
              <a:rPr lang="pt-BR" b="1" dirty="0"/>
              <a:t>pelo</a:t>
            </a:r>
            <a:r>
              <a:rPr lang="pt-BR" dirty="0"/>
              <a:t> </a:t>
            </a:r>
            <a:r>
              <a:rPr lang="pt-BR" b="1" dirty="0">
                <a:solidFill>
                  <a:srgbClr val="0070C0"/>
                </a:solidFill>
              </a:rPr>
              <a:t>divisor</a:t>
            </a:r>
            <a:r>
              <a:rPr lang="pt-BR" dirty="0"/>
              <a:t>, sendo o </a:t>
            </a:r>
            <a:r>
              <a:rPr lang="pt-BR" b="1" dirty="0"/>
              <a:t>valor da multiplicação o valor do número de vezes que o valor foi subtraído </a:t>
            </a:r>
            <a:r>
              <a:rPr lang="pt-BR" dirty="0"/>
              <a:t>e que o valor do AC seja negativo ou zero! </a:t>
            </a:r>
          </a:p>
          <a:p>
            <a:endParaRPr lang="pt-BR" dirty="0"/>
          </a:p>
          <a:p>
            <a:r>
              <a:rPr lang="pt-BR" dirty="0"/>
              <a:t>Grave esse valor em uma posição da memória. </a:t>
            </a:r>
          </a:p>
          <a:p>
            <a:r>
              <a:rPr lang="pt-BR" dirty="0"/>
              <a:t>Se o valor for zero , não há resto, mas se for negativo, há resto! Assim, divida o valor do resto até que o valor seja zero ou negativo. Grave esse valor em uma nova posição de memória.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1D880F3-0C3D-15AD-E1D7-94E71E926016}"/>
              </a:ext>
            </a:extLst>
          </p:cNvPr>
          <p:cNvGrpSpPr/>
          <p:nvPr/>
        </p:nvGrpSpPr>
        <p:grpSpPr>
          <a:xfrm>
            <a:off x="2078736" y="4363140"/>
            <a:ext cx="5126736" cy="1860805"/>
            <a:chOff x="2078736" y="4363140"/>
            <a:chExt cx="5126736" cy="1860805"/>
          </a:xfrm>
        </p:grpSpPr>
        <p:pic>
          <p:nvPicPr>
            <p:cNvPr id="1026" name="Picture 2" descr="Algoritmo da divisão - Dividendo, divisor, quociente e resto ...">
              <a:extLst>
                <a:ext uri="{FF2B5EF4-FFF2-40B4-BE49-F238E27FC236}">
                  <a16:creationId xmlns:a16="http://schemas.microsoft.com/office/drawing/2014/main" id="{A21F27E9-421F-30C0-C306-6ACC883508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62" t="14486" r="8499" b="13495"/>
            <a:stretch/>
          </p:blipFill>
          <p:spPr bwMode="auto">
            <a:xfrm>
              <a:off x="2275840" y="4363140"/>
              <a:ext cx="4124960" cy="17626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501C196E-4FF3-64D7-34E2-622059656568}"/>
                </a:ext>
              </a:extLst>
            </p:cNvPr>
            <p:cNvSpPr txBox="1"/>
            <p:nvPr/>
          </p:nvSpPr>
          <p:spPr>
            <a:xfrm>
              <a:off x="2078736" y="4742688"/>
              <a:ext cx="13776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rgbClr val="FF9225"/>
                  </a:solidFill>
                </a:rPr>
                <a:t>(num)</a:t>
              </a: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BACEBDB0-80BF-3539-B9CE-15217FF64845}"/>
                </a:ext>
              </a:extLst>
            </p:cNvPr>
            <p:cNvSpPr txBox="1"/>
            <p:nvPr/>
          </p:nvSpPr>
          <p:spPr>
            <a:xfrm>
              <a:off x="5564124" y="4527839"/>
              <a:ext cx="13776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rgbClr val="0000FF"/>
                  </a:solidFill>
                </a:rPr>
                <a:t>(k)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57D64E94-0FB6-5CAE-05A7-AC19D6A7708C}"/>
                </a:ext>
              </a:extLst>
            </p:cNvPr>
            <p:cNvSpPr txBox="1"/>
            <p:nvPr/>
          </p:nvSpPr>
          <p:spPr>
            <a:xfrm>
              <a:off x="5827776" y="5836085"/>
              <a:ext cx="13776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rgbClr val="FF4977"/>
                  </a:solidFill>
                </a:rPr>
                <a:t>(i)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7881A01-2C84-5947-463A-BA23F556E71D}"/>
                </a:ext>
              </a:extLst>
            </p:cNvPr>
            <p:cNvSpPr txBox="1"/>
            <p:nvPr/>
          </p:nvSpPr>
          <p:spPr>
            <a:xfrm>
              <a:off x="2298700" y="5916168"/>
              <a:ext cx="13776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rgbClr val="398739"/>
                  </a:solidFill>
                </a:rPr>
                <a:t>(r)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736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2912A1-29D1-B3F7-460E-9A583BD24B45}"/>
              </a:ext>
            </a:extLst>
          </p:cNvPr>
          <p:cNvSpPr txBox="1"/>
          <p:nvPr/>
        </p:nvSpPr>
        <p:spPr>
          <a:xfrm>
            <a:off x="714401" y="1364539"/>
            <a:ext cx="7505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Assim como a multiplicação, o </a:t>
            </a:r>
            <a:r>
              <a:rPr lang="pt-BR" dirty="0" err="1"/>
              <a:t>Neander</a:t>
            </a:r>
            <a:r>
              <a:rPr lang="pt-BR" dirty="0"/>
              <a:t> não possui uma instrução de divisão. Portanto vamos implementá-las através do método das subtrações sucessivas.</a:t>
            </a:r>
          </a:p>
          <a:p>
            <a:endParaRPr lang="pt-BR" dirty="0"/>
          </a:p>
          <a:p>
            <a:r>
              <a:rPr lang="pt-BR" dirty="0"/>
              <a:t>Por exemplo: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1243CE3F-6494-7A1A-BC7B-F87CEF35E8E0}"/>
              </a:ext>
            </a:extLst>
          </p:cNvPr>
          <p:cNvGrpSpPr/>
          <p:nvPr/>
        </p:nvGrpSpPr>
        <p:grpSpPr>
          <a:xfrm>
            <a:off x="714401" y="2725113"/>
            <a:ext cx="4577080" cy="369332"/>
            <a:chOff x="714401" y="2725113"/>
            <a:chExt cx="4577080" cy="369332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5AC91CB9-AB3F-8CD3-DB89-3E932C978422}"/>
                </a:ext>
              </a:extLst>
            </p:cNvPr>
            <p:cNvSpPr txBox="1"/>
            <p:nvPr/>
          </p:nvSpPr>
          <p:spPr>
            <a:xfrm>
              <a:off x="714401" y="2725113"/>
              <a:ext cx="4577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20/4 = 20 – 4 = 16           </a:t>
              </a:r>
              <a:r>
                <a:rPr lang="pt-BR" b="1" dirty="0">
                  <a:solidFill>
                    <a:srgbClr val="FF0000"/>
                  </a:solidFill>
                </a:rPr>
                <a:t>i</a:t>
              </a:r>
              <a:r>
                <a:rPr lang="pt-BR" dirty="0"/>
                <a:t> = 1 </a:t>
              </a:r>
            </a:p>
          </p:txBody>
        </p:sp>
        <p:sp>
          <p:nvSpPr>
            <p:cNvPr id="3" name="Seta: para a Direita 2">
              <a:extLst>
                <a:ext uri="{FF2B5EF4-FFF2-40B4-BE49-F238E27FC236}">
                  <a16:creationId xmlns:a16="http://schemas.microsoft.com/office/drawing/2014/main" id="{7DD86204-CEA9-F0AD-6750-ACEF45931859}"/>
                </a:ext>
              </a:extLst>
            </p:cNvPr>
            <p:cNvSpPr/>
            <p:nvPr/>
          </p:nvSpPr>
          <p:spPr>
            <a:xfrm>
              <a:off x="2641600" y="2824480"/>
              <a:ext cx="29464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8D2CD03-6C95-F6E3-3490-1FD9A83689B9}"/>
              </a:ext>
            </a:extLst>
          </p:cNvPr>
          <p:cNvGrpSpPr/>
          <p:nvPr/>
        </p:nvGrpSpPr>
        <p:grpSpPr>
          <a:xfrm>
            <a:off x="1333500" y="3114765"/>
            <a:ext cx="4577080" cy="369332"/>
            <a:chOff x="1333500" y="3114765"/>
            <a:chExt cx="4577080" cy="369332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C90C18B-87B4-F2E3-47DF-438BF2A030F8}"/>
                </a:ext>
              </a:extLst>
            </p:cNvPr>
            <p:cNvSpPr txBox="1"/>
            <p:nvPr/>
          </p:nvSpPr>
          <p:spPr>
            <a:xfrm>
              <a:off x="1333500" y="3114765"/>
              <a:ext cx="4577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 16 – 4 = 12           </a:t>
              </a:r>
              <a:r>
                <a:rPr lang="pt-BR" b="1" dirty="0">
                  <a:solidFill>
                    <a:srgbClr val="FF0000"/>
                  </a:solidFill>
                </a:rPr>
                <a:t>i</a:t>
              </a:r>
              <a:r>
                <a:rPr lang="pt-BR" dirty="0"/>
                <a:t> = 2</a:t>
              </a:r>
            </a:p>
          </p:txBody>
        </p:sp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E4D89CC8-CC6A-5F65-19AB-B77DF1AA6308}"/>
                </a:ext>
              </a:extLst>
            </p:cNvPr>
            <p:cNvSpPr/>
            <p:nvPr/>
          </p:nvSpPr>
          <p:spPr>
            <a:xfrm>
              <a:off x="2661920" y="3215837"/>
              <a:ext cx="29464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A48EDF6-9B2F-512E-E928-F949516355A1}"/>
              </a:ext>
            </a:extLst>
          </p:cNvPr>
          <p:cNvGrpSpPr/>
          <p:nvPr/>
        </p:nvGrpSpPr>
        <p:grpSpPr>
          <a:xfrm>
            <a:off x="1424940" y="3511478"/>
            <a:ext cx="4577080" cy="369332"/>
            <a:chOff x="1424940" y="3511478"/>
            <a:chExt cx="4577080" cy="369332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2EC4BB5-1CF1-9FA3-C46E-639C98DAB739}"/>
                </a:ext>
              </a:extLst>
            </p:cNvPr>
            <p:cNvSpPr txBox="1"/>
            <p:nvPr/>
          </p:nvSpPr>
          <p:spPr>
            <a:xfrm>
              <a:off x="1424940" y="3511478"/>
              <a:ext cx="4577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12 – 4 = 8            </a:t>
              </a:r>
              <a:r>
                <a:rPr lang="pt-BR" dirty="0">
                  <a:solidFill>
                    <a:srgbClr val="FF0000"/>
                  </a:solidFill>
                </a:rPr>
                <a:t>i</a:t>
              </a:r>
              <a:r>
                <a:rPr lang="pt-BR" dirty="0"/>
                <a:t> = 3</a:t>
              </a:r>
            </a:p>
          </p:txBody>
        </p:sp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5E9FE722-FAA1-7926-7D7F-EBD3EA38C6C7}"/>
                </a:ext>
              </a:extLst>
            </p:cNvPr>
            <p:cNvSpPr/>
            <p:nvPr/>
          </p:nvSpPr>
          <p:spPr>
            <a:xfrm>
              <a:off x="2641600" y="3618866"/>
              <a:ext cx="29464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E7D17C6E-DDFE-E241-649E-7B9F2D0D3A5A}"/>
              </a:ext>
            </a:extLst>
          </p:cNvPr>
          <p:cNvGrpSpPr/>
          <p:nvPr/>
        </p:nvGrpSpPr>
        <p:grpSpPr>
          <a:xfrm>
            <a:off x="1546860" y="3908191"/>
            <a:ext cx="4577080" cy="369332"/>
            <a:chOff x="1546860" y="3908191"/>
            <a:chExt cx="4577080" cy="369332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919F8740-7091-3252-E264-EDA784C66F10}"/>
                </a:ext>
              </a:extLst>
            </p:cNvPr>
            <p:cNvSpPr txBox="1"/>
            <p:nvPr/>
          </p:nvSpPr>
          <p:spPr>
            <a:xfrm>
              <a:off x="1546860" y="3908191"/>
              <a:ext cx="4577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8 – 4 = 4            </a:t>
              </a:r>
              <a:r>
                <a:rPr lang="pt-BR" b="1" dirty="0">
                  <a:solidFill>
                    <a:srgbClr val="FF0000"/>
                  </a:solidFill>
                </a:rPr>
                <a:t>i</a:t>
              </a:r>
              <a:r>
                <a:rPr lang="pt-BR" dirty="0"/>
                <a:t> = 4</a:t>
              </a:r>
            </a:p>
          </p:txBody>
        </p:sp>
        <p:sp>
          <p:nvSpPr>
            <p:cNvPr id="12" name="Seta: para a Direita 11">
              <a:extLst>
                <a:ext uri="{FF2B5EF4-FFF2-40B4-BE49-F238E27FC236}">
                  <a16:creationId xmlns:a16="http://schemas.microsoft.com/office/drawing/2014/main" id="{54A56124-9DA2-628C-56F7-78DCD9D1928C}"/>
                </a:ext>
              </a:extLst>
            </p:cNvPr>
            <p:cNvSpPr/>
            <p:nvPr/>
          </p:nvSpPr>
          <p:spPr>
            <a:xfrm>
              <a:off x="2631440" y="3997057"/>
              <a:ext cx="29464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E7A464C-F35C-4A48-724B-84CCF3DAD9E8}"/>
              </a:ext>
            </a:extLst>
          </p:cNvPr>
          <p:cNvGrpSpPr/>
          <p:nvPr/>
        </p:nvGrpSpPr>
        <p:grpSpPr>
          <a:xfrm>
            <a:off x="1557020" y="4342229"/>
            <a:ext cx="4577080" cy="369332"/>
            <a:chOff x="1557020" y="4342229"/>
            <a:chExt cx="4577080" cy="369332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8DBA36D-9D22-FAF7-215A-2AB1DD38CB82}"/>
                </a:ext>
              </a:extLst>
            </p:cNvPr>
            <p:cNvSpPr txBox="1"/>
            <p:nvPr/>
          </p:nvSpPr>
          <p:spPr>
            <a:xfrm>
              <a:off x="1557020" y="4342229"/>
              <a:ext cx="4577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4 – 4 = 0            </a:t>
              </a:r>
              <a:r>
                <a:rPr lang="pt-BR" b="1" dirty="0">
                  <a:solidFill>
                    <a:srgbClr val="FF0000"/>
                  </a:solidFill>
                </a:rPr>
                <a:t>i</a:t>
              </a:r>
              <a:r>
                <a:rPr lang="pt-BR" dirty="0"/>
                <a:t> = 5</a:t>
              </a:r>
            </a:p>
          </p:txBody>
        </p:sp>
        <p:sp>
          <p:nvSpPr>
            <p:cNvPr id="13" name="Seta: para a Direita 12">
              <a:extLst>
                <a:ext uri="{FF2B5EF4-FFF2-40B4-BE49-F238E27FC236}">
                  <a16:creationId xmlns:a16="http://schemas.microsoft.com/office/drawing/2014/main" id="{23CCD774-29BC-1FE9-ECC8-B37C359D6EA5}"/>
                </a:ext>
              </a:extLst>
            </p:cNvPr>
            <p:cNvSpPr/>
            <p:nvPr/>
          </p:nvSpPr>
          <p:spPr>
            <a:xfrm>
              <a:off x="2631440" y="4430947"/>
              <a:ext cx="29464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15BC592-7259-4D06-5462-6B04CE75CD22}"/>
              </a:ext>
            </a:extLst>
          </p:cNvPr>
          <p:cNvGrpSpPr/>
          <p:nvPr/>
        </p:nvGrpSpPr>
        <p:grpSpPr>
          <a:xfrm>
            <a:off x="2333228" y="4752201"/>
            <a:ext cx="2513092" cy="499314"/>
            <a:chOff x="2333228" y="4752201"/>
            <a:chExt cx="2513092" cy="499314"/>
          </a:xfrm>
        </p:grpSpPr>
        <p:sp>
          <p:nvSpPr>
            <p:cNvPr id="19" name="Seta: Dobrada para Cima 18">
              <a:extLst>
                <a:ext uri="{FF2B5EF4-FFF2-40B4-BE49-F238E27FC236}">
                  <a16:creationId xmlns:a16="http://schemas.microsoft.com/office/drawing/2014/main" id="{D92F023E-D094-618A-5EB7-C3394DB93E26}"/>
                </a:ext>
              </a:extLst>
            </p:cNvPr>
            <p:cNvSpPr/>
            <p:nvPr/>
          </p:nvSpPr>
          <p:spPr>
            <a:xfrm rot="5400000">
              <a:off x="2314694" y="4770735"/>
              <a:ext cx="406400" cy="369332"/>
            </a:xfrm>
            <a:prstGeom prst="bentUp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68337A26-58EE-DE67-0672-17FC8026BAC0}"/>
                </a:ext>
              </a:extLst>
            </p:cNvPr>
            <p:cNvSpPr txBox="1"/>
            <p:nvPr/>
          </p:nvSpPr>
          <p:spPr>
            <a:xfrm>
              <a:off x="2702560" y="4882183"/>
              <a:ext cx="2143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Resto zero!</a:t>
              </a:r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8129E88-12FA-CFDD-F9FB-C7FEE2DC1947}"/>
              </a:ext>
            </a:extLst>
          </p:cNvPr>
          <p:cNvSpPr txBox="1"/>
          <p:nvPr/>
        </p:nvSpPr>
        <p:spPr>
          <a:xfrm>
            <a:off x="714401" y="5493461"/>
            <a:ext cx="725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conseguimos subtrair 5 vezes o número 4 do número 20!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CDE9EA2-9181-A576-FDF0-98293A5EC9A0}"/>
              </a:ext>
            </a:extLst>
          </p:cNvPr>
          <p:cNvSpPr txBox="1"/>
          <p:nvPr/>
        </p:nvSpPr>
        <p:spPr>
          <a:xfrm>
            <a:off x="714401" y="5935430"/>
            <a:ext cx="725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Desta forma: 20 = 4 . </a:t>
            </a:r>
            <a:r>
              <a:rPr lang="pt-BR" b="1" dirty="0">
                <a:solidFill>
                  <a:srgbClr val="FF0000"/>
                </a:solidFill>
              </a:rPr>
              <a:t>i</a:t>
            </a:r>
            <a:r>
              <a:rPr lang="pt-BR" dirty="0"/>
              <a:t> + resto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90B4D99-6FC1-758F-F569-C667F18FE025}"/>
              </a:ext>
            </a:extLst>
          </p:cNvPr>
          <p:cNvSpPr txBox="1"/>
          <p:nvPr/>
        </p:nvSpPr>
        <p:spPr>
          <a:xfrm>
            <a:off x="714401" y="6363807"/>
            <a:ext cx="725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Assim:</a:t>
            </a:r>
            <a:r>
              <a:rPr lang="pt-BR" dirty="0"/>
              <a:t> 20 = 4 . </a:t>
            </a:r>
            <a:r>
              <a:rPr lang="pt-BR" b="1" dirty="0">
                <a:solidFill>
                  <a:srgbClr val="FF0000"/>
                </a:solidFill>
              </a:rPr>
              <a:t>5</a:t>
            </a:r>
            <a:r>
              <a:rPr lang="pt-BR" dirty="0"/>
              <a:t> + 0 = 20</a:t>
            </a:r>
          </a:p>
        </p:txBody>
      </p:sp>
    </p:spTree>
    <p:extLst>
      <p:ext uri="{BB962C8B-B14F-4D97-AF65-F5344CB8AC3E}">
        <p14:creationId xmlns:p14="http://schemas.microsoft.com/office/powerpoint/2010/main" val="349852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919F8740-7091-3252-E264-EDA784C66F10}"/>
              </a:ext>
            </a:extLst>
          </p:cNvPr>
          <p:cNvSpPr txBox="1"/>
          <p:nvPr/>
        </p:nvSpPr>
        <p:spPr>
          <a:xfrm>
            <a:off x="1407960" y="2993791"/>
            <a:ext cx="457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 2 – 8 =  -6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2912A1-29D1-B3F7-460E-9A583BD24B45}"/>
              </a:ext>
            </a:extLst>
          </p:cNvPr>
          <p:cNvSpPr txBox="1"/>
          <p:nvPr/>
        </p:nvSpPr>
        <p:spPr>
          <a:xfrm>
            <a:off x="714401" y="1364539"/>
            <a:ext cx="7505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Outro exemplo: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1243CE3F-6494-7A1A-BC7B-F87CEF35E8E0}"/>
              </a:ext>
            </a:extLst>
          </p:cNvPr>
          <p:cNvGrpSpPr/>
          <p:nvPr/>
        </p:nvGrpSpPr>
        <p:grpSpPr>
          <a:xfrm>
            <a:off x="714401" y="1810713"/>
            <a:ext cx="4577080" cy="369332"/>
            <a:chOff x="714401" y="2725113"/>
            <a:chExt cx="4577080" cy="369332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5AC91CB9-AB3F-8CD3-DB89-3E932C978422}"/>
                </a:ext>
              </a:extLst>
            </p:cNvPr>
            <p:cNvSpPr txBox="1"/>
            <p:nvPr/>
          </p:nvSpPr>
          <p:spPr>
            <a:xfrm>
              <a:off x="714401" y="2725113"/>
              <a:ext cx="4577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26/8 = 26 – 8 = 18           </a:t>
              </a:r>
              <a:r>
                <a:rPr lang="pt-BR" b="1" dirty="0">
                  <a:solidFill>
                    <a:srgbClr val="FF0000"/>
                  </a:solidFill>
                </a:rPr>
                <a:t>i</a:t>
              </a:r>
              <a:r>
                <a:rPr lang="pt-BR" dirty="0"/>
                <a:t> = 1 </a:t>
              </a:r>
            </a:p>
          </p:txBody>
        </p:sp>
        <p:sp>
          <p:nvSpPr>
            <p:cNvPr id="3" name="Seta: para a Direita 2">
              <a:extLst>
                <a:ext uri="{FF2B5EF4-FFF2-40B4-BE49-F238E27FC236}">
                  <a16:creationId xmlns:a16="http://schemas.microsoft.com/office/drawing/2014/main" id="{7DD86204-CEA9-F0AD-6750-ACEF45931859}"/>
                </a:ext>
              </a:extLst>
            </p:cNvPr>
            <p:cNvSpPr/>
            <p:nvPr/>
          </p:nvSpPr>
          <p:spPr>
            <a:xfrm>
              <a:off x="2641600" y="2824480"/>
              <a:ext cx="29464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8D2CD03-6C95-F6E3-3490-1FD9A83689B9}"/>
              </a:ext>
            </a:extLst>
          </p:cNvPr>
          <p:cNvGrpSpPr/>
          <p:nvPr/>
        </p:nvGrpSpPr>
        <p:grpSpPr>
          <a:xfrm>
            <a:off x="1333500" y="2200365"/>
            <a:ext cx="4577080" cy="369332"/>
            <a:chOff x="1333500" y="3114765"/>
            <a:chExt cx="4577080" cy="369332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C90C18B-87B4-F2E3-47DF-438BF2A030F8}"/>
                </a:ext>
              </a:extLst>
            </p:cNvPr>
            <p:cNvSpPr txBox="1"/>
            <p:nvPr/>
          </p:nvSpPr>
          <p:spPr>
            <a:xfrm>
              <a:off x="1333500" y="3114765"/>
              <a:ext cx="4577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 18 – 8 = 10           </a:t>
              </a:r>
              <a:r>
                <a:rPr lang="pt-BR" b="1" dirty="0">
                  <a:solidFill>
                    <a:srgbClr val="FF0000"/>
                  </a:solidFill>
                </a:rPr>
                <a:t>i</a:t>
              </a:r>
              <a:r>
                <a:rPr lang="pt-BR" dirty="0"/>
                <a:t> = 2</a:t>
              </a:r>
            </a:p>
          </p:txBody>
        </p:sp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E4D89CC8-CC6A-5F65-19AB-B77DF1AA6308}"/>
                </a:ext>
              </a:extLst>
            </p:cNvPr>
            <p:cNvSpPr/>
            <p:nvPr/>
          </p:nvSpPr>
          <p:spPr>
            <a:xfrm>
              <a:off x="2661920" y="3215837"/>
              <a:ext cx="29464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A48EDF6-9B2F-512E-E928-F949516355A1}"/>
              </a:ext>
            </a:extLst>
          </p:cNvPr>
          <p:cNvGrpSpPr/>
          <p:nvPr/>
        </p:nvGrpSpPr>
        <p:grpSpPr>
          <a:xfrm>
            <a:off x="1401790" y="2597078"/>
            <a:ext cx="4577080" cy="369332"/>
            <a:chOff x="1424940" y="3511478"/>
            <a:chExt cx="4577080" cy="369332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2EC4BB5-1CF1-9FA3-C46E-639C98DAB739}"/>
                </a:ext>
              </a:extLst>
            </p:cNvPr>
            <p:cNvSpPr txBox="1"/>
            <p:nvPr/>
          </p:nvSpPr>
          <p:spPr>
            <a:xfrm>
              <a:off x="1424940" y="3511478"/>
              <a:ext cx="4577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10 – 8 =   2           </a:t>
              </a:r>
              <a:r>
                <a:rPr lang="pt-BR" dirty="0">
                  <a:solidFill>
                    <a:srgbClr val="FF0000"/>
                  </a:solidFill>
                </a:rPr>
                <a:t>i</a:t>
              </a:r>
              <a:r>
                <a:rPr lang="pt-BR" dirty="0"/>
                <a:t> = 3</a:t>
              </a:r>
            </a:p>
          </p:txBody>
        </p:sp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5E9FE722-FAA1-7926-7D7F-EBD3EA38C6C7}"/>
                </a:ext>
              </a:extLst>
            </p:cNvPr>
            <p:cNvSpPr/>
            <p:nvPr/>
          </p:nvSpPr>
          <p:spPr>
            <a:xfrm>
              <a:off x="2641600" y="3618866"/>
              <a:ext cx="29464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134F6D-FC11-AF86-881D-535A4FAC88DB}"/>
              </a:ext>
            </a:extLst>
          </p:cNvPr>
          <p:cNvSpPr txBox="1"/>
          <p:nvPr/>
        </p:nvSpPr>
        <p:spPr>
          <a:xfrm>
            <a:off x="2951545" y="2981686"/>
            <a:ext cx="6068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ATENÇÃO! PARAR A DIVISÃO QUANDO O NÚMERO FOR NEGATIVO!!!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72E8AA8-FD61-0901-A8D3-F9427D5E554E}"/>
              </a:ext>
            </a:extLst>
          </p:cNvPr>
          <p:cNvSpPr txBox="1"/>
          <p:nvPr/>
        </p:nvSpPr>
        <p:spPr>
          <a:xfrm>
            <a:off x="844947" y="3912242"/>
            <a:ext cx="637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obtivemos resto = 2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B4ADCA2-4054-BC4B-889C-56E3B1E2E03C}"/>
              </a:ext>
            </a:extLst>
          </p:cNvPr>
          <p:cNvSpPr txBox="1"/>
          <p:nvPr/>
        </p:nvSpPr>
        <p:spPr>
          <a:xfrm>
            <a:off x="844946" y="4382636"/>
            <a:ext cx="710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subtração não pode dar negativo, então teremos que:  26 = 8 x 3 + resto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EB604BC-5FEE-A6EC-1300-222E4E89CD22}"/>
              </a:ext>
            </a:extLst>
          </p:cNvPr>
          <p:cNvSpPr txBox="1"/>
          <p:nvPr/>
        </p:nvSpPr>
        <p:spPr>
          <a:xfrm>
            <a:off x="844947" y="4850571"/>
            <a:ext cx="710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Somente conseguimos subtrair 3 vezes o 8, assim:  26 = 24 + 2 = 26</a:t>
            </a:r>
          </a:p>
        </p:txBody>
      </p:sp>
    </p:spTree>
    <p:extLst>
      <p:ext uri="{BB962C8B-B14F-4D97-AF65-F5344CB8AC3E}">
        <p14:creationId xmlns:p14="http://schemas.microsoft.com/office/powerpoint/2010/main" val="300139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10" grpId="0"/>
      <p:bldP spid="22" grpId="0"/>
      <p:bldP spid="2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C55FC02-D9AB-154E-8880-84F3A1AFCA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34" t="29240" r="28987" b="22378"/>
          <a:stretch/>
        </p:blipFill>
        <p:spPr>
          <a:xfrm>
            <a:off x="1740701" y="1217821"/>
            <a:ext cx="7279731" cy="4686057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41A8A10-123B-9250-3355-51377E72C87F}"/>
              </a:ext>
            </a:extLst>
          </p:cNvPr>
          <p:cNvGrpSpPr/>
          <p:nvPr/>
        </p:nvGrpSpPr>
        <p:grpSpPr>
          <a:xfrm>
            <a:off x="-12536" y="1932940"/>
            <a:ext cx="2091111" cy="307777"/>
            <a:chOff x="-12536" y="1932940"/>
            <a:chExt cx="2091111" cy="307777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70F219BF-1C73-60A0-FBAA-6D5FA14B2924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Carrega k</a:t>
              </a:r>
            </a:p>
          </p:txBody>
        </p:sp>
        <p:sp>
          <p:nvSpPr>
            <p:cNvPr id="6" name="Seta: para a Direita 5">
              <a:extLst>
                <a:ext uri="{FF2B5EF4-FFF2-40B4-BE49-F238E27FC236}">
                  <a16:creationId xmlns:a16="http://schemas.microsoft.com/office/drawing/2014/main" id="{E7979D5B-01DF-6F40-83DD-FEF9EC4BEE6A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B315DA9-05F1-8D7F-A456-6E10735D6AA2}"/>
              </a:ext>
            </a:extLst>
          </p:cNvPr>
          <p:cNvGrpSpPr/>
          <p:nvPr/>
        </p:nvGrpSpPr>
        <p:grpSpPr>
          <a:xfrm>
            <a:off x="-12536" y="2341773"/>
            <a:ext cx="2091111" cy="307777"/>
            <a:chOff x="-12536" y="1932940"/>
            <a:chExt cx="2091111" cy="307777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53DF627D-E1A8-8E2B-3C1B-5A62E43085A0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 err="1"/>
                <a:t>Copia_k</a:t>
              </a:r>
              <a:r>
                <a:rPr lang="pt-BR" sz="1400" dirty="0"/>
                <a:t> = k</a:t>
              </a:r>
            </a:p>
          </p:txBody>
        </p:sp>
        <p:sp>
          <p:nvSpPr>
            <p:cNvPr id="10" name="Seta: para a Direita 9">
              <a:extLst>
                <a:ext uri="{FF2B5EF4-FFF2-40B4-BE49-F238E27FC236}">
                  <a16:creationId xmlns:a16="http://schemas.microsoft.com/office/drawing/2014/main" id="{F95E0F49-6CDE-DBC7-078C-AF10E09AF9E6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895E079-A182-C2E0-3643-E411BAEFB359}"/>
              </a:ext>
            </a:extLst>
          </p:cNvPr>
          <p:cNvGrpSpPr/>
          <p:nvPr/>
        </p:nvGrpSpPr>
        <p:grpSpPr>
          <a:xfrm>
            <a:off x="-12536" y="2750606"/>
            <a:ext cx="2091111" cy="307777"/>
            <a:chOff x="-12536" y="1932940"/>
            <a:chExt cx="2091111" cy="30777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70F01C0-B291-AE09-46A7-06E7C9BE8A20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Carrega num</a:t>
              </a:r>
            </a:p>
          </p:txBody>
        </p:sp>
        <p:sp>
          <p:nvSpPr>
            <p:cNvPr id="15" name="Seta: para a Direita 14">
              <a:extLst>
                <a:ext uri="{FF2B5EF4-FFF2-40B4-BE49-F238E27FC236}">
                  <a16:creationId xmlns:a16="http://schemas.microsoft.com/office/drawing/2014/main" id="{DF3FD859-1DFA-00AC-747B-8A576EDA127F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1A2030A-5CFC-59A8-4A27-8B620147732C}"/>
              </a:ext>
            </a:extLst>
          </p:cNvPr>
          <p:cNvGrpSpPr/>
          <p:nvPr/>
        </p:nvGrpSpPr>
        <p:grpSpPr>
          <a:xfrm>
            <a:off x="0" y="3165494"/>
            <a:ext cx="2091111" cy="307777"/>
            <a:chOff x="-12536" y="1932940"/>
            <a:chExt cx="2091111" cy="307777"/>
          </a:xfrm>
        </p:grpSpPr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627F9F63-64BF-5987-F1C3-9332E3D95157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 err="1"/>
                <a:t>Copia_num</a:t>
              </a:r>
              <a:r>
                <a:rPr lang="pt-BR" sz="1400" dirty="0"/>
                <a:t> = num</a:t>
              </a:r>
            </a:p>
          </p:txBody>
        </p:sp>
        <p:sp>
          <p:nvSpPr>
            <p:cNvPr id="18" name="Seta: para a Direita 17">
              <a:extLst>
                <a:ext uri="{FF2B5EF4-FFF2-40B4-BE49-F238E27FC236}">
                  <a16:creationId xmlns:a16="http://schemas.microsoft.com/office/drawing/2014/main" id="{A7062FE8-6682-C547-07A5-DD0C92814299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B4234BF6-AA4E-9266-33C8-7EC0AB4CEAB5}"/>
              </a:ext>
            </a:extLst>
          </p:cNvPr>
          <p:cNvGrpSpPr/>
          <p:nvPr/>
        </p:nvGrpSpPr>
        <p:grpSpPr>
          <a:xfrm>
            <a:off x="0" y="3555880"/>
            <a:ext cx="2091111" cy="307777"/>
            <a:chOff x="-12536" y="1932940"/>
            <a:chExt cx="2091111" cy="307777"/>
          </a:xfrm>
        </p:grpSpPr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8E029EE2-0A0B-3A53-4812-28A10ECCB4AE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Carrega </a:t>
              </a:r>
              <a:r>
                <a:rPr lang="pt-BR" sz="1400" dirty="0" err="1"/>
                <a:t>copia_k</a:t>
              </a:r>
              <a:endParaRPr lang="pt-BR" sz="1400" dirty="0"/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B7E47A05-B613-2BDB-E527-AD3C950A8252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C0ED04C-60CD-A1E5-FDFD-A8710D8DB5A4}"/>
              </a:ext>
            </a:extLst>
          </p:cNvPr>
          <p:cNvGrpSpPr/>
          <p:nvPr/>
        </p:nvGrpSpPr>
        <p:grpSpPr>
          <a:xfrm>
            <a:off x="-109728" y="3975999"/>
            <a:ext cx="2188303" cy="307777"/>
            <a:chOff x="-109728" y="1932940"/>
            <a:chExt cx="2188303" cy="307777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D932BC08-EB9A-CE57-B616-3ADAC8EFBBA5}"/>
                </a:ext>
              </a:extLst>
            </p:cNvPr>
            <p:cNvSpPr txBox="1"/>
            <p:nvPr/>
          </p:nvSpPr>
          <p:spPr>
            <a:xfrm>
              <a:off x="-109728" y="1932940"/>
              <a:ext cx="18293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Complementa </a:t>
              </a:r>
              <a:r>
                <a:rPr lang="pt-BR" sz="1400" dirty="0" err="1"/>
                <a:t>copia_k</a:t>
              </a:r>
              <a:endParaRPr lang="pt-BR" sz="1400" dirty="0"/>
            </a:p>
          </p:txBody>
        </p:sp>
        <p:sp>
          <p:nvSpPr>
            <p:cNvPr id="24" name="Seta: para a Direita 23">
              <a:extLst>
                <a:ext uri="{FF2B5EF4-FFF2-40B4-BE49-F238E27FC236}">
                  <a16:creationId xmlns:a16="http://schemas.microsoft.com/office/drawing/2014/main" id="{1355D4A1-2B91-87D0-E91D-299857188D8F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EC3B5394-E6DA-49FA-3A9E-3DEB631F392F}"/>
              </a:ext>
            </a:extLst>
          </p:cNvPr>
          <p:cNvGrpSpPr/>
          <p:nvPr/>
        </p:nvGrpSpPr>
        <p:grpSpPr>
          <a:xfrm>
            <a:off x="0" y="4172076"/>
            <a:ext cx="2091111" cy="307777"/>
            <a:chOff x="-12536" y="1932940"/>
            <a:chExt cx="2091111" cy="307777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9D5E3701-4B41-EB89-930B-5C10803F7AC1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Soma 1 (comp. de 2)</a:t>
              </a:r>
            </a:p>
          </p:txBody>
        </p:sp>
        <p:sp>
          <p:nvSpPr>
            <p:cNvPr id="27" name="Seta: para a Direita 26">
              <a:extLst>
                <a:ext uri="{FF2B5EF4-FFF2-40B4-BE49-F238E27FC236}">
                  <a16:creationId xmlns:a16="http://schemas.microsoft.com/office/drawing/2014/main" id="{2D89FA1D-4803-F610-2335-6041AF0CE640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ACFD0D5E-D836-048B-04EB-A132D3E65343}"/>
              </a:ext>
            </a:extLst>
          </p:cNvPr>
          <p:cNvGrpSpPr/>
          <p:nvPr/>
        </p:nvGrpSpPr>
        <p:grpSpPr>
          <a:xfrm>
            <a:off x="-12536" y="4982360"/>
            <a:ext cx="2091111" cy="523220"/>
            <a:chOff x="-12536" y="1932940"/>
            <a:chExt cx="2091111" cy="523220"/>
          </a:xfrm>
        </p:grpSpPr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C09991C2-0496-B8CF-D559-ADB78E0A7AC5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Jumper: se der ZERO </a:t>
              </a:r>
              <a:r>
                <a:rPr lang="pt-BR" sz="1400" i="1" dirty="0"/>
                <a:t>(resto)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C77FE17E-D396-9D62-5272-29387BE164F0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9AC15BAF-DB12-31D0-14C9-33635A603A0B}"/>
              </a:ext>
            </a:extLst>
          </p:cNvPr>
          <p:cNvGrpSpPr/>
          <p:nvPr/>
        </p:nvGrpSpPr>
        <p:grpSpPr>
          <a:xfrm>
            <a:off x="-176784" y="4567443"/>
            <a:ext cx="2255359" cy="292388"/>
            <a:chOff x="-176784" y="1932940"/>
            <a:chExt cx="2255359" cy="292388"/>
          </a:xfrm>
        </p:grpSpPr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B2A700B3-7D59-C09E-DCCD-A3F611FD46AD}"/>
                </a:ext>
              </a:extLst>
            </p:cNvPr>
            <p:cNvSpPr txBox="1"/>
            <p:nvPr/>
          </p:nvSpPr>
          <p:spPr>
            <a:xfrm>
              <a:off x="-176784" y="1932940"/>
              <a:ext cx="189641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300" dirty="0" err="1"/>
                <a:t>Copia_num</a:t>
              </a:r>
              <a:r>
                <a:rPr lang="pt-BR" sz="1300" dirty="0"/>
                <a:t> + (-</a:t>
              </a:r>
              <a:r>
                <a:rPr lang="pt-BR" sz="1300" dirty="0" err="1"/>
                <a:t>cópia_k</a:t>
              </a:r>
              <a:r>
                <a:rPr lang="pt-BR" sz="1300" dirty="0"/>
                <a:t>)</a:t>
              </a:r>
            </a:p>
          </p:txBody>
        </p:sp>
        <p:sp>
          <p:nvSpPr>
            <p:cNvPr id="33" name="Seta: para a Direita 32">
              <a:extLst>
                <a:ext uri="{FF2B5EF4-FFF2-40B4-BE49-F238E27FC236}">
                  <a16:creationId xmlns:a16="http://schemas.microsoft.com/office/drawing/2014/main" id="{81F64B5A-7C95-5836-B05A-30EA60B171C4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87B47C55-B2DA-301B-2D49-6BAA09EEDED2}"/>
              </a:ext>
            </a:extLst>
          </p:cNvPr>
          <p:cNvGrpSpPr/>
          <p:nvPr/>
        </p:nvGrpSpPr>
        <p:grpSpPr>
          <a:xfrm>
            <a:off x="196380" y="5929277"/>
            <a:ext cx="4451755" cy="764063"/>
            <a:chOff x="1740700" y="5929277"/>
            <a:chExt cx="4451755" cy="764063"/>
          </a:xfrm>
        </p:grpSpPr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D8FC2326-97C9-E2EA-CC3F-1E787E4D5F5B}"/>
                </a:ext>
              </a:extLst>
            </p:cNvPr>
            <p:cNvGrpSpPr/>
            <p:nvPr/>
          </p:nvGrpSpPr>
          <p:grpSpPr>
            <a:xfrm>
              <a:off x="1740701" y="5929277"/>
              <a:ext cx="4132162" cy="369332"/>
              <a:chOff x="544010" y="6261904"/>
              <a:chExt cx="4132162" cy="369332"/>
            </a:xfrm>
          </p:grpSpPr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A91299DC-28C6-2374-27E6-F9EEF87E6978}"/>
                  </a:ext>
                </a:extLst>
              </p:cNvPr>
              <p:cNvSpPr txBox="1"/>
              <p:nvPr/>
            </p:nvSpPr>
            <p:spPr>
              <a:xfrm>
                <a:off x="544010" y="6261904"/>
                <a:ext cx="41321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Sendo: </a:t>
                </a:r>
                <a:r>
                  <a:rPr lang="pt-BR" dirty="0">
                    <a:solidFill>
                      <a:srgbClr val="FF0000"/>
                    </a:solidFill>
                  </a:rPr>
                  <a:t>r</a:t>
                </a:r>
                <a:r>
                  <a:rPr lang="pt-BR" dirty="0"/>
                  <a:t>          resto da divisão num / k</a:t>
                </a:r>
              </a:p>
            </p:txBody>
          </p:sp>
          <p:sp>
            <p:nvSpPr>
              <p:cNvPr id="36" name="Seta: para a Direita 35">
                <a:extLst>
                  <a:ext uri="{FF2B5EF4-FFF2-40B4-BE49-F238E27FC236}">
                    <a16:creationId xmlns:a16="http://schemas.microsoft.com/office/drawing/2014/main" id="{205F61E4-53C2-06F0-0A4D-3B21AE065A27}"/>
                  </a:ext>
                </a:extLst>
              </p:cNvPr>
              <p:cNvSpPr/>
              <p:nvPr/>
            </p:nvSpPr>
            <p:spPr>
              <a:xfrm>
                <a:off x="1540225" y="6375519"/>
                <a:ext cx="266218" cy="140756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3C0673FF-CFF0-9053-889B-68110B992E28}"/>
                </a:ext>
              </a:extLst>
            </p:cNvPr>
            <p:cNvGrpSpPr/>
            <p:nvPr/>
          </p:nvGrpSpPr>
          <p:grpSpPr>
            <a:xfrm>
              <a:off x="1740700" y="6324008"/>
              <a:ext cx="4451755" cy="369332"/>
              <a:chOff x="544009" y="6261904"/>
              <a:chExt cx="4451755" cy="369332"/>
            </a:xfrm>
          </p:grpSpPr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3D6C42D9-842C-124C-E12E-D5349F91FC68}"/>
                  </a:ext>
                </a:extLst>
              </p:cNvPr>
              <p:cNvSpPr txBox="1"/>
              <p:nvPr/>
            </p:nvSpPr>
            <p:spPr>
              <a:xfrm>
                <a:off x="544009" y="6261904"/>
                <a:ext cx="44517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Sendo: </a:t>
                </a:r>
                <a:r>
                  <a:rPr lang="pt-BR" b="1" dirty="0">
                    <a:solidFill>
                      <a:srgbClr val="FF0000"/>
                    </a:solidFill>
                  </a:rPr>
                  <a:t>i</a:t>
                </a:r>
                <a:r>
                  <a:rPr lang="pt-BR" dirty="0"/>
                  <a:t>          quociente da divisão num / k</a:t>
                </a:r>
              </a:p>
            </p:txBody>
          </p:sp>
          <p:sp>
            <p:nvSpPr>
              <p:cNvPr id="40" name="Seta: para a Direita 39">
                <a:extLst>
                  <a:ext uri="{FF2B5EF4-FFF2-40B4-BE49-F238E27FC236}">
                    <a16:creationId xmlns:a16="http://schemas.microsoft.com/office/drawing/2014/main" id="{56E05229-8E61-BFC8-0EF2-1C67E82533DA}"/>
                  </a:ext>
                </a:extLst>
              </p:cNvPr>
              <p:cNvSpPr/>
              <p:nvPr/>
            </p:nvSpPr>
            <p:spPr>
              <a:xfrm>
                <a:off x="1540225" y="6375519"/>
                <a:ext cx="266218" cy="140756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27711CCF-E7CF-3E26-CA4B-1500A92CC1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917" t="18592" r="17833" b="13704"/>
          <a:stretch/>
        </p:blipFill>
        <p:spPr>
          <a:xfrm>
            <a:off x="8142141" y="1810424"/>
            <a:ext cx="1001859" cy="2022436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B3E69212-6A2B-E89F-1044-D96F553B9F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000" t="63473" r="33000" b="7432"/>
          <a:stretch/>
        </p:blipFill>
        <p:spPr>
          <a:xfrm>
            <a:off x="5055515" y="197094"/>
            <a:ext cx="2347784" cy="10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2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C55FC02-D9AB-154E-8880-84F3A1AFCA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34" t="29240" r="28987" b="22378"/>
          <a:stretch/>
        </p:blipFill>
        <p:spPr>
          <a:xfrm>
            <a:off x="1740701" y="1217821"/>
            <a:ext cx="7279731" cy="4686057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41A8A10-123B-9250-3355-51377E72C87F}"/>
              </a:ext>
            </a:extLst>
          </p:cNvPr>
          <p:cNvGrpSpPr/>
          <p:nvPr/>
        </p:nvGrpSpPr>
        <p:grpSpPr>
          <a:xfrm>
            <a:off x="-12536" y="1932940"/>
            <a:ext cx="2091111" cy="307777"/>
            <a:chOff x="-12536" y="1932940"/>
            <a:chExt cx="2091111" cy="307777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70F219BF-1C73-60A0-FBAA-6D5FA14B2924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Carrega k</a:t>
              </a:r>
            </a:p>
          </p:txBody>
        </p:sp>
        <p:sp>
          <p:nvSpPr>
            <p:cNvPr id="6" name="Seta: para a Direita 5">
              <a:extLst>
                <a:ext uri="{FF2B5EF4-FFF2-40B4-BE49-F238E27FC236}">
                  <a16:creationId xmlns:a16="http://schemas.microsoft.com/office/drawing/2014/main" id="{E7979D5B-01DF-6F40-83DD-FEF9EC4BEE6A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B315DA9-05F1-8D7F-A456-6E10735D6AA2}"/>
              </a:ext>
            </a:extLst>
          </p:cNvPr>
          <p:cNvGrpSpPr/>
          <p:nvPr/>
        </p:nvGrpSpPr>
        <p:grpSpPr>
          <a:xfrm>
            <a:off x="-12536" y="2341773"/>
            <a:ext cx="2091111" cy="307777"/>
            <a:chOff x="-12536" y="1932940"/>
            <a:chExt cx="2091111" cy="307777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53DF627D-E1A8-8E2B-3C1B-5A62E43085A0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 err="1"/>
                <a:t>Copia_k</a:t>
              </a:r>
              <a:r>
                <a:rPr lang="pt-BR" sz="1400" dirty="0"/>
                <a:t> = k</a:t>
              </a:r>
            </a:p>
          </p:txBody>
        </p:sp>
        <p:sp>
          <p:nvSpPr>
            <p:cNvPr id="10" name="Seta: para a Direita 9">
              <a:extLst>
                <a:ext uri="{FF2B5EF4-FFF2-40B4-BE49-F238E27FC236}">
                  <a16:creationId xmlns:a16="http://schemas.microsoft.com/office/drawing/2014/main" id="{F95E0F49-6CDE-DBC7-078C-AF10E09AF9E6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895E079-A182-C2E0-3643-E411BAEFB359}"/>
              </a:ext>
            </a:extLst>
          </p:cNvPr>
          <p:cNvGrpSpPr/>
          <p:nvPr/>
        </p:nvGrpSpPr>
        <p:grpSpPr>
          <a:xfrm>
            <a:off x="-12536" y="2750606"/>
            <a:ext cx="2091111" cy="307777"/>
            <a:chOff x="-12536" y="1932940"/>
            <a:chExt cx="2091111" cy="30777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70F01C0-B291-AE09-46A7-06E7C9BE8A20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Carrega num</a:t>
              </a:r>
            </a:p>
          </p:txBody>
        </p:sp>
        <p:sp>
          <p:nvSpPr>
            <p:cNvPr id="15" name="Seta: para a Direita 14">
              <a:extLst>
                <a:ext uri="{FF2B5EF4-FFF2-40B4-BE49-F238E27FC236}">
                  <a16:creationId xmlns:a16="http://schemas.microsoft.com/office/drawing/2014/main" id="{DF3FD859-1DFA-00AC-747B-8A576EDA127F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1A2030A-5CFC-59A8-4A27-8B620147732C}"/>
              </a:ext>
            </a:extLst>
          </p:cNvPr>
          <p:cNvGrpSpPr/>
          <p:nvPr/>
        </p:nvGrpSpPr>
        <p:grpSpPr>
          <a:xfrm>
            <a:off x="0" y="3165494"/>
            <a:ext cx="2091111" cy="307777"/>
            <a:chOff x="-12536" y="1932940"/>
            <a:chExt cx="2091111" cy="307777"/>
          </a:xfrm>
        </p:grpSpPr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627F9F63-64BF-5987-F1C3-9332E3D95157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 err="1"/>
                <a:t>Copia_num</a:t>
              </a:r>
              <a:r>
                <a:rPr lang="pt-BR" sz="1400" dirty="0"/>
                <a:t> = num</a:t>
              </a:r>
            </a:p>
          </p:txBody>
        </p:sp>
        <p:sp>
          <p:nvSpPr>
            <p:cNvPr id="18" name="Seta: para a Direita 17">
              <a:extLst>
                <a:ext uri="{FF2B5EF4-FFF2-40B4-BE49-F238E27FC236}">
                  <a16:creationId xmlns:a16="http://schemas.microsoft.com/office/drawing/2014/main" id="{A7062FE8-6682-C547-07A5-DD0C92814299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B4234BF6-AA4E-9266-33C8-7EC0AB4CEAB5}"/>
              </a:ext>
            </a:extLst>
          </p:cNvPr>
          <p:cNvGrpSpPr/>
          <p:nvPr/>
        </p:nvGrpSpPr>
        <p:grpSpPr>
          <a:xfrm>
            <a:off x="0" y="3555880"/>
            <a:ext cx="2091111" cy="307777"/>
            <a:chOff x="-12536" y="1932940"/>
            <a:chExt cx="2091111" cy="307777"/>
          </a:xfrm>
        </p:grpSpPr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8E029EE2-0A0B-3A53-4812-28A10ECCB4AE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Carrega </a:t>
              </a:r>
              <a:r>
                <a:rPr lang="pt-BR" sz="1400" dirty="0" err="1"/>
                <a:t>copia_k</a:t>
              </a:r>
              <a:endParaRPr lang="pt-BR" sz="1400" dirty="0"/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B7E47A05-B613-2BDB-E527-AD3C950A8252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C0ED04C-60CD-A1E5-FDFD-A8710D8DB5A4}"/>
              </a:ext>
            </a:extLst>
          </p:cNvPr>
          <p:cNvGrpSpPr/>
          <p:nvPr/>
        </p:nvGrpSpPr>
        <p:grpSpPr>
          <a:xfrm>
            <a:off x="-109728" y="3975999"/>
            <a:ext cx="2188303" cy="307777"/>
            <a:chOff x="-109728" y="1932940"/>
            <a:chExt cx="2188303" cy="307777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D932BC08-EB9A-CE57-B616-3ADAC8EFBBA5}"/>
                </a:ext>
              </a:extLst>
            </p:cNvPr>
            <p:cNvSpPr txBox="1"/>
            <p:nvPr/>
          </p:nvSpPr>
          <p:spPr>
            <a:xfrm>
              <a:off x="-109728" y="1932940"/>
              <a:ext cx="18293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Complementa </a:t>
              </a:r>
              <a:r>
                <a:rPr lang="pt-BR" sz="1400" dirty="0" err="1"/>
                <a:t>copia_k</a:t>
              </a:r>
              <a:endParaRPr lang="pt-BR" sz="1400" dirty="0"/>
            </a:p>
          </p:txBody>
        </p:sp>
        <p:sp>
          <p:nvSpPr>
            <p:cNvPr id="24" name="Seta: para a Direita 23">
              <a:extLst>
                <a:ext uri="{FF2B5EF4-FFF2-40B4-BE49-F238E27FC236}">
                  <a16:creationId xmlns:a16="http://schemas.microsoft.com/office/drawing/2014/main" id="{1355D4A1-2B91-87D0-E91D-299857188D8F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EC3B5394-E6DA-49FA-3A9E-3DEB631F392F}"/>
              </a:ext>
            </a:extLst>
          </p:cNvPr>
          <p:cNvGrpSpPr/>
          <p:nvPr/>
        </p:nvGrpSpPr>
        <p:grpSpPr>
          <a:xfrm>
            <a:off x="0" y="4172076"/>
            <a:ext cx="2091111" cy="307777"/>
            <a:chOff x="-12536" y="1932940"/>
            <a:chExt cx="2091111" cy="307777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9D5E3701-4B41-EB89-930B-5C10803F7AC1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Soma 1 (comp. de 2)</a:t>
              </a:r>
            </a:p>
          </p:txBody>
        </p:sp>
        <p:sp>
          <p:nvSpPr>
            <p:cNvPr id="27" name="Seta: para a Direita 26">
              <a:extLst>
                <a:ext uri="{FF2B5EF4-FFF2-40B4-BE49-F238E27FC236}">
                  <a16:creationId xmlns:a16="http://schemas.microsoft.com/office/drawing/2014/main" id="{2D89FA1D-4803-F610-2335-6041AF0CE640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ACFD0D5E-D836-048B-04EB-A132D3E65343}"/>
              </a:ext>
            </a:extLst>
          </p:cNvPr>
          <p:cNvGrpSpPr/>
          <p:nvPr/>
        </p:nvGrpSpPr>
        <p:grpSpPr>
          <a:xfrm>
            <a:off x="-12536" y="4982360"/>
            <a:ext cx="2091111" cy="307777"/>
            <a:chOff x="-12536" y="1932940"/>
            <a:chExt cx="2091111" cy="307777"/>
          </a:xfrm>
        </p:grpSpPr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C09991C2-0496-B8CF-D559-ADB78E0A7AC5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Jumper: se der ZERO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C77FE17E-D396-9D62-5272-29387BE164F0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9AC15BAF-DB12-31D0-14C9-33635A603A0B}"/>
              </a:ext>
            </a:extLst>
          </p:cNvPr>
          <p:cNvGrpSpPr/>
          <p:nvPr/>
        </p:nvGrpSpPr>
        <p:grpSpPr>
          <a:xfrm>
            <a:off x="-176784" y="4567443"/>
            <a:ext cx="2255359" cy="292388"/>
            <a:chOff x="-176784" y="1932940"/>
            <a:chExt cx="2255359" cy="292388"/>
          </a:xfrm>
        </p:grpSpPr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B2A700B3-7D59-C09E-DCCD-A3F611FD46AD}"/>
                </a:ext>
              </a:extLst>
            </p:cNvPr>
            <p:cNvSpPr txBox="1"/>
            <p:nvPr/>
          </p:nvSpPr>
          <p:spPr>
            <a:xfrm>
              <a:off x="-176784" y="1932940"/>
              <a:ext cx="189641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300" dirty="0" err="1"/>
                <a:t>Copia_num</a:t>
              </a:r>
              <a:r>
                <a:rPr lang="pt-BR" sz="1300" dirty="0"/>
                <a:t> + (-</a:t>
              </a:r>
              <a:r>
                <a:rPr lang="pt-BR" sz="1300" dirty="0" err="1"/>
                <a:t>cópia_k</a:t>
              </a:r>
              <a:r>
                <a:rPr lang="pt-BR" sz="1300" dirty="0"/>
                <a:t>)</a:t>
              </a:r>
            </a:p>
          </p:txBody>
        </p:sp>
        <p:sp>
          <p:nvSpPr>
            <p:cNvPr id="33" name="Seta: para a Direita 32">
              <a:extLst>
                <a:ext uri="{FF2B5EF4-FFF2-40B4-BE49-F238E27FC236}">
                  <a16:creationId xmlns:a16="http://schemas.microsoft.com/office/drawing/2014/main" id="{81F64B5A-7C95-5836-B05A-30EA60B171C4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87B47C55-B2DA-301B-2D49-6BAA09EEDED2}"/>
              </a:ext>
            </a:extLst>
          </p:cNvPr>
          <p:cNvGrpSpPr/>
          <p:nvPr/>
        </p:nvGrpSpPr>
        <p:grpSpPr>
          <a:xfrm>
            <a:off x="1740700" y="5929277"/>
            <a:ext cx="4451755" cy="764063"/>
            <a:chOff x="1740700" y="5929277"/>
            <a:chExt cx="4451755" cy="764063"/>
          </a:xfrm>
        </p:grpSpPr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D8FC2326-97C9-E2EA-CC3F-1E787E4D5F5B}"/>
                </a:ext>
              </a:extLst>
            </p:cNvPr>
            <p:cNvGrpSpPr/>
            <p:nvPr/>
          </p:nvGrpSpPr>
          <p:grpSpPr>
            <a:xfrm>
              <a:off x="1740701" y="5929277"/>
              <a:ext cx="4132162" cy="369332"/>
              <a:chOff x="544010" y="6261904"/>
              <a:chExt cx="4132162" cy="369332"/>
            </a:xfrm>
          </p:grpSpPr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A91299DC-28C6-2374-27E6-F9EEF87E6978}"/>
                  </a:ext>
                </a:extLst>
              </p:cNvPr>
              <p:cNvSpPr txBox="1"/>
              <p:nvPr/>
            </p:nvSpPr>
            <p:spPr>
              <a:xfrm>
                <a:off x="544010" y="6261904"/>
                <a:ext cx="41321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Sendo: </a:t>
                </a:r>
                <a:r>
                  <a:rPr lang="pt-BR" dirty="0">
                    <a:solidFill>
                      <a:srgbClr val="FF0000"/>
                    </a:solidFill>
                  </a:rPr>
                  <a:t>r</a:t>
                </a:r>
                <a:r>
                  <a:rPr lang="pt-BR" dirty="0"/>
                  <a:t>          resto da divisão num / k</a:t>
                </a:r>
              </a:p>
            </p:txBody>
          </p:sp>
          <p:sp>
            <p:nvSpPr>
              <p:cNvPr id="36" name="Seta: para a Direita 35">
                <a:extLst>
                  <a:ext uri="{FF2B5EF4-FFF2-40B4-BE49-F238E27FC236}">
                    <a16:creationId xmlns:a16="http://schemas.microsoft.com/office/drawing/2014/main" id="{205F61E4-53C2-06F0-0A4D-3B21AE065A27}"/>
                  </a:ext>
                </a:extLst>
              </p:cNvPr>
              <p:cNvSpPr/>
              <p:nvPr/>
            </p:nvSpPr>
            <p:spPr>
              <a:xfrm>
                <a:off x="1540225" y="6375519"/>
                <a:ext cx="266218" cy="140756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3C0673FF-CFF0-9053-889B-68110B992E28}"/>
                </a:ext>
              </a:extLst>
            </p:cNvPr>
            <p:cNvGrpSpPr/>
            <p:nvPr/>
          </p:nvGrpSpPr>
          <p:grpSpPr>
            <a:xfrm>
              <a:off x="1740700" y="6324008"/>
              <a:ext cx="4451755" cy="369332"/>
              <a:chOff x="544009" y="6261904"/>
              <a:chExt cx="4451755" cy="369332"/>
            </a:xfrm>
          </p:grpSpPr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3D6C42D9-842C-124C-E12E-D5349F91FC68}"/>
                  </a:ext>
                </a:extLst>
              </p:cNvPr>
              <p:cNvSpPr txBox="1"/>
              <p:nvPr/>
            </p:nvSpPr>
            <p:spPr>
              <a:xfrm>
                <a:off x="544009" y="6261904"/>
                <a:ext cx="44517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Sendo: </a:t>
                </a:r>
                <a:r>
                  <a:rPr lang="pt-BR" b="1" dirty="0">
                    <a:solidFill>
                      <a:srgbClr val="FF0000"/>
                    </a:solidFill>
                  </a:rPr>
                  <a:t>i</a:t>
                </a:r>
                <a:r>
                  <a:rPr lang="pt-BR" dirty="0"/>
                  <a:t>          quociente da divisão num / k</a:t>
                </a:r>
              </a:p>
            </p:txBody>
          </p:sp>
          <p:sp>
            <p:nvSpPr>
              <p:cNvPr id="40" name="Seta: para a Direita 39">
                <a:extLst>
                  <a:ext uri="{FF2B5EF4-FFF2-40B4-BE49-F238E27FC236}">
                    <a16:creationId xmlns:a16="http://schemas.microsoft.com/office/drawing/2014/main" id="{56E05229-8E61-BFC8-0EF2-1C67E82533DA}"/>
                  </a:ext>
                </a:extLst>
              </p:cNvPr>
              <p:cNvSpPr/>
              <p:nvPr/>
            </p:nvSpPr>
            <p:spPr>
              <a:xfrm>
                <a:off x="1540225" y="6375519"/>
                <a:ext cx="266218" cy="140756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27711CCF-E7CF-3E26-CA4B-1500A92CC1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917" t="18592" r="17833" b="13704"/>
          <a:stretch/>
        </p:blipFill>
        <p:spPr>
          <a:xfrm>
            <a:off x="8142141" y="1810424"/>
            <a:ext cx="1001859" cy="202243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533C50D-A27D-DECA-8040-11AC612700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917" t="18592" r="17833" b="13704"/>
          <a:stretch/>
        </p:blipFill>
        <p:spPr>
          <a:xfrm>
            <a:off x="6432496" y="5448115"/>
            <a:ext cx="941241" cy="1365546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19F6FE99-9E21-317C-E1A7-D65A0D322D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000" t="63473" r="33000" b="7432"/>
          <a:stretch/>
        </p:blipFill>
        <p:spPr>
          <a:xfrm>
            <a:off x="5055515" y="197094"/>
            <a:ext cx="2347784" cy="10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0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82AF099-8183-C2B1-CAA3-0F0BA93F21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56" t="28963" r="29111" b="22444"/>
          <a:stretch/>
        </p:blipFill>
        <p:spPr>
          <a:xfrm>
            <a:off x="1634655" y="1192422"/>
            <a:ext cx="7385778" cy="4768770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B9363981-C60E-2C6C-155B-AC7126B9A04C}"/>
              </a:ext>
            </a:extLst>
          </p:cNvPr>
          <p:cNvGrpSpPr/>
          <p:nvPr/>
        </p:nvGrpSpPr>
        <p:grpSpPr>
          <a:xfrm>
            <a:off x="-225552" y="2405528"/>
            <a:ext cx="2212687" cy="276999"/>
            <a:chOff x="-134112" y="1968648"/>
            <a:chExt cx="2212687" cy="276999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5F4AC7CD-20DE-EEEE-D429-58B989B29153}"/>
                </a:ext>
              </a:extLst>
            </p:cNvPr>
            <p:cNvSpPr txBox="1"/>
            <p:nvPr/>
          </p:nvSpPr>
          <p:spPr>
            <a:xfrm>
              <a:off x="-134112" y="1968648"/>
              <a:ext cx="19147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200" dirty="0"/>
                <a:t>Jumper: se der NEGATIVO</a:t>
              </a:r>
            </a:p>
          </p:txBody>
        </p:sp>
        <p:sp>
          <p:nvSpPr>
            <p:cNvPr id="6" name="Seta: para a Direita 5">
              <a:extLst>
                <a:ext uri="{FF2B5EF4-FFF2-40B4-BE49-F238E27FC236}">
                  <a16:creationId xmlns:a16="http://schemas.microsoft.com/office/drawing/2014/main" id="{0EEDB58A-0E0C-7700-5D72-C59E546280DF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DC17093-9558-9FE3-3F3D-BC14354D1844}"/>
              </a:ext>
            </a:extLst>
          </p:cNvPr>
          <p:cNvGrpSpPr/>
          <p:nvPr/>
        </p:nvGrpSpPr>
        <p:grpSpPr>
          <a:xfrm>
            <a:off x="-103976" y="3180819"/>
            <a:ext cx="2091111" cy="307777"/>
            <a:chOff x="-12536" y="1932940"/>
            <a:chExt cx="2091111" cy="307777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FC299808-FC81-BB8B-69A0-414255BC72A6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Carrega i</a:t>
              </a:r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2CF085C4-278C-CDD5-CD2C-6BD5181A5837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7CFC334A-7032-F9D5-B6C1-D03ADEBCF52C}"/>
              </a:ext>
            </a:extLst>
          </p:cNvPr>
          <p:cNvGrpSpPr/>
          <p:nvPr/>
        </p:nvGrpSpPr>
        <p:grpSpPr>
          <a:xfrm>
            <a:off x="42672" y="2807967"/>
            <a:ext cx="1944463" cy="400110"/>
            <a:chOff x="134112" y="1968648"/>
            <a:chExt cx="1944463" cy="400110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0BD59AA-28D6-99B2-D756-592A1A8FA846}"/>
                </a:ext>
              </a:extLst>
            </p:cNvPr>
            <p:cNvSpPr txBox="1"/>
            <p:nvPr/>
          </p:nvSpPr>
          <p:spPr>
            <a:xfrm>
              <a:off x="134112" y="1968648"/>
              <a:ext cx="152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 err="1"/>
                <a:t>Copia_num</a:t>
              </a:r>
              <a:r>
                <a:rPr lang="pt-BR" sz="1000" dirty="0"/>
                <a:t> = acumulador (guarda)</a:t>
              </a:r>
            </a:p>
          </p:txBody>
        </p:sp>
        <p:sp>
          <p:nvSpPr>
            <p:cNvPr id="12" name="Seta: para a Direita 11">
              <a:extLst>
                <a:ext uri="{FF2B5EF4-FFF2-40B4-BE49-F238E27FC236}">
                  <a16:creationId xmlns:a16="http://schemas.microsoft.com/office/drawing/2014/main" id="{AF7F72FE-5437-8E73-6A2C-8D4D70572C5E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676D820-D3E1-A309-E052-0AB1B38457E2}"/>
              </a:ext>
            </a:extLst>
          </p:cNvPr>
          <p:cNvGrpSpPr/>
          <p:nvPr/>
        </p:nvGrpSpPr>
        <p:grpSpPr>
          <a:xfrm>
            <a:off x="-103976" y="3589602"/>
            <a:ext cx="2091111" cy="307777"/>
            <a:chOff x="-12536" y="1932940"/>
            <a:chExt cx="2091111" cy="307777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71CA6C0C-76FB-1361-EF9D-142DA70D1D04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i + 1</a:t>
              </a:r>
            </a:p>
          </p:txBody>
        </p:sp>
        <p:sp>
          <p:nvSpPr>
            <p:cNvPr id="16" name="Seta: para a Direita 15">
              <a:extLst>
                <a:ext uri="{FF2B5EF4-FFF2-40B4-BE49-F238E27FC236}">
                  <a16:creationId xmlns:a16="http://schemas.microsoft.com/office/drawing/2014/main" id="{E9BD1011-1DBD-959D-6EF9-71A875B71165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50648BA-7803-B084-F0CA-34566158C8AA}"/>
              </a:ext>
            </a:extLst>
          </p:cNvPr>
          <p:cNvGrpSpPr/>
          <p:nvPr/>
        </p:nvGrpSpPr>
        <p:grpSpPr>
          <a:xfrm>
            <a:off x="-103976" y="3995339"/>
            <a:ext cx="2091111" cy="307777"/>
            <a:chOff x="-12536" y="1932940"/>
            <a:chExt cx="2091111" cy="307777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E36CEA68-5567-A17E-4D0E-A20F8040DE7C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Guarda i</a:t>
              </a:r>
            </a:p>
          </p:txBody>
        </p:sp>
        <p:sp>
          <p:nvSpPr>
            <p:cNvPr id="19" name="Seta: para a Direita 18">
              <a:extLst>
                <a:ext uri="{FF2B5EF4-FFF2-40B4-BE49-F238E27FC236}">
                  <a16:creationId xmlns:a16="http://schemas.microsoft.com/office/drawing/2014/main" id="{698FDA6F-E02D-661D-1C0A-59442B09BA2E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CCC01C59-D040-5815-41E9-33ED8BDAE96B}"/>
              </a:ext>
            </a:extLst>
          </p:cNvPr>
          <p:cNvGrpSpPr/>
          <p:nvPr/>
        </p:nvGrpSpPr>
        <p:grpSpPr>
          <a:xfrm>
            <a:off x="-103976" y="4416364"/>
            <a:ext cx="2091111" cy="307777"/>
            <a:chOff x="-12536" y="1932940"/>
            <a:chExt cx="2091111" cy="307777"/>
          </a:xfrm>
        </p:grpSpPr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C213B5BE-A315-DD56-A30E-463A77F08569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Repete a subtração</a:t>
              </a:r>
            </a:p>
          </p:txBody>
        </p:sp>
        <p:sp>
          <p:nvSpPr>
            <p:cNvPr id="22" name="Seta: para a Direita 21">
              <a:extLst>
                <a:ext uri="{FF2B5EF4-FFF2-40B4-BE49-F238E27FC236}">
                  <a16:creationId xmlns:a16="http://schemas.microsoft.com/office/drawing/2014/main" id="{7B7F393D-F5BB-5686-7D9C-E855C8EFBC95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5DA599E-97A1-1CC2-CC91-97750185954F}"/>
              </a:ext>
            </a:extLst>
          </p:cNvPr>
          <p:cNvGrpSpPr/>
          <p:nvPr/>
        </p:nvGrpSpPr>
        <p:grpSpPr>
          <a:xfrm>
            <a:off x="-103976" y="4831279"/>
            <a:ext cx="2091111" cy="307777"/>
            <a:chOff x="-12536" y="1932940"/>
            <a:chExt cx="2091111" cy="307777"/>
          </a:xfrm>
        </p:grpSpPr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FC1D9EA5-FEF5-097C-E6E5-0C21B828E8DA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Carrega i</a:t>
              </a:r>
            </a:p>
          </p:txBody>
        </p:sp>
        <p:sp>
          <p:nvSpPr>
            <p:cNvPr id="25" name="Seta: para a Direita 24">
              <a:extLst>
                <a:ext uri="{FF2B5EF4-FFF2-40B4-BE49-F238E27FC236}">
                  <a16:creationId xmlns:a16="http://schemas.microsoft.com/office/drawing/2014/main" id="{5289D8A4-9178-BCB3-D871-7A81D81260E4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E031389F-F5AB-D25D-AC7F-E8A386B96AA9}"/>
              </a:ext>
            </a:extLst>
          </p:cNvPr>
          <p:cNvGrpSpPr/>
          <p:nvPr/>
        </p:nvGrpSpPr>
        <p:grpSpPr>
          <a:xfrm>
            <a:off x="1740700" y="5929277"/>
            <a:ext cx="4451755" cy="764063"/>
            <a:chOff x="1740700" y="5929277"/>
            <a:chExt cx="4451755" cy="764063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96182A7B-213B-A911-8937-7EB27410F7C9}"/>
                </a:ext>
              </a:extLst>
            </p:cNvPr>
            <p:cNvGrpSpPr/>
            <p:nvPr/>
          </p:nvGrpSpPr>
          <p:grpSpPr>
            <a:xfrm>
              <a:off x="1740701" y="5929277"/>
              <a:ext cx="4132162" cy="369332"/>
              <a:chOff x="544010" y="6261904"/>
              <a:chExt cx="4132162" cy="369332"/>
            </a:xfrm>
          </p:grpSpPr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D6F227F6-9164-8DDA-84FB-2A63E90305A5}"/>
                  </a:ext>
                </a:extLst>
              </p:cNvPr>
              <p:cNvSpPr txBox="1"/>
              <p:nvPr/>
            </p:nvSpPr>
            <p:spPr>
              <a:xfrm>
                <a:off x="544010" y="6261904"/>
                <a:ext cx="41321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Sendo: </a:t>
                </a:r>
                <a:r>
                  <a:rPr lang="pt-BR" dirty="0">
                    <a:solidFill>
                      <a:srgbClr val="FF0000"/>
                    </a:solidFill>
                  </a:rPr>
                  <a:t>r</a:t>
                </a:r>
                <a:r>
                  <a:rPr lang="pt-BR" dirty="0"/>
                  <a:t>          resto da divisão num / k</a:t>
                </a:r>
              </a:p>
            </p:txBody>
          </p:sp>
          <p:sp>
            <p:nvSpPr>
              <p:cNvPr id="32" name="Seta: para a Direita 31">
                <a:extLst>
                  <a:ext uri="{FF2B5EF4-FFF2-40B4-BE49-F238E27FC236}">
                    <a16:creationId xmlns:a16="http://schemas.microsoft.com/office/drawing/2014/main" id="{F0A6EC14-C54C-4885-0EA8-19CC775B8E49}"/>
                  </a:ext>
                </a:extLst>
              </p:cNvPr>
              <p:cNvSpPr/>
              <p:nvPr/>
            </p:nvSpPr>
            <p:spPr>
              <a:xfrm>
                <a:off x="1540225" y="6375519"/>
                <a:ext cx="266218" cy="140756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8B3BAA94-94CC-0E27-8A4C-8E1F5DCEB3CF}"/>
                </a:ext>
              </a:extLst>
            </p:cNvPr>
            <p:cNvGrpSpPr/>
            <p:nvPr/>
          </p:nvGrpSpPr>
          <p:grpSpPr>
            <a:xfrm>
              <a:off x="1740700" y="6324008"/>
              <a:ext cx="4451755" cy="369332"/>
              <a:chOff x="544009" y="6261904"/>
              <a:chExt cx="4451755" cy="369332"/>
            </a:xfrm>
          </p:grpSpPr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8EBBA8E5-5377-28E5-7308-C18E8273EEF7}"/>
                  </a:ext>
                </a:extLst>
              </p:cNvPr>
              <p:cNvSpPr txBox="1"/>
              <p:nvPr/>
            </p:nvSpPr>
            <p:spPr>
              <a:xfrm>
                <a:off x="544009" y="6261904"/>
                <a:ext cx="44517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Sendo: </a:t>
                </a:r>
                <a:r>
                  <a:rPr lang="pt-BR" b="1" dirty="0">
                    <a:solidFill>
                      <a:srgbClr val="FF0000"/>
                    </a:solidFill>
                  </a:rPr>
                  <a:t>i</a:t>
                </a:r>
                <a:r>
                  <a:rPr lang="pt-BR" dirty="0"/>
                  <a:t>          quociente da divisão num / k</a:t>
                </a:r>
              </a:p>
            </p:txBody>
          </p:sp>
          <p:sp>
            <p:nvSpPr>
              <p:cNvPr id="30" name="Seta: para a Direita 29">
                <a:extLst>
                  <a:ext uri="{FF2B5EF4-FFF2-40B4-BE49-F238E27FC236}">
                    <a16:creationId xmlns:a16="http://schemas.microsoft.com/office/drawing/2014/main" id="{D82FB6B3-8D86-E4B5-CA67-48BA6DF0E971}"/>
                  </a:ext>
                </a:extLst>
              </p:cNvPr>
              <p:cNvSpPr/>
              <p:nvPr/>
            </p:nvSpPr>
            <p:spPr>
              <a:xfrm>
                <a:off x="1540225" y="6375519"/>
                <a:ext cx="266218" cy="140756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44DE5052-9457-A512-2052-04084B162E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917" t="18592" r="17833" b="13704"/>
          <a:stretch/>
        </p:blipFill>
        <p:spPr>
          <a:xfrm>
            <a:off x="6432496" y="5427795"/>
            <a:ext cx="941241" cy="1365546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FCA7102B-4BCD-5CD2-BBA7-EB17498393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000" t="63473" r="33000" b="7432"/>
          <a:stretch/>
        </p:blipFill>
        <p:spPr>
          <a:xfrm>
            <a:off x="5055515" y="197094"/>
            <a:ext cx="2347784" cy="10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420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9967C4-104C-590E-972E-EDAAA0CB9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11" t="27976" r="29778" b="22445"/>
          <a:stretch/>
        </p:blipFill>
        <p:spPr>
          <a:xfrm>
            <a:off x="1727201" y="1109715"/>
            <a:ext cx="7047768" cy="4781053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9225363-124E-14F4-F88E-59F4D30DE953}"/>
              </a:ext>
            </a:extLst>
          </p:cNvPr>
          <p:cNvGrpSpPr/>
          <p:nvPr/>
        </p:nvGrpSpPr>
        <p:grpSpPr>
          <a:xfrm>
            <a:off x="-103976" y="2359928"/>
            <a:ext cx="2091111" cy="307777"/>
            <a:chOff x="-12536" y="1932940"/>
            <a:chExt cx="2091111" cy="30777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145D7B6B-A8D7-6748-790E-C5EBD2105458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i + 1</a:t>
              </a:r>
            </a:p>
          </p:txBody>
        </p:sp>
        <p:sp>
          <p:nvSpPr>
            <p:cNvPr id="15" name="Seta: para a Direita 14">
              <a:extLst>
                <a:ext uri="{FF2B5EF4-FFF2-40B4-BE49-F238E27FC236}">
                  <a16:creationId xmlns:a16="http://schemas.microsoft.com/office/drawing/2014/main" id="{BFD0B938-6D80-A2A3-D76F-D91CC6561DA1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E349951-AB22-CADB-0023-A7953F3CFA5A}"/>
              </a:ext>
            </a:extLst>
          </p:cNvPr>
          <p:cNvGrpSpPr/>
          <p:nvPr/>
        </p:nvGrpSpPr>
        <p:grpSpPr>
          <a:xfrm>
            <a:off x="-103976" y="2738886"/>
            <a:ext cx="2091111" cy="307777"/>
            <a:chOff x="-12536" y="1932940"/>
            <a:chExt cx="2091111" cy="307777"/>
          </a:xfrm>
        </p:grpSpPr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F404848C-79B0-DC41-3F0E-5DEFC4F50784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Guarda i</a:t>
              </a:r>
            </a:p>
          </p:txBody>
        </p:sp>
        <p:sp>
          <p:nvSpPr>
            <p:cNvPr id="18" name="Seta: para a Direita 17">
              <a:extLst>
                <a:ext uri="{FF2B5EF4-FFF2-40B4-BE49-F238E27FC236}">
                  <a16:creationId xmlns:a16="http://schemas.microsoft.com/office/drawing/2014/main" id="{495B598E-1984-F7D8-69E6-31F0CF4AF995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DFD54113-80A1-A418-1E9E-C88B8ACBDB6B}"/>
              </a:ext>
            </a:extLst>
          </p:cNvPr>
          <p:cNvGrpSpPr/>
          <p:nvPr/>
        </p:nvGrpSpPr>
        <p:grpSpPr>
          <a:xfrm>
            <a:off x="-103976" y="3148560"/>
            <a:ext cx="2091111" cy="307777"/>
            <a:chOff x="-12536" y="1932940"/>
            <a:chExt cx="2091111" cy="307777"/>
          </a:xfrm>
        </p:grpSpPr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C85C2B32-0EDE-0618-27D3-24FE6918612F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Encerra o programa</a:t>
              </a:r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FF4D3DD1-04F0-497D-1B27-2AB3FEAB1D9A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E8FA474-626A-D54B-47D3-D4D75790836B}"/>
              </a:ext>
            </a:extLst>
          </p:cNvPr>
          <p:cNvGrpSpPr/>
          <p:nvPr/>
        </p:nvGrpSpPr>
        <p:grpSpPr>
          <a:xfrm>
            <a:off x="-103976" y="3353986"/>
            <a:ext cx="2091111" cy="307777"/>
            <a:chOff x="-12536" y="1932940"/>
            <a:chExt cx="2091111" cy="307777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41BF053B-D048-4013-D3FB-196ECC4A8AB1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Carrega </a:t>
              </a:r>
              <a:r>
                <a:rPr lang="pt-BR" sz="1400" dirty="0" err="1"/>
                <a:t>copia_num</a:t>
              </a:r>
              <a:endParaRPr lang="pt-BR" sz="1400" dirty="0"/>
            </a:p>
          </p:txBody>
        </p:sp>
        <p:sp>
          <p:nvSpPr>
            <p:cNvPr id="24" name="Seta: para a Direita 23">
              <a:extLst>
                <a:ext uri="{FF2B5EF4-FFF2-40B4-BE49-F238E27FC236}">
                  <a16:creationId xmlns:a16="http://schemas.microsoft.com/office/drawing/2014/main" id="{E9F91D5D-91AE-A8CA-61DD-737659BB647D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0485E828-BF86-8156-9DAE-0DDB9D729B5C}"/>
              </a:ext>
            </a:extLst>
          </p:cNvPr>
          <p:cNvGrpSpPr/>
          <p:nvPr/>
        </p:nvGrpSpPr>
        <p:grpSpPr>
          <a:xfrm>
            <a:off x="-103976" y="3772460"/>
            <a:ext cx="2091111" cy="307777"/>
            <a:chOff x="-12536" y="1932940"/>
            <a:chExt cx="2091111" cy="307777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E56AED84-592E-8D2E-74E6-A5A0ECF46DEF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Guarda r</a:t>
              </a:r>
            </a:p>
          </p:txBody>
        </p:sp>
        <p:sp>
          <p:nvSpPr>
            <p:cNvPr id="27" name="Seta: para a Direita 26">
              <a:extLst>
                <a:ext uri="{FF2B5EF4-FFF2-40B4-BE49-F238E27FC236}">
                  <a16:creationId xmlns:a16="http://schemas.microsoft.com/office/drawing/2014/main" id="{4E746018-1501-0D5F-8788-75FB9C875737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584EE61-EAB9-BFEF-04AF-0D7D31C1AD48}"/>
              </a:ext>
            </a:extLst>
          </p:cNvPr>
          <p:cNvGrpSpPr/>
          <p:nvPr/>
        </p:nvGrpSpPr>
        <p:grpSpPr>
          <a:xfrm>
            <a:off x="-103976" y="4163184"/>
            <a:ext cx="2091111" cy="307777"/>
            <a:chOff x="-12536" y="1932940"/>
            <a:chExt cx="2091111" cy="307777"/>
          </a:xfrm>
        </p:grpSpPr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CB08E340-8FF6-0B78-9B7F-F12FE9F3D3D7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Encerra o programa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D488AB4C-16C3-E0A6-D67B-B4790A7BACD3}"/>
                </a:ext>
              </a:extLst>
            </p:cNvPr>
            <p:cNvSpPr/>
            <p:nvPr/>
          </p:nvSpPr>
          <p:spPr>
            <a:xfrm>
              <a:off x="1719634" y="2046188"/>
              <a:ext cx="358941" cy="12192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541BBF10-BE49-650A-2866-70A9F00DDBC4}"/>
              </a:ext>
            </a:extLst>
          </p:cNvPr>
          <p:cNvGrpSpPr/>
          <p:nvPr/>
        </p:nvGrpSpPr>
        <p:grpSpPr>
          <a:xfrm>
            <a:off x="1740700" y="5929277"/>
            <a:ext cx="4451755" cy="764063"/>
            <a:chOff x="1740700" y="5929277"/>
            <a:chExt cx="4451755" cy="764063"/>
          </a:xfrm>
        </p:grpSpPr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B34E1754-3124-D82E-627D-925C18EC33E7}"/>
                </a:ext>
              </a:extLst>
            </p:cNvPr>
            <p:cNvGrpSpPr/>
            <p:nvPr/>
          </p:nvGrpSpPr>
          <p:grpSpPr>
            <a:xfrm>
              <a:off x="1740701" y="5929277"/>
              <a:ext cx="4132162" cy="369332"/>
              <a:chOff x="544010" y="6261904"/>
              <a:chExt cx="4132162" cy="369332"/>
            </a:xfrm>
          </p:grpSpPr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CABCF18A-894A-743C-AE75-ED7BFE73C92C}"/>
                  </a:ext>
                </a:extLst>
              </p:cNvPr>
              <p:cNvSpPr txBox="1"/>
              <p:nvPr/>
            </p:nvSpPr>
            <p:spPr>
              <a:xfrm>
                <a:off x="544010" y="6261904"/>
                <a:ext cx="41321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Sendo: </a:t>
                </a:r>
                <a:r>
                  <a:rPr lang="pt-BR" dirty="0">
                    <a:solidFill>
                      <a:srgbClr val="FF0000"/>
                    </a:solidFill>
                  </a:rPr>
                  <a:t>r</a:t>
                </a:r>
                <a:r>
                  <a:rPr lang="pt-BR" dirty="0"/>
                  <a:t>          resto da divisão num / k</a:t>
                </a:r>
              </a:p>
            </p:txBody>
          </p:sp>
          <p:sp>
            <p:nvSpPr>
              <p:cNvPr id="37" name="Seta: para a Direita 36">
                <a:extLst>
                  <a:ext uri="{FF2B5EF4-FFF2-40B4-BE49-F238E27FC236}">
                    <a16:creationId xmlns:a16="http://schemas.microsoft.com/office/drawing/2014/main" id="{D4355250-7BCF-C528-2E6C-EDBD034E3896}"/>
                  </a:ext>
                </a:extLst>
              </p:cNvPr>
              <p:cNvSpPr/>
              <p:nvPr/>
            </p:nvSpPr>
            <p:spPr>
              <a:xfrm>
                <a:off x="1540225" y="6375519"/>
                <a:ext cx="266218" cy="140756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77AA523C-7B35-E817-CFFB-3FEB1C565E1B}"/>
                </a:ext>
              </a:extLst>
            </p:cNvPr>
            <p:cNvGrpSpPr/>
            <p:nvPr/>
          </p:nvGrpSpPr>
          <p:grpSpPr>
            <a:xfrm>
              <a:off x="1740700" y="6324008"/>
              <a:ext cx="4451755" cy="369332"/>
              <a:chOff x="544009" y="6261904"/>
              <a:chExt cx="4451755" cy="369332"/>
            </a:xfrm>
          </p:grpSpPr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7ABB67E8-66F4-2B1E-D710-E4B3ADF22A79}"/>
                  </a:ext>
                </a:extLst>
              </p:cNvPr>
              <p:cNvSpPr txBox="1"/>
              <p:nvPr/>
            </p:nvSpPr>
            <p:spPr>
              <a:xfrm>
                <a:off x="544009" y="6261904"/>
                <a:ext cx="44517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Sendo: </a:t>
                </a:r>
                <a:r>
                  <a:rPr lang="pt-BR" b="1" dirty="0">
                    <a:solidFill>
                      <a:srgbClr val="FF0000"/>
                    </a:solidFill>
                  </a:rPr>
                  <a:t>i</a:t>
                </a:r>
                <a:r>
                  <a:rPr lang="pt-BR" dirty="0"/>
                  <a:t>          quociente da divisão num / k</a:t>
                </a:r>
              </a:p>
            </p:txBody>
          </p:sp>
          <p:sp>
            <p:nvSpPr>
              <p:cNvPr id="35" name="Seta: para a Direita 34">
                <a:extLst>
                  <a:ext uri="{FF2B5EF4-FFF2-40B4-BE49-F238E27FC236}">
                    <a16:creationId xmlns:a16="http://schemas.microsoft.com/office/drawing/2014/main" id="{F45CE0A9-16C1-417D-C4ED-7DAA7576232D}"/>
                  </a:ext>
                </a:extLst>
              </p:cNvPr>
              <p:cNvSpPr/>
              <p:nvPr/>
            </p:nvSpPr>
            <p:spPr>
              <a:xfrm>
                <a:off x="1540225" y="6375519"/>
                <a:ext cx="266218" cy="140756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3D080E72-4B46-5F64-AB0D-AC528D6D28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917" t="18592" r="17833" b="13704"/>
          <a:stretch/>
        </p:blipFill>
        <p:spPr>
          <a:xfrm>
            <a:off x="6432496" y="5417635"/>
            <a:ext cx="941241" cy="136554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C47FD3E-7BE5-BCC7-5B85-F3ACB2D2BD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000" t="63473" r="33000" b="7432"/>
          <a:stretch/>
        </p:blipFill>
        <p:spPr>
          <a:xfrm>
            <a:off x="5055515" y="197094"/>
            <a:ext cx="2347784" cy="10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535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3BD964B-7FBB-8602-60CF-63D85DD9E7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67" t="36369" r="28500" b="15334"/>
          <a:stretch/>
        </p:blipFill>
        <p:spPr>
          <a:xfrm>
            <a:off x="304800" y="1288543"/>
            <a:ext cx="7451004" cy="4838700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05B820FA-B677-DDCE-EB9B-64619DB3C98C}"/>
              </a:ext>
            </a:extLst>
          </p:cNvPr>
          <p:cNvGrpSpPr/>
          <p:nvPr/>
        </p:nvGrpSpPr>
        <p:grpSpPr>
          <a:xfrm>
            <a:off x="6570049" y="3322537"/>
            <a:ext cx="2573951" cy="307777"/>
            <a:chOff x="-103976" y="1897553"/>
            <a:chExt cx="2573951" cy="307777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10B1E106-9E17-F359-C206-308A05407A33}"/>
                </a:ext>
              </a:extLst>
            </p:cNvPr>
            <p:cNvSpPr txBox="1"/>
            <p:nvPr/>
          </p:nvSpPr>
          <p:spPr>
            <a:xfrm>
              <a:off x="-103976" y="1897553"/>
              <a:ext cx="25739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Para adicionar + 1 </a:t>
              </a:r>
            </a:p>
          </p:txBody>
        </p:sp>
        <p:sp>
          <p:nvSpPr>
            <p:cNvPr id="6" name="Seta: para a Direita 5">
              <a:extLst>
                <a:ext uri="{FF2B5EF4-FFF2-40B4-BE49-F238E27FC236}">
                  <a16:creationId xmlns:a16="http://schemas.microsoft.com/office/drawing/2014/main" id="{8BD2C614-C638-5883-DED2-58B814C99F63}"/>
                </a:ext>
              </a:extLst>
            </p:cNvPr>
            <p:cNvSpPr/>
            <p:nvPr/>
          </p:nvSpPr>
          <p:spPr>
            <a:xfrm rot="10800000">
              <a:off x="674078" y="1990482"/>
              <a:ext cx="358941" cy="12192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45C61C3-DB58-75CE-6827-46CA009AAA29}"/>
              </a:ext>
            </a:extLst>
          </p:cNvPr>
          <p:cNvGrpSpPr/>
          <p:nvPr/>
        </p:nvGrpSpPr>
        <p:grpSpPr>
          <a:xfrm>
            <a:off x="6661489" y="2115415"/>
            <a:ext cx="1732170" cy="307777"/>
            <a:chOff x="-12536" y="1932940"/>
            <a:chExt cx="1732170" cy="307777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941B1F1-B593-25A4-7A4E-150ECDA52217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13</a:t>
              </a:r>
            </a:p>
          </p:txBody>
        </p:sp>
        <p:sp>
          <p:nvSpPr>
            <p:cNvPr id="10" name="Seta: para a Direita 9">
              <a:extLst>
                <a:ext uri="{FF2B5EF4-FFF2-40B4-BE49-F238E27FC236}">
                  <a16:creationId xmlns:a16="http://schemas.microsoft.com/office/drawing/2014/main" id="{343E64F2-28E6-EA0E-01C7-22D8FBF59F96}"/>
                </a:ext>
              </a:extLst>
            </p:cNvPr>
            <p:cNvSpPr/>
            <p:nvPr/>
          </p:nvSpPr>
          <p:spPr>
            <a:xfrm rot="10800000">
              <a:off x="674078" y="1990482"/>
              <a:ext cx="358941" cy="12192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DCEF1F7-D195-9D31-1022-95EBBCB06BFE}"/>
              </a:ext>
            </a:extLst>
          </p:cNvPr>
          <p:cNvGrpSpPr/>
          <p:nvPr/>
        </p:nvGrpSpPr>
        <p:grpSpPr>
          <a:xfrm>
            <a:off x="6661489" y="2294877"/>
            <a:ext cx="1732170" cy="307777"/>
            <a:chOff x="-12536" y="1932940"/>
            <a:chExt cx="1732170" cy="307777"/>
          </a:xfrm>
        </p:grpSpPr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D826918-7986-D2E7-6358-13FAF5B20651}"/>
                </a:ext>
              </a:extLst>
            </p:cNvPr>
            <p:cNvSpPr txBox="1"/>
            <p:nvPr/>
          </p:nvSpPr>
          <p:spPr>
            <a:xfrm>
              <a:off x="-12536" y="1932940"/>
              <a:ext cx="1732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/>
                <a:t>4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191C2AD3-29F2-0FCB-623D-16F54DF2ADA9}"/>
                </a:ext>
              </a:extLst>
            </p:cNvPr>
            <p:cNvSpPr/>
            <p:nvPr/>
          </p:nvSpPr>
          <p:spPr>
            <a:xfrm rot="10800000">
              <a:off x="674078" y="1990482"/>
              <a:ext cx="358941" cy="12192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4471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3BD964B-7FBB-8602-60CF-63D85DD9E7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67" t="36369" r="28500" b="15334"/>
          <a:stretch/>
        </p:blipFill>
        <p:spPr>
          <a:xfrm>
            <a:off x="304800" y="1288543"/>
            <a:ext cx="7451004" cy="4838700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C45C61C3-DB58-75CE-6827-46CA009AAA29}"/>
              </a:ext>
            </a:extLst>
          </p:cNvPr>
          <p:cNvGrpSpPr/>
          <p:nvPr/>
        </p:nvGrpSpPr>
        <p:grpSpPr>
          <a:xfrm>
            <a:off x="4503420" y="1666097"/>
            <a:ext cx="3014947" cy="400111"/>
            <a:chOff x="-85689" y="1976321"/>
            <a:chExt cx="3215965" cy="148716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941B1F1-B593-25A4-7A4E-150ECDA52217}"/>
                </a:ext>
              </a:extLst>
            </p:cNvPr>
            <p:cNvSpPr txBox="1"/>
            <p:nvPr/>
          </p:nvSpPr>
          <p:spPr>
            <a:xfrm>
              <a:off x="-85689" y="1976321"/>
              <a:ext cx="3215965" cy="148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000" b="1" dirty="0">
                  <a:solidFill>
                    <a:srgbClr val="FF0000"/>
                  </a:solidFill>
                </a:rPr>
                <a:t>Executar / Rodar</a:t>
              </a:r>
            </a:p>
          </p:txBody>
        </p:sp>
        <p:sp>
          <p:nvSpPr>
            <p:cNvPr id="10" name="Seta: para a Direita 9">
              <a:extLst>
                <a:ext uri="{FF2B5EF4-FFF2-40B4-BE49-F238E27FC236}">
                  <a16:creationId xmlns:a16="http://schemas.microsoft.com/office/drawing/2014/main" id="{343E64F2-28E6-EA0E-01C7-22D8FBF59F96}"/>
                </a:ext>
              </a:extLst>
            </p:cNvPr>
            <p:cNvSpPr/>
            <p:nvPr/>
          </p:nvSpPr>
          <p:spPr>
            <a:xfrm rot="10800000">
              <a:off x="674078" y="1990482"/>
              <a:ext cx="358941" cy="12192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9199383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272684D2-878E-79C5-DFD9-12AAF4C0FF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39" t="34191" r="26962" b="15851"/>
          <a:stretch/>
        </p:blipFill>
        <p:spPr>
          <a:xfrm>
            <a:off x="270074" y="1215572"/>
            <a:ext cx="7451003" cy="4997350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E34516A4-8788-0B84-C26A-3CD2B4D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9" y="730757"/>
            <a:ext cx="8166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b="1" u="none" dirty="0">
                <a:solidFill>
                  <a:srgbClr val="FF0000"/>
                </a:solidFill>
              </a:rPr>
              <a:t>Divisão de dois números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009CCCC-D624-510C-7FA8-92F273F8B49A}"/>
              </a:ext>
            </a:extLst>
          </p:cNvPr>
          <p:cNvSpPr/>
          <p:nvPr/>
        </p:nvSpPr>
        <p:spPr>
          <a:xfrm>
            <a:off x="6539696" y="1877703"/>
            <a:ext cx="786934" cy="191705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4E0795F-A146-B3E5-DEC9-F1831535ED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917" t="18592" r="17833" b="13704"/>
          <a:stretch/>
        </p:blipFill>
        <p:spPr>
          <a:xfrm>
            <a:off x="7667161" y="1877703"/>
            <a:ext cx="1321385" cy="191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4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>
            <a:extLst>
              <a:ext uri="{FF2B5EF4-FFF2-40B4-BE49-F238E27FC236}">
                <a16:creationId xmlns:a16="http://schemas.microsoft.com/office/drawing/2014/main" id="{3CD65825-C88D-4673-6E51-161A46C5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73238"/>
            <a:ext cx="554355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ítulo 1">
            <a:extLst>
              <a:ext uri="{FF2B5EF4-FFF2-40B4-BE49-F238E27FC236}">
                <a16:creationId xmlns:a16="http://schemas.microsoft.com/office/drawing/2014/main" id="{8B929C0E-D817-B08E-8AE2-63F44E997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49368" y="706437"/>
            <a:ext cx="7886700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dirty="0">
                <a:latin typeface="Gotham HTF" charset="0"/>
                <a:ea typeface="MS PGothic" panose="020B0600070205080204" pitchFamily="34" charset="-128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24937033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 (parte 2)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AB0BA5-363D-DF03-1E88-ECF7A3BD451D}"/>
              </a:ext>
            </a:extLst>
          </p:cNvPr>
          <p:cNvSpPr txBox="1"/>
          <p:nvPr/>
        </p:nvSpPr>
        <p:spPr>
          <a:xfrm>
            <a:off x="661945" y="1241228"/>
            <a:ext cx="74667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8. Monte um programa que realize: 2/3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9. Monte um programa que realiza a multiplicação (15 + 20) / 2.</a:t>
            </a:r>
          </a:p>
          <a:p>
            <a:pPr algn="just"/>
            <a:r>
              <a:rPr lang="pt-BR" dirty="0"/>
              <a:t> </a:t>
            </a:r>
          </a:p>
          <a:p>
            <a:pPr algn="just"/>
            <a:r>
              <a:rPr lang="pt-BR" dirty="0"/>
              <a:t>10. Monte um programa que realiza a multiplicação ((2 + 13) * 3) / 2. </a:t>
            </a:r>
          </a:p>
        </p:txBody>
      </p:sp>
      <p:sp>
        <p:nvSpPr>
          <p:cNvPr id="5" name="CaixaDeTexto 3">
            <a:extLst>
              <a:ext uri="{FF2B5EF4-FFF2-40B4-BE49-F238E27FC236}">
                <a16:creationId xmlns:a16="http://schemas.microsoft.com/office/drawing/2014/main" id="{F1B33D0E-D0FC-4F89-B039-293BD3710B6A}"/>
              </a:ext>
            </a:extLst>
          </p:cNvPr>
          <p:cNvSpPr txBox="1"/>
          <p:nvPr/>
        </p:nvSpPr>
        <p:spPr>
          <a:xfrm>
            <a:off x="661945" y="3148855"/>
            <a:ext cx="74667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11. Monte um programa que realize ((8 -  6)^2)/2.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12. Monte um programa que realize (12 -  8)/ 2.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13. Monte um programa que realiza a multiplicação ((5 +  8) / 2)+15 - 2.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14. Monte um programa que realiza a multiplicação (((2^2) + (2^3))) / 5.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15. Monte um programa que realiza a multiplicação (5 * 3 + 2) / 3.</a:t>
            </a:r>
          </a:p>
          <a:p>
            <a:pPr algn="just"/>
            <a:r>
              <a:rPr lang="pt-BR" dirty="0"/>
              <a:t> </a:t>
            </a:r>
          </a:p>
          <a:p>
            <a:pPr algn="just"/>
            <a:r>
              <a:rPr lang="pt-BR" dirty="0"/>
              <a:t>16. Monte um programa que realiza a multiplicação (((2 + 15) * 3)^3) / 2. </a:t>
            </a:r>
          </a:p>
        </p:txBody>
      </p:sp>
    </p:spTree>
    <p:extLst>
      <p:ext uri="{BB962C8B-B14F-4D97-AF65-F5344CB8AC3E}">
        <p14:creationId xmlns:p14="http://schemas.microsoft.com/office/powerpoint/2010/main" val="6757230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3591</TotalTime>
  <Words>1666</Words>
  <Application>Microsoft Office PowerPoint</Application>
  <PresentationFormat>On-screen Show (4:3)</PresentationFormat>
  <Paragraphs>234</Paragraphs>
  <Slides>52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Dúvidas?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Dúvidas?</vt:lpstr>
      <vt:lpstr>PowerPoint Presentation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Logon PF Fiap</cp:lastModifiedBy>
  <cp:revision>479</cp:revision>
  <cp:lastPrinted>2016-02-15T09:06:24Z</cp:lastPrinted>
  <dcterms:created xsi:type="dcterms:W3CDTF">2015-02-07T21:24:47Z</dcterms:created>
  <dcterms:modified xsi:type="dcterms:W3CDTF">2024-04-16T23:49:43Z</dcterms:modified>
</cp:coreProperties>
</file>