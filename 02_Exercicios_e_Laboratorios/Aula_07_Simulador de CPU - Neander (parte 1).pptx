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40"/>
  </p:notesMasterIdLst>
  <p:handoutMasterIdLst>
    <p:handoutMasterId r:id="rId41"/>
  </p:handoutMasterIdLst>
  <p:sldIdLst>
    <p:sldId id="256" r:id="rId6"/>
    <p:sldId id="487" r:id="rId7"/>
    <p:sldId id="534" r:id="rId8"/>
    <p:sldId id="531" r:id="rId9"/>
    <p:sldId id="293" r:id="rId10"/>
    <p:sldId id="535" r:id="rId11"/>
    <p:sldId id="536" r:id="rId12"/>
    <p:sldId id="538" r:id="rId13"/>
    <p:sldId id="532" r:id="rId14"/>
    <p:sldId id="444" r:id="rId15"/>
    <p:sldId id="555" r:id="rId16"/>
    <p:sldId id="453" r:id="rId17"/>
    <p:sldId id="454" r:id="rId18"/>
    <p:sldId id="529" r:id="rId19"/>
    <p:sldId id="542" r:id="rId20"/>
    <p:sldId id="528" r:id="rId21"/>
    <p:sldId id="526" r:id="rId22"/>
    <p:sldId id="543" r:id="rId23"/>
    <p:sldId id="544" r:id="rId24"/>
    <p:sldId id="545" r:id="rId25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307" r:id="rId35"/>
    <p:sldId id="563" r:id="rId36"/>
    <p:sldId id="565" r:id="rId37"/>
    <p:sldId id="564" r:id="rId38"/>
    <p:sldId id="265" r:id="rId3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ACC"/>
    <a:srgbClr val="020000"/>
    <a:srgbClr val="F0265D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61" d="100"/>
          <a:sy n="61" d="100"/>
        </p:scale>
        <p:origin x="1476" y="78"/>
      </p:cViewPr>
      <p:guideLst>
        <p:guide pos="2880"/>
        <p:guide orient="horz" pos="213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09/04/2024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72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1408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FF0000"/>
                </a:solidFill>
              </a:rPr>
              <a:t>	</a:t>
            </a:r>
            <a:r>
              <a:rPr lang="pt-BR" sz="2400" b="1" dirty="0">
                <a:solidFill>
                  <a:srgbClr val="FF0000"/>
                </a:solidFill>
              </a:rPr>
              <a:t>Complemento de 2</a:t>
            </a:r>
          </a:p>
          <a:p>
            <a:pPr marL="715963" indent="-90488">
              <a:lnSpc>
                <a:spcPct val="120000"/>
              </a:lnSpc>
            </a:pPr>
            <a:endParaRPr lang="pt-BR" altLang="pt-BR" sz="2400" b="1" dirty="0">
              <a:solidFill>
                <a:srgbClr val="FF0000"/>
              </a:solidFill>
            </a:endParaRPr>
          </a:p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48C365E-8FBE-0DDE-0F4B-9EB68D14070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6" name="Picture 2" descr="Alguem que possa converter o numero 369 em binários? - Brainly.com.br">
            <a:extLst>
              <a:ext uri="{FF2B5EF4-FFF2-40B4-BE49-F238E27FC236}">
                <a16:creationId xmlns:a16="http://schemas.microsoft.com/office/drawing/2014/main" id="{429BF606-923D-3000-2EB5-4EA9146C1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888"/>
            <a:ext cx="9144000" cy="63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B73911D-0783-486E-1310-C9F5EB67076E}"/>
              </a:ext>
            </a:extLst>
          </p:cNvPr>
          <p:cNvSpPr txBox="1"/>
          <p:nvPr/>
        </p:nvSpPr>
        <p:spPr>
          <a:xfrm>
            <a:off x="1480930" y="5212268"/>
            <a:ext cx="64032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Complemento de 2</a:t>
            </a:r>
            <a:endParaRPr lang="pt-B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712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237FD73-5DB0-C461-4B67-0232BA287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857" y="307963"/>
            <a:ext cx="7886700" cy="1325563"/>
          </a:xfrm>
        </p:spPr>
        <p:txBody>
          <a:bodyPr/>
          <a:lstStyle/>
          <a:p>
            <a:pPr eaLnBrk="1" hangingPunct="1"/>
            <a:r>
              <a:rPr lang="pt-BR" altLang="pt-BR" dirty="0">
                <a:solidFill>
                  <a:srgbClr val="FF0000"/>
                </a:solidFill>
                <a:latin typeface="AvantGarde Bk BT" pitchFamily="34" charset="0"/>
              </a:rPr>
              <a:t>Complemento de 2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A2ECBD9-5B2A-BBA3-D47F-34EA6B64E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49" y="1433236"/>
            <a:ext cx="8207237" cy="4351338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Por questões de convenção e eficiência, utiliza-se a notação de complemento de 2 para se trabalhar com números binários no computador;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pt-BR" altLang="pt-BR" sz="1800" dirty="0">
              <a:latin typeface="AvantGarde Bk BT" pitchFamily="34" charset="0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Utilizando esta notação, a subtração é uma soma. Por exemplo: 7 – 5 seria </a:t>
            </a:r>
            <a:r>
              <a:rPr lang="pt-BR" altLang="pt-BR" sz="1800" b="1" dirty="0">
                <a:latin typeface="AvantGarde Bk BT" pitchFamily="34" charset="0"/>
              </a:rPr>
              <a:t>7 + (-5)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pt-BR" altLang="pt-BR" sz="1800" dirty="0">
              <a:latin typeface="AvantGarde Bk BT" pitchFamily="34" charset="0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Embora seja uma alteração sutil, faz uma enorme diferença para o computador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pt-BR" altLang="pt-BR" sz="1800" dirty="0">
              <a:latin typeface="AvantGarde Bk BT" pitchFamily="34" charset="0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b="1" dirty="0">
                <a:latin typeface="AvantGarde Bk BT" pitchFamily="34" charset="0"/>
              </a:rPr>
              <a:t>Números que tenham, o bit mais à esquerda 1, são números negativos. Os números que tiverem 0 neste bit mais à esquerda, serão considerados positivos;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pt-BR" altLang="pt-BR" sz="1800" dirty="0">
              <a:latin typeface="AvantGarde Bk BT" pitchFamily="34" charset="0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Para trabalhar com complemento a 2, é necessário saber a quantidade de bits que os números devem ter. Isto varia de acordo com o processador. Caso o resultado exceda esta quantidade de bits, o bit mais à esquerda é desprezado;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pt-BR" altLang="pt-BR" sz="1800" dirty="0">
              <a:latin typeface="AvantGarde Bk BT" pitchFamily="34" charset="0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Deve-se proceder da seguinte maneira: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pt-BR" altLang="pt-BR" sz="1800" dirty="0">
              <a:latin typeface="AvantGarde Bk BT" pitchFamily="34" charset="0"/>
            </a:endParaRP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Os números negativos devem ter seus bits invertidos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pt-BR" altLang="pt-BR" sz="1800" dirty="0">
                <a:latin typeface="AvantGarde Bk BT" pitchFamily="34" charset="0"/>
              </a:rPr>
              <a:t>Soma-se 1 ao valor obtido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FC14010-F3AD-731C-3B0C-6DDE96286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318567"/>
            <a:ext cx="7886700" cy="1325563"/>
          </a:xfrm>
        </p:spPr>
        <p:txBody>
          <a:bodyPr/>
          <a:lstStyle/>
          <a:p>
            <a:pPr eaLnBrk="1" hangingPunct="1"/>
            <a:r>
              <a:rPr lang="pt-BR" altLang="pt-BR" dirty="0">
                <a:latin typeface="AvantGarde Bk BT" pitchFamily="34" charset="0"/>
              </a:rPr>
              <a:t>Exemplo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8E7B6-DDEC-AC03-2B3E-649FB0777638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1467812"/>
            <a:ext cx="7886700" cy="516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AvantGarde Bk BT" pitchFamily="34" charset="0"/>
              </a:rPr>
              <a:t>Vamos realiza a operação abaixo, utilizando complemento de 2:</a:t>
            </a:r>
          </a:p>
          <a:p>
            <a:pPr marL="0" indent="0">
              <a:buNone/>
            </a:pPr>
            <a:endParaRPr lang="pt-BR" altLang="pt-BR" sz="2000" dirty="0">
              <a:latin typeface="AvantGarde Bk BT" pitchFamily="34" charset="0"/>
            </a:endParaRPr>
          </a:p>
          <a:p>
            <a:pPr marL="0" indent="0">
              <a:buNone/>
            </a:pPr>
            <a:r>
              <a:rPr lang="pt-BR" altLang="pt-BR" sz="2000" dirty="0">
                <a:latin typeface="AvantGarde Bk BT" pitchFamily="34" charset="0"/>
              </a:rPr>
              <a:t>		5 em binário é: </a:t>
            </a:r>
            <a:r>
              <a:rPr lang="pt-BR" altLang="pt-BR" sz="2000" b="1" dirty="0">
                <a:latin typeface="AvantGarde Bk BT" pitchFamily="34" charset="0"/>
              </a:rPr>
              <a:t>00101</a:t>
            </a:r>
            <a:r>
              <a:rPr lang="pt-BR" altLang="pt-BR" sz="2000" dirty="0">
                <a:latin typeface="AvantGarde Bk BT" pitchFamily="34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2000" dirty="0">
              <a:latin typeface="AvantGarde Bk BT" pitchFamily="34" charset="0"/>
            </a:endParaRPr>
          </a:p>
          <a:p>
            <a:pPr marL="0" indent="0">
              <a:buNone/>
            </a:pPr>
            <a:r>
              <a:rPr lang="pt-BR" altLang="pt-BR" sz="2000" dirty="0">
                <a:latin typeface="AvantGarde Bk BT" pitchFamily="34" charset="0"/>
              </a:rPr>
              <a:t>		Aplicando o complemento de 2, obteremos: </a:t>
            </a:r>
            <a:r>
              <a:rPr lang="pt-BR" altLang="pt-BR" sz="2000" b="1" dirty="0">
                <a:latin typeface="AvantGarde Bk BT" pitchFamily="34" charset="0"/>
              </a:rPr>
              <a:t>-5</a:t>
            </a:r>
            <a:r>
              <a:rPr lang="pt-BR" altLang="pt-BR" sz="2000" dirty="0">
                <a:latin typeface="AvantGarde Bk BT" pitchFamily="34" charset="0"/>
              </a:rPr>
              <a:t>. Mas como?</a:t>
            </a:r>
          </a:p>
        </p:txBody>
      </p:sp>
    </p:spTree>
    <p:extLst>
      <p:ext uri="{BB962C8B-B14F-4D97-AF65-F5344CB8AC3E}">
        <p14:creationId xmlns:p14="http://schemas.microsoft.com/office/powerpoint/2010/main" val="101308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18E7B6-DDEC-AC03-2B3E-649FB0777638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2074102"/>
            <a:ext cx="7886700" cy="400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pt-BR" altLang="pt-BR" sz="1800" b="1" dirty="0">
                <a:latin typeface="AvantGarde Bk BT" pitchFamily="34" charset="0"/>
              </a:rPr>
              <a:t>Etapa 1:</a:t>
            </a:r>
            <a:r>
              <a:rPr lang="pt-BR" altLang="pt-BR" sz="1800" dirty="0">
                <a:latin typeface="AvantGarde Bk BT" pitchFamily="34" charset="0"/>
              </a:rPr>
              <a:t> Invertendo os bits de 5, em binário o valor 00101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606D77-861A-EE47-0A4A-E736337C14CA}"/>
              </a:ext>
            </a:extLst>
          </p:cNvPr>
          <p:cNvSpPr txBox="1"/>
          <p:nvPr/>
        </p:nvSpPr>
        <p:spPr>
          <a:xfrm>
            <a:off x="3170583" y="2474847"/>
            <a:ext cx="228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/>
              <a:t>00101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50370C-022B-6555-4176-C60DFDB391C7}"/>
              </a:ext>
            </a:extLst>
          </p:cNvPr>
          <p:cNvSpPr txBox="1"/>
          <p:nvPr/>
        </p:nvSpPr>
        <p:spPr>
          <a:xfrm>
            <a:off x="3170583" y="3089777"/>
            <a:ext cx="228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/>
              <a:t>11010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F584BDC-3FB0-11A4-CFFE-35379E5AD644}"/>
              </a:ext>
            </a:extLst>
          </p:cNvPr>
          <p:cNvGrpSpPr/>
          <p:nvPr/>
        </p:nvGrpSpPr>
        <p:grpSpPr>
          <a:xfrm>
            <a:off x="3880484" y="2932047"/>
            <a:ext cx="882347" cy="248478"/>
            <a:chOff x="3880484" y="5307496"/>
            <a:chExt cx="882347" cy="248478"/>
          </a:xfrm>
        </p:grpSpPr>
        <p:sp>
          <p:nvSpPr>
            <p:cNvPr id="5" name="Seta: para Baixo 4">
              <a:extLst>
                <a:ext uri="{FF2B5EF4-FFF2-40B4-BE49-F238E27FC236}">
                  <a16:creationId xmlns:a16="http://schemas.microsoft.com/office/drawing/2014/main" id="{2ED798C8-3E2D-EFFD-10BD-C523F7AA2CB9}"/>
                </a:ext>
              </a:extLst>
            </p:cNvPr>
            <p:cNvSpPr/>
            <p:nvPr/>
          </p:nvSpPr>
          <p:spPr>
            <a:xfrm>
              <a:off x="3880484" y="5307496"/>
              <a:ext cx="100631" cy="24847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Seta: para Baixo 6">
              <a:extLst>
                <a:ext uri="{FF2B5EF4-FFF2-40B4-BE49-F238E27FC236}">
                  <a16:creationId xmlns:a16="http://schemas.microsoft.com/office/drawing/2014/main" id="{0E96622D-C695-05D9-DBDB-3D8E62332577}"/>
                </a:ext>
              </a:extLst>
            </p:cNvPr>
            <p:cNvSpPr/>
            <p:nvPr/>
          </p:nvSpPr>
          <p:spPr>
            <a:xfrm>
              <a:off x="4069079" y="5307496"/>
              <a:ext cx="100631" cy="24847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Seta: para Baixo 7">
              <a:extLst>
                <a:ext uri="{FF2B5EF4-FFF2-40B4-BE49-F238E27FC236}">
                  <a16:creationId xmlns:a16="http://schemas.microsoft.com/office/drawing/2014/main" id="{A2BCAE9E-993F-5F70-D2E8-2E8028FB78CD}"/>
                </a:ext>
              </a:extLst>
            </p:cNvPr>
            <p:cNvSpPr/>
            <p:nvPr/>
          </p:nvSpPr>
          <p:spPr>
            <a:xfrm>
              <a:off x="4263267" y="5307496"/>
              <a:ext cx="100631" cy="24847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Baixo 8">
              <a:extLst>
                <a:ext uri="{FF2B5EF4-FFF2-40B4-BE49-F238E27FC236}">
                  <a16:creationId xmlns:a16="http://schemas.microsoft.com/office/drawing/2014/main" id="{6C2CCF10-DD5F-A6AC-2102-EBC74BB49337}"/>
                </a:ext>
              </a:extLst>
            </p:cNvPr>
            <p:cNvSpPr/>
            <p:nvPr/>
          </p:nvSpPr>
          <p:spPr>
            <a:xfrm>
              <a:off x="4457455" y="5307496"/>
              <a:ext cx="100631" cy="24847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Seta: para Baixo 9">
              <a:extLst>
                <a:ext uri="{FF2B5EF4-FFF2-40B4-BE49-F238E27FC236}">
                  <a16:creationId xmlns:a16="http://schemas.microsoft.com/office/drawing/2014/main" id="{A9913446-6C39-82DA-50FB-03763EBD2568}"/>
                </a:ext>
              </a:extLst>
            </p:cNvPr>
            <p:cNvSpPr/>
            <p:nvPr/>
          </p:nvSpPr>
          <p:spPr>
            <a:xfrm>
              <a:off x="4662200" y="5307496"/>
              <a:ext cx="100631" cy="24847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A9E4CC30-C578-DE90-7FCC-0351E2BB879B}"/>
              </a:ext>
            </a:extLst>
          </p:cNvPr>
          <p:cNvSpPr txBox="1">
            <a:spLocks noChangeArrowheads="1"/>
          </p:cNvSpPr>
          <p:nvPr/>
        </p:nvSpPr>
        <p:spPr>
          <a:xfrm>
            <a:off x="564420" y="3704707"/>
            <a:ext cx="7886700" cy="553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2pPr>
            <a:lvl3pPr marL="1257300" indent="-342900" algn="l" defTabSz="4572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Gotham HTF Book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pt-BR" altLang="pt-BR" sz="1800" b="1" dirty="0">
                <a:latin typeface="AvantGarde Bk BT" pitchFamily="34" charset="0"/>
              </a:rPr>
              <a:t>Etapa 2:</a:t>
            </a:r>
            <a:r>
              <a:rPr lang="pt-BR" altLang="pt-BR" sz="1800" dirty="0">
                <a:latin typeface="AvantGarde Bk BT" pitchFamily="34" charset="0"/>
              </a:rPr>
              <a:t> Somamos “1” ao valor invertido, ou seja: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4F172B9-CA8C-3554-82A1-A94BAD961E2D}"/>
              </a:ext>
            </a:extLst>
          </p:cNvPr>
          <p:cNvGrpSpPr/>
          <p:nvPr/>
        </p:nvGrpSpPr>
        <p:grpSpPr>
          <a:xfrm>
            <a:off x="3170583" y="4133386"/>
            <a:ext cx="2286000" cy="1015663"/>
            <a:chOff x="3170583" y="3527096"/>
            <a:chExt cx="2286000" cy="1015663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91B8B646-D615-4283-0919-4D4329F4849E}"/>
                </a:ext>
              </a:extLst>
            </p:cNvPr>
            <p:cNvSpPr txBox="1"/>
            <p:nvPr/>
          </p:nvSpPr>
          <p:spPr>
            <a:xfrm>
              <a:off x="3170583" y="3527096"/>
              <a:ext cx="2286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b="1" dirty="0"/>
                <a:t>   11010</a:t>
              </a:r>
            </a:p>
            <a:p>
              <a:pPr algn="ctr"/>
              <a:r>
                <a:rPr lang="pt-BR" sz="3000" b="1" dirty="0"/>
                <a:t>+ 00001</a:t>
              </a:r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1FF63C91-18F2-2C74-B6C2-E36443E97FED}"/>
                </a:ext>
              </a:extLst>
            </p:cNvPr>
            <p:cNvCxnSpPr/>
            <p:nvPr/>
          </p:nvCxnSpPr>
          <p:spPr>
            <a:xfrm>
              <a:off x="3617843" y="4452730"/>
              <a:ext cx="1451114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D3F63C1-A502-84C5-8FDF-9A03F7A0EB5C}"/>
              </a:ext>
            </a:extLst>
          </p:cNvPr>
          <p:cNvSpPr txBox="1"/>
          <p:nvPr/>
        </p:nvSpPr>
        <p:spPr>
          <a:xfrm flipH="1">
            <a:off x="3361912" y="5059020"/>
            <a:ext cx="2191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/>
              <a:t>11011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FF7C6A2-EE88-0D7C-C6EE-9B3AFCE93F67}"/>
              </a:ext>
            </a:extLst>
          </p:cNvPr>
          <p:cNvGrpSpPr/>
          <p:nvPr/>
        </p:nvGrpSpPr>
        <p:grpSpPr>
          <a:xfrm>
            <a:off x="400550" y="5006636"/>
            <a:ext cx="3449375" cy="646331"/>
            <a:chOff x="400550" y="4191627"/>
            <a:chExt cx="3449375" cy="646331"/>
          </a:xfrm>
        </p:grpSpPr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51575F64-744A-9752-0E24-77D903FE1D19}"/>
                </a:ext>
              </a:extLst>
            </p:cNvPr>
            <p:cNvSpPr/>
            <p:nvPr/>
          </p:nvSpPr>
          <p:spPr>
            <a:xfrm>
              <a:off x="3184003" y="4304125"/>
              <a:ext cx="665922" cy="402652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B52BB76-D68D-122D-5349-C28397972A43}"/>
                </a:ext>
              </a:extLst>
            </p:cNvPr>
            <p:cNvSpPr txBox="1"/>
            <p:nvPr/>
          </p:nvSpPr>
          <p:spPr>
            <a:xfrm>
              <a:off x="400550" y="4191627"/>
              <a:ext cx="28724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Esse é o complemento de 2</a:t>
              </a:r>
            </a:p>
            <a:p>
              <a:pPr algn="ctr"/>
              <a:r>
                <a:rPr lang="pt-BR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(ou seja o –5)</a:t>
              </a:r>
            </a:p>
          </p:txBody>
        </p:sp>
      </p:grpSp>
      <p:sp>
        <p:nvSpPr>
          <p:cNvPr id="26" name="Rectangle 2">
            <a:extLst>
              <a:ext uri="{FF2B5EF4-FFF2-40B4-BE49-F238E27FC236}">
                <a16:creationId xmlns:a16="http://schemas.microsoft.com/office/drawing/2014/main" id="{8498AB53-A1A6-2003-1284-6417E92F2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318567"/>
            <a:ext cx="7886700" cy="1325563"/>
          </a:xfrm>
        </p:spPr>
        <p:txBody>
          <a:bodyPr/>
          <a:lstStyle/>
          <a:p>
            <a:pPr eaLnBrk="1" hangingPunct="1"/>
            <a:r>
              <a:rPr lang="pt-BR" altLang="pt-BR" dirty="0">
                <a:latin typeface="AvantGarde Bk BT" pitchFamily="34" charset="0"/>
              </a:rPr>
              <a:t>Exemplo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E0CDF19-FBC4-4B9F-A0DD-C8CF9A0CB0C1}"/>
              </a:ext>
            </a:extLst>
          </p:cNvPr>
          <p:cNvGrpSpPr/>
          <p:nvPr/>
        </p:nvGrpSpPr>
        <p:grpSpPr>
          <a:xfrm>
            <a:off x="3443411" y="5173914"/>
            <a:ext cx="4204252" cy="1550900"/>
            <a:chOff x="3394217" y="2867813"/>
            <a:chExt cx="4204252" cy="1550900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C59FB7F4-083E-9567-CB5C-97E7EC61C9EB}"/>
                </a:ext>
              </a:extLst>
            </p:cNvPr>
            <p:cNvGrpSpPr/>
            <p:nvPr/>
          </p:nvGrpSpPr>
          <p:grpSpPr>
            <a:xfrm>
              <a:off x="3394217" y="3295027"/>
              <a:ext cx="4204252" cy="1123686"/>
              <a:chOff x="3394217" y="3954939"/>
              <a:chExt cx="4204252" cy="1123686"/>
            </a:xfrm>
          </p:grpSpPr>
          <p:sp>
            <p:nvSpPr>
              <p:cNvPr id="30" name="Seta: para Cima 29">
                <a:extLst>
                  <a:ext uri="{FF2B5EF4-FFF2-40B4-BE49-F238E27FC236}">
                    <a16:creationId xmlns:a16="http://schemas.microsoft.com/office/drawing/2014/main" id="{B8ADA312-7691-8DFC-4284-B0ADDCFCA457}"/>
                  </a:ext>
                </a:extLst>
              </p:cNvPr>
              <p:cNvSpPr/>
              <p:nvPr/>
            </p:nvSpPr>
            <p:spPr>
              <a:xfrm>
                <a:off x="3796749" y="3954939"/>
                <a:ext cx="482049" cy="635396"/>
              </a:xfrm>
              <a:prstGeom prst="up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D8ABB1C9-9249-5CAB-1D08-8F60E8125004}"/>
                  </a:ext>
                </a:extLst>
              </p:cNvPr>
              <p:cNvSpPr txBox="1"/>
              <p:nvPr/>
            </p:nvSpPr>
            <p:spPr>
              <a:xfrm>
                <a:off x="3394217" y="4709293"/>
                <a:ext cx="4204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>
                    <a:solidFill>
                      <a:schemeClr val="accent1"/>
                    </a:solidFill>
                  </a:rPr>
                  <a:t>Indica o sinal “-”</a:t>
                </a:r>
              </a:p>
            </p:txBody>
          </p:sp>
        </p:grp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AA1141B-60AD-00C5-96D4-1A5B57462A08}"/>
                </a:ext>
              </a:extLst>
            </p:cNvPr>
            <p:cNvSpPr/>
            <p:nvPr/>
          </p:nvSpPr>
          <p:spPr>
            <a:xfrm>
              <a:off x="3928442" y="2867813"/>
              <a:ext cx="218661" cy="32786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72864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  <p:bldP spid="3" grpId="0"/>
      <p:bldP spid="12" grpId="0" build="p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FC14010-F3AD-731C-3B0C-6DDE96286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318567"/>
            <a:ext cx="7886700" cy="1325563"/>
          </a:xfrm>
        </p:spPr>
        <p:txBody>
          <a:bodyPr/>
          <a:lstStyle/>
          <a:p>
            <a:pPr eaLnBrk="1" hangingPunct="1"/>
            <a:r>
              <a:rPr lang="pt-BR" altLang="pt-BR" dirty="0">
                <a:latin typeface="AvantGarde Bk BT" pitchFamily="34" charset="0"/>
              </a:rPr>
              <a:t>Exercícios: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C5685B5-62AC-3345-870A-E9CB25CBC614}"/>
              </a:ext>
            </a:extLst>
          </p:cNvPr>
          <p:cNvSpPr txBox="1"/>
          <p:nvPr/>
        </p:nvSpPr>
        <p:spPr>
          <a:xfrm>
            <a:off x="857250" y="1413297"/>
            <a:ext cx="788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Calcule o complemento de dois dos seguintes números: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0F6C8A-4CB0-4142-9B8B-D3EC01137794}"/>
              </a:ext>
            </a:extLst>
          </p:cNvPr>
          <p:cNvSpPr txBox="1"/>
          <p:nvPr/>
        </p:nvSpPr>
        <p:spPr>
          <a:xfrm>
            <a:off x="964096" y="2295939"/>
            <a:ext cx="31805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pt-BR" sz="2400" b="1" dirty="0"/>
              <a:t>001010010</a:t>
            </a:r>
          </a:p>
          <a:p>
            <a:pPr marL="342900" indent="-342900">
              <a:buAutoNum type="alphaLcParenR"/>
            </a:pPr>
            <a:r>
              <a:rPr lang="pt-BR" sz="2400" b="1" dirty="0"/>
              <a:t>001010101</a:t>
            </a:r>
          </a:p>
          <a:p>
            <a:pPr marL="342900" indent="-342900">
              <a:buAutoNum type="alphaLcParenR"/>
            </a:pPr>
            <a:r>
              <a:rPr lang="pt-BR" sz="2400" b="1" dirty="0"/>
              <a:t>001101110</a:t>
            </a:r>
          </a:p>
          <a:p>
            <a:pPr marL="342900" indent="-342900">
              <a:buAutoNum type="alphaLcParenR"/>
            </a:pPr>
            <a:r>
              <a:rPr lang="pt-BR" sz="2400" b="1" dirty="0"/>
              <a:t>001010100</a:t>
            </a:r>
          </a:p>
          <a:p>
            <a:pPr marL="342900" indent="-342900">
              <a:buAutoNum type="alphaLcParenR"/>
            </a:pPr>
            <a:r>
              <a:rPr lang="pt-BR" sz="2400" b="1" dirty="0"/>
              <a:t>001011010</a:t>
            </a:r>
          </a:p>
          <a:p>
            <a:pPr marL="342900" indent="-342900">
              <a:buAutoNum type="alphaLcParenR"/>
            </a:pPr>
            <a:r>
              <a:rPr lang="pt-BR" sz="2400" b="1" dirty="0"/>
              <a:t>001011111</a:t>
            </a:r>
          </a:p>
        </p:txBody>
      </p:sp>
    </p:spTree>
    <p:extLst>
      <p:ext uri="{BB962C8B-B14F-4D97-AF65-F5344CB8AC3E}">
        <p14:creationId xmlns:p14="http://schemas.microsoft.com/office/powerpoint/2010/main" val="135334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BB401F-2946-FAB8-CB40-AC40FAEA3076}"/>
              </a:ext>
            </a:extLst>
          </p:cNvPr>
          <p:cNvSpPr/>
          <p:nvPr/>
        </p:nvSpPr>
        <p:spPr>
          <a:xfrm>
            <a:off x="0" y="-36512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8A5E8-D33C-9865-B585-B91DAF0FF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044" y="2759586"/>
            <a:ext cx="499938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800" b="1" dirty="0">
                <a:solidFill>
                  <a:srgbClr val="FF0000"/>
                </a:solidFill>
              </a:rPr>
              <a:t>O Computador NEANDER</a:t>
            </a:r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D54350CB-5CC0-7027-633D-5EC1B05E0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7"/>
          <a:stretch/>
        </p:blipFill>
        <p:spPr bwMode="auto">
          <a:xfrm>
            <a:off x="0" y="-29817"/>
            <a:ext cx="40054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9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925" y="765175"/>
            <a:ext cx="820896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800" b="1" dirty="0">
                <a:solidFill>
                  <a:srgbClr val="FF0000"/>
                </a:solidFill>
              </a:rPr>
              <a:t>	O Simulador Neander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05678" y="1489310"/>
            <a:ext cx="795130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200" u="none" dirty="0">
                <a:solidFill>
                  <a:schemeClr val="tx1"/>
                </a:solidFill>
              </a:rPr>
              <a:t>O simulador Neander é uma ferramenta de ensino onde o aluno pode explorar a programação de baixo nível (ao nível da linguagem de máquina e assembly). Trata-se de um processador extremamente simples, talvez o mais simples possível, e é justamente por isso que ele possui este nome o qual lembra o homem de Neandertal.</a:t>
            </a:r>
          </a:p>
        </p:txBody>
      </p:sp>
      <p:pic>
        <p:nvPicPr>
          <p:cNvPr id="2050" name="Picture 2" descr="G1 - Cérebro dos neandertais tinha menos espaço para relação social, diz  estudo - notícias em Ciência e Saúde">
            <a:extLst>
              <a:ext uri="{FF2B5EF4-FFF2-40B4-BE49-F238E27FC236}">
                <a16:creationId xmlns:a16="http://schemas.microsoft.com/office/drawing/2014/main" id="{7E1A65C0-68B2-8F0C-BC0A-AB0F58555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" r="931"/>
          <a:stretch/>
        </p:blipFill>
        <p:spPr bwMode="auto">
          <a:xfrm>
            <a:off x="2608607" y="3742083"/>
            <a:ext cx="3926785" cy="29450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63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onentes de um computador - o que são e o que são?">
            <a:extLst>
              <a:ext uri="{FF2B5EF4-FFF2-40B4-BE49-F238E27FC236}">
                <a16:creationId xmlns:a16="http://schemas.microsoft.com/office/drawing/2014/main" id="{F3D15AAB-2D73-BD99-D388-5745EC3A1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597" y="74140"/>
            <a:ext cx="9242380" cy="678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94A4C-D6AD-5118-F983-E9CC9C59A726}"/>
              </a:ext>
            </a:extLst>
          </p:cNvPr>
          <p:cNvSpPr txBox="1"/>
          <p:nvPr/>
        </p:nvSpPr>
        <p:spPr>
          <a:xfrm>
            <a:off x="225706" y="1265467"/>
            <a:ext cx="51102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Aspectos da arquitetura do “processador”</a:t>
            </a:r>
          </a:p>
          <a:p>
            <a:r>
              <a:rPr lang="pt-BR" sz="5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hipotético NEANDER</a:t>
            </a:r>
          </a:p>
        </p:txBody>
      </p:sp>
    </p:spTree>
    <p:extLst>
      <p:ext uri="{BB962C8B-B14F-4D97-AF65-F5344CB8AC3E}">
        <p14:creationId xmlns:p14="http://schemas.microsoft.com/office/powerpoint/2010/main" val="357509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6517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O Simulador Neander – Características Gerais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89023" y="1711731"/>
            <a:ext cx="6700317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Largura de Dados e Endereços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Operações Aritméticas representado em Complemento de 2;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1 Acumulador (AC) 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1 Apontador de </a:t>
            </a:r>
            <a:r>
              <a:rPr lang="pt-BR" altLang="pt-BR" u="none">
                <a:solidFill>
                  <a:schemeClr val="tx1"/>
                </a:solidFill>
              </a:rPr>
              <a:t>programa (CP) </a:t>
            </a:r>
            <a:r>
              <a:rPr lang="pt-BR" altLang="pt-BR" u="none" dirty="0">
                <a:solidFill>
                  <a:schemeClr val="tx1"/>
                </a:solidFill>
              </a:rPr>
              <a:t>de 8 bits;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1 Registrador de Estado com dois </a:t>
            </a:r>
            <a:r>
              <a:rPr lang="pt-BR" altLang="pt-BR" i="1" u="none" dirty="0">
                <a:solidFill>
                  <a:schemeClr val="tx1"/>
                </a:solidFill>
              </a:rPr>
              <a:t>flags (códigos de condição)</a:t>
            </a:r>
            <a:r>
              <a:rPr lang="pt-BR" altLang="pt-BR" u="none" dirty="0">
                <a:solidFill>
                  <a:schemeClr val="tx1"/>
                </a:solidFill>
              </a:rPr>
              <a:t>:</a:t>
            </a:r>
          </a:p>
          <a:p>
            <a:r>
              <a:rPr lang="pt-BR" altLang="pt-BR" u="none" dirty="0">
                <a:solidFill>
                  <a:schemeClr val="tx1"/>
                </a:solidFill>
              </a:rPr>
              <a:t>	</a:t>
            </a:r>
          </a:p>
          <a:p>
            <a:r>
              <a:rPr lang="pt-BR" altLang="pt-BR" u="none" dirty="0">
                <a:solidFill>
                  <a:schemeClr val="tx1"/>
                </a:solidFill>
              </a:rPr>
              <a:t>	N: Negativo;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r>
              <a:rPr lang="pt-BR" altLang="pt-BR" u="none" dirty="0">
                <a:solidFill>
                  <a:schemeClr val="tx1"/>
                </a:solidFill>
              </a:rPr>
              <a:t>	Z: Zero;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Modo de Endereçamento Direto.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Duas memórias de 256 posições, de 8 bits cada uma.</a:t>
            </a:r>
          </a:p>
        </p:txBody>
      </p:sp>
    </p:spTree>
    <p:extLst>
      <p:ext uri="{BB962C8B-B14F-4D97-AF65-F5344CB8AC3E}">
        <p14:creationId xmlns:p14="http://schemas.microsoft.com/office/powerpoint/2010/main" val="1698555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3350"/>
            <a:ext cx="9143999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800" b="1" u="none" dirty="0">
              <a:solidFill>
                <a:srgbClr val="FF0000"/>
              </a:solidFill>
            </a:endParaRPr>
          </a:p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Modos de endereçamento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657670" y="1550505"/>
            <a:ext cx="78286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NEANDER só possui um modo de endereçamento: o modo direto (ou absoluto).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No modo de endereçamento direto (ver figura), </a:t>
            </a:r>
            <a:r>
              <a:rPr lang="pt-BR" b="1" dirty="0"/>
              <a:t>a apalavra que segue o código da instrução contém, nas instruções de manipulação de dados, o endereço de memória do operando.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Nas instruções de desvio, o endereço contido na instrução corresponde à posição de memória onde está uma instrução a ser executada.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55EFD5-636B-3409-451F-97422C1AB4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43" t="50000" r="6956" b="20821"/>
          <a:stretch/>
        </p:blipFill>
        <p:spPr>
          <a:xfrm>
            <a:off x="278296" y="4303125"/>
            <a:ext cx="4095712" cy="22710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7FF9692-EDE3-492E-F7F2-B5288D27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730" y="4421099"/>
            <a:ext cx="4550114" cy="2079092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0236F42-F8B9-B4E8-80FD-C8A77C494167}"/>
              </a:ext>
            </a:extLst>
          </p:cNvPr>
          <p:cNvGrpSpPr/>
          <p:nvPr/>
        </p:nvGrpSpPr>
        <p:grpSpPr>
          <a:xfrm>
            <a:off x="4729022" y="4969481"/>
            <a:ext cx="4290894" cy="669319"/>
            <a:chOff x="4729022" y="4969481"/>
            <a:chExt cx="4290894" cy="669319"/>
          </a:xfrm>
        </p:grpSpPr>
        <p:sp>
          <p:nvSpPr>
            <p:cNvPr id="8" name="Texto Explicativo: Seta para Cima 7">
              <a:extLst>
                <a:ext uri="{FF2B5EF4-FFF2-40B4-BE49-F238E27FC236}">
                  <a16:creationId xmlns:a16="http://schemas.microsoft.com/office/drawing/2014/main" id="{8FF98DC4-DAFA-DAEC-0912-DFE5CBD4E11A}"/>
                </a:ext>
              </a:extLst>
            </p:cNvPr>
            <p:cNvSpPr/>
            <p:nvPr/>
          </p:nvSpPr>
          <p:spPr>
            <a:xfrm>
              <a:off x="4729022" y="4969481"/>
              <a:ext cx="1552076" cy="669319"/>
            </a:xfrm>
            <a:prstGeom prst="up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</a:rPr>
                <a:t>Que está no endereço da memória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6D21F98-BDC8-CC37-983B-46EB859B2CBC}"/>
                </a:ext>
              </a:extLst>
            </p:cNvPr>
            <p:cNvSpPr/>
            <p:nvPr/>
          </p:nvSpPr>
          <p:spPr>
            <a:xfrm>
              <a:off x="8692442" y="5423002"/>
              <a:ext cx="327474" cy="9616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1" name="Texto Explicativo: Seta para Baixo 10">
            <a:extLst>
              <a:ext uri="{FF2B5EF4-FFF2-40B4-BE49-F238E27FC236}">
                <a16:creationId xmlns:a16="http://schemas.microsoft.com/office/drawing/2014/main" id="{287A4AD5-3943-3CE8-FD79-3B3A3B4F10F9}"/>
              </a:ext>
            </a:extLst>
          </p:cNvPr>
          <p:cNvSpPr/>
          <p:nvPr/>
        </p:nvSpPr>
        <p:spPr>
          <a:xfrm>
            <a:off x="4333240" y="4101726"/>
            <a:ext cx="1209040" cy="365052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Carregue algo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9EBCB9C-8E83-84F3-68D9-1C7FF17C0C81}"/>
              </a:ext>
            </a:extLst>
          </p:cNvPr>
          <p:cNvGrpSpPr/>
          <p:nvPr/>
        </p:nvGrpSpPr>
        <p:grpSpPr>
          <a:xfrm>
            <a:off x="5577840" y="4537323"/>
            <a:ext cx="2070091" cy="430887"/>
            <a:chOff x="5816600" y="4537323"/>
            <a:chExt cx="2070091" cy="430887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6F52DAD-A015-7F01-C4EF-55D1A6CCD9AA}"/>
                </a:ext>
              </a:extLst>
            </p:cNvPr>
            <p:cNvGrpSpPr/>
            <p:nvPr/>
          </p:nvGrpSpPr>
          <p:grpSpPr>
            <a:xfrm>
              <a:off x="5816600" y="4566712"/>
              <a:ext cx="778823" cy="327660"/>
              <a:chOff x="5542280" y="4573761"/>
              <a:chExt cx="778823" cy="327660"/>
            </a:xfrm>
          </p:grpSpPr>
          <p:sp>
            <p:nvSpPr>
              <p:cNvPr id="2" name="Seta: Curva para a Esquerda 1">
                <a:extLst>
                  <a:ext uri="{FF2B5EF4-FFF2-40B4-BE49-F238E27FC236}">
                    <a16:creationId xmlns:a16="http://schemas.microsoft.com/office/drawing/2014/main" id="{63E6B078-168C-2D36-AC56-2859A362148F}"/>
                  </a:ext>
                </a:extLst>
              </p:cNvPr>
              <p:cNvSpPr/>
              <p:nvPr/>
            </p:nvSpPr>
            <p:spPr>
              <a:xfrm>
                <a:off x="5985823" y="4573761"/>
                <a:ext cx="335280" cy="327660"/>
              </a:xfrm>
              <a:prstGeom prst="curvedLeftArrow">
                <a:avLst>
                  <a:gd name="adj1" fmla="val 16736"/>
                  <a:gd name="adj2" fmla="val 50000"/>
                  <a:gd name="adj3" fmla="val 25000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DEC720E5-141E-70F6-4FC8-445F62EA6341}"/>
                  </a:ext>
                </a:extLst>
              </p:cNvPr>
              <p:cNvSpPr/>
              <p:nvPr/>
            </p:nvSpPr>
            <p:spPr>
              <a:xfrm>
                <a:off x="5542280" y="4574436"/>
                <a:ext cx="443543" cy="51990"/>
              </a:xfrm>
              <a:prstGeom prst="rect">
                <a:avLst/>
              </a:prstGeom>
              <a:solidFill>
                <a:srgbClr val="7C9AC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77266BC-13A9-34E1-EF26-CD878D593C6D}"/>
                </a:ext>
              </a:extLst>
            </p:cNvPr>
            <p:cNvSpPr txBox="1"/>
            <p:nvPr/>
          </p:nvSpPr>
          <p:spPr>
            <a:xfrm>
              <a:off x="6573189" y="4537323"/>
              <a:ext cx="13135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rgbClr val="FF0000"/>
                  </a:solidFill>
                </a:rPr>
                <a:t>0x0005</a:t>
              </a:r>
            </a:p>
            <a:p>
              <a:r>
                <a:rPr lang="pt-BR" sz="800" dirty="0">
                  <a:solidFill>
                    <a:srgbClr val="FF0000"/>
                  </a:solidFill>
                </a:rPr>
                <a:t>(em Hexadecimal)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8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Formato das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instruções do NEANDER são formadas por um ou dois bytes (8 bits), ou seja, ocupam uma ou duas posições na memória.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283D19-F286-50A3-7DCB-6E46E451916A}"/>
              </a:ext>
            </a:extLst>
          </p:cNvPr>
          <p:cNvSpPr txBox="1"/>
          <p:nvPr/>
        </p:nvSpPr>
        <p:spPr>
          <a:xfrm flipH="1">
            <a:off x="820970" y="4925541"/>
            <a:ext cx="7547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Nas instruções de um byte, somente os 4 bits mais significativos contém o código da instrução. Os demais 4 bits não são utilizados. Nas instruções de dois bytes, o primeiro byte contém o código (também nos 4 bits mais significativos) e o segundo byte contém um endereço. Instruções de dois bytes, no NEANDER, são aquelas instruções que fazem referência à memória.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6FACC-0830-AEDF-333D-B9C9632E83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979" t="38213" r="20260" b="40145"/>
          <a:stretch/>
        </p:blipFill>
        <p:spPr>
          <a:xfrm>
            <a:off x="2267052" y="2912795"/>
            <a:ext cx="5134107" cy="1533386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A2F949DD-5E5B-7E4A-0D15-2D8794355AC5}"/>
              </a:ext>
            </a:extLst>
          </p:cNvPr>
          <p:cNvGrpSpPr/>
          <p:nvPr/>
        </p:nvGrpSpPr>
        <p:grpSpPr>
          <a:xfrm>
            <a:off x="1004782" y="3202834"/>
            <a:ext cx="1272209" cy="369332"/>
            <a:chOff x="646974" y="2864906"/>
            <a:chExt cx="1272209" cy="369332"/>
          </a:xfrm>
        </p:grpSpPr>
        <p:sp>
          <p:nvSpPr>
            <p:cNvPr id="2" name="Seta: para Baixo 1">
              <a:extLst>
                <a:ext uri="{FF2B5EF4-FFF2-40B4-BE49-F238E27FC236}">
                  <a16:creationId xmlns:a16="http://schemas.microsoft.com/office/drawing/2014/main" id="{693A57FC-F216-009C-6194-F62B288BE44C}"/>
                </a:ext>
              </a:extLst>
            </p:cNvPr>
            <p:cNvSpPr/>
            <p:nvPr/>
          </p:nvSpPr>
          <p:spPr>
            <a:xfrm rot="16200000">
              <a:off x="1560766" y="2850182"/>
              <a:ext cx="318052" cy="39878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C73753C-ED65-8121-48C2-BC8596B556E0}"/>
                </a:ext>
              </a:extLst>
            </p:cNvPr>
            <p:cNvSpPr txBox="1"/>
            <p:nvPr/>
          </p:nvSpPr>
          <p:spPr>
            <a:xfrm>
              <a:off x="646974" y="2864906"/>
              <a:ext cx="873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0070C0"/>
                  </a:solidFill>
                </a:rPr>
                <a:t>1º Byte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E8B799A-1C32-34F9-EB78-A306CFB336C2}"/>
              </a:ext>
            </a:extLst>
          </p:cNvPr>
          <p:cNvGrpSpPr/>
          <p:nvPr/>
        </p:nvGrpSpPr>
        <p:grpSpPr>
          <a:xfrm>
            <a:off x="1004782" y="3900067"/>
            <a:ext cx="1272209" cy="369332"/>
            <a:chOff x="646974" y="2864906"/>
            <a:chExt cx="1272209" cy="369332"/>
          </a:xfrm>
        </p:grpSpPr>
        <p:sp>
          <p:nvSpPr>
            <p:cNvPr id="9" name="Seta: para Baixo 8">
              <a:extLst>
                <a:ext uri="{FF2B5EF4-FFF2-40B4-BE49-F238E27FC236}">
                  <a16:creationId xmlns:a16="http://schemas.microsoft.com/office/drawing/2014/main" id="{55CAA3D0-2F2A-FC03-BD8A-82F2D0258BF7}"/>
                </a:ext>
              </a:extLst>
            </p:cNvPr>
            <p:cNvSpPr/>
            <p:nvPr/>
          </p:nvSpPr>
          <p:spPr>
            <a:xfrm rot="16200000">
              <a:off x="1560766" y="2850182"/>
              <a:ext cx="318052" cy="398782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F5E7926-6A27-5567-6D3E-866CC8F60F12}"/>
                </a:ext>
              </a:extLst>
            </p:cNvPr>
            <p:cNvSpPr txBox="1"/>
            <p:nvPr/>
          </p:nvSpPr>
          <p:spPr>
            <a:xfrm>
              <a:off x="646974" y="2864906"/>
              <a:ext cx="873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0070C0"/>
                  </a:solidFill>
                </a:rPr>
                <a:t>2º Byte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A590857-A7E9-BD94-2D18-CB9F44CD6F15}"/>
              </a:ext>
            </a:extLst>
          </p:cNvPr>
          <p:cNvGrpSpPr/>
          <p:nvPr/>
        </p:nvGrpSpPr>
        <p:grpSpPr>
          <a:xfrm>
            <a:off x="2564905" y="2403057"/>
            <a:ext cx="2295329" cy="551403"/>
            <a:chOff x="2564905" y="2403057"/>
            <a:chExt cx="2295329" cy="551403"/>
          </a:xfrm>
        </p:grpSpPr>
        <p:sp>
          <p:nvSpPr>
            <p:cNvPr id="11" name="Chave Direita 10">
              <a:extLst>
                <a:ext uri="{FF2B5EF4-FFF2-40B4-BE49-F238E27FC236}">
                  <a16:creationId xmlns:a16="http://schemas.microsoft.com/office/drawing/2014/main" id="{13AFB995-5330-BC6C-0473-216ED57DE64F}"/>
                </a:ext>
              </a:extLst>
            </p:cNvPr>
            <p:cNvSpPr/>
            <p:nvPr/>
          </p:nvSpPr>
          <p:spPr>
            <a:xfrm rot="16200000">
              <a:off x="3674303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9A535F0-99D9-EEC7-2225-AC6BA6FE1B6A}"/>
                </a:ext>
              </a:extLst>
            </p:cNvPr>
            <p:cNvSpPr txBox="1"/>
            <p:nvPr/>
          </p:nvSpPr>
          <p:spPr>
            <a:xfrm flipH="1">
              <a:off x="2564905" y="2403057"/>
              <a:ext cx="2295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4 bits mais significativos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D887B4E-DA3F-A261-DF05-04FE37F219B3}"/>
              </a:ext>
            </a:extLst>
          </p:cNvPr>
          <p:cNvGrpSpPr/>
          <p:nvPr/>
        </p:nvGrpSpPr>
        <p:grpSpPr>
          <a:xfrm>
            <a:off x="7391220" y="3244334"/>
            <a:ext cx="1474484" cy="369332"/>
            <a:chOff x="7391220" y="3244334"/>
            <a:chExt cx="1474484" cy="369332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F89D5F-BB1A-8088-EF2D-D49871FB0780}"/>
                </a:ext>
              </a:extLst>
            </p:cNvPr>
            <p:cNvSpPr txBox="1"/>
            <p:nvPr/>
          </p:nvSpPr>
          <p:spPr>
            <a:xfrm>
              <a:off x="7790002" y="3244334"/>
              <a:ext cx="10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Instrução</a:t>
              </a:r>
            </a:p>
          </p:txBody>
        </p:sp>
        <p:sp>
          <p:nvSpPr>
            <p:cNvPr id="17" name="Seta: para a Esquerda 16">
              <a:extLst>
                <a:ext uri="{FF2B5EF4-FFF2-40B4-BE49-F238E27FC236}">
                  <a16:creationId xmlns:a16="http://schemas.microsoft.com/office/drawing/2014/main" id="{B58A60E5-1FE2-658C-2670-2D4CAB5FFAC3}"/>
                </a:ext>
              </a:extLst>
            </p:cNvPr>
            <p:cNvSpPr/>
            <p:nvPr/>
          </p:nvSpPr>
          <p:spPr>
            <a:xfrm>
              <a:off x="7391220" y="3279913"/>
              <a:ext cx="398782" cy="298174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089FBCF-0F33-35C8-BFD4-54F9BD9F54F1}"/>
              </a:ext>
            </a:extLst>
          </p:cNvPr>
          <p:cNvGrpSpPr/>
          <p:nvPr/>
        </p:nvGrpSpPr>
        <p:grpSpPr>
          <a:xfrm>
            <a:off x="7401976" y="3876151"/>
            <a:ext cx="1474484" cy="369332"/>
            <a:chOff x="7391220" y="3244334"/>
            <a:chExt cx="1474484" cy="369332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446F54A-F492-362C-E7CC-1AAAF592636D}"/>
                </a:ext>
              </a:extLst>
            </p:cNvPr>
            <p:cNvSpPr txBox="1"/>
            <p:nvPr/>
          </p:nvSpPr>
          <p:spPr>
            <a:xfrm>
              <a:off x="7790002" y="3244334"/>
              <a:ext cx="10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Endereço</a:t>
              </a:r>
            </a:p>
          </p:txBody>
        </p:sp>
        <p:sp>
          <p:nvSpPr>
            <p:cNvPr id="21" name="Seta: para a Esquerda 20">
              <a:extLst>
                <a:ext uri="{FF2B5EF4-FFF2-40B4-BE49-F238E27FC236}">
                  <a16:creationId xmlns:a16="http://schemas.microsoft.com/office/drawing/2014/main" id="{A107FE17-2773-F963-7D34-D23337BF0F87}"/>
                </a:ext>
              </a:extLst>
            </p:cNvPr>
            <p:cNvSpPr/>
            <p:nvPr/>
          </p:nvSpPr>
          <p:spPr>
            <a:xfrm>
              <a:off x="7391220" y="3279913"/>
              <a:ext cx="398782" cy="298174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338A746-6691-D205-2C4B-A25071AE7A18}"/>
              </a:ext>
            </a:extLst>
          </p:cNvPr>
          <p:cNvGrpSpPr/>
          <p:nvPr/>
        </p:nvGrpSpPr>
        <p:grpSpPr>
          <a:xfrm>
            <a:off x="4952666" y="2416161"/>
            <a:ext cx="2637945" cy="538299"/>
            <a:chOff x="4952666" y="2416161"/>
            <a:chExt cx="2637945" cy="538299"/>
          </a:xfrm>
        </p:grpSpPr>
        <p:sp>
          <p:nvSpPr>
            <p:cNvPr id="12" name="Chave Direita 11">
              <a:extLst>
                <a:ext uri="{FF2B5EF4-FFF2-40B4-BE49-F238E27FC236}">
                  <a16:creationId xmlns:a16="http://schemas.microsoft.com/office/drawing/2014/main" id="{5D1B12CE-129C-BC9E-8B7F-B0553C86176D}"/>
                </a:ext>
              </a:extLst>
            </p:cNvPr>
            <p:cNvSpPr/>
            <p:nvPr/>
          </p:nvSpPr>
          <p:spPr>
            <a:xfrm rot="16200000">
              <a:off x="5969631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D969A7F-B363-F380-C954-780EE68453C0}"/>
                </a:ext>
              </a:extLst>
            </p:cNvPr>
            <p:cNvSpPr txBox="1"/>
            <p:nvPr/>
          </p:nvSpPr>
          <p:spPr>
            <a:xfrm>
              <a:off x="5387715" y="2416161"/>
              <a:ext cx="2202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/>
                <a:t>Não interessa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13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Formato das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instruções do NEANDER são formadas por um ou dois bytes (8 bits), ou seja, ocupam uma ou duas posições na memória.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283D19-F286-50A3-7DCB-6E46E451916A}"/>
              </a:ext>
            </a:extLst>
          </p:cNvPr>
          <p:cNvSpPr txBox="1"/>
          <p:nvPr/>
        </p:nvSpPr>
        <p:spPr>
          <a:xfrm flipH="1">
            <a:off x="820970" y="4933161"/>
            <a:ext cx="75477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Nas instruções de um byte, somente os 4 bits mais significativos contém o código da instrução. Os demais 4 bits não são utilizados. Nas instruções de dois bytes, o primeiro byte contém o código (também nos 4 bits mais significativos) e o segundo byte contém um endereço. Instruções de dois bytes, no NEANDER, são aquelas instruções que fazem referência à memória.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E7B7FAA-004D-D8DC-96C8-19411BA9B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40" y="2994448"/>
            <a:ext cx="4676775" cy="1419225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4F80F181-4796-C4D4-CE0D-3A05A3443841}"/>
              </a:ext>
            </a:extLst>
          </p:cNvPr>
          <p:cNvSpPr txBox="1"/>
          <p:nvPr/>
        </p:nvSpPr>
        <p:spPr>
          <a:xfrm>
            <a:off x="2626360" y="3224821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0        1       1        0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119709C-469E-CE5E-9FB0-9927AEC68C7F}"/>
              </a:ext>
            </a:extLst>
          </p:cNvPr>
          <p:cNvSpPr txBox="1"/>
          <p:nvPr/>
        </p:nvSpPr>
        <p:spPr>
          <a:xfrm>
            <a:off x="4897120" y="323249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0        1       1        0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4336219-A7AA-1633-5C54-FB37AE35755C}"/>
              </a:ext>
            </a:extLst>
          </p:cNvPr>
          <p:cNvSpPr txBox="1"/>
          <p:nvPr/>
        </p:nvSpPr>
        <p:spPr>
          <a:xfrm>
            <a:off x="2682240" y="3930941"/>
            <a:ext cx="446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</a:rPr>
              <a:t>0        0       0        1           0        0       1        0</a:t>
            </a:r>
          </a:p>
          <a:p>
            <a:pPr algn="ctr"/>
            <a:endParaRPr lang="pt-BR" dirty="0">
              <a:solidFill>
                <a:srgbClr val="0070C0"/>
              </a:solidFill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75729664-E9F1-0CB4-51EF-4B1A861499ED}"/>
              </a:ext>
            </a:extLst>
          </p:cNvPr>
          <p:cNvGrpSpPr/>
          <p:nvPr/>
        </p:nvGrpSpPr>
        <p:grpSpPr>
          <a:xfrm>
            <a:off x="2564905" y="2403057"/>
            <a:ext cx="2295329" cy="551403"/>
            <a:chOff x="2564905" y="2403057"/>
            <a:chExt cx="2295329" cy="551403"/>
          </a:xfrm>
        </p:grpSpPr>
        <p:sp>
          <p:nvSpPr>
            <p:cNvPr id="32" name="Chave Direita 31">
              <a:extLst>
                <a:ext uri="{FF2B5EF4-FFF2-40B4-BE49-F238E27FC236}">
                  <a16:creationId xmlns:a16="http://schemas.microsoft.com/office/drawing/2014/main" id="{ED4BF668-0CB0-D23B-B51B-2A5FEB277106}"/>
                </a:ext>
              </a:extLst>
            </p:cNvPr>
            <p:cNvSpPr/>
            <p:nvPr/>
          </p:nvSpPr>
          <p:spPr>
            <a:xfrm rot="16200000">
              <a:off x="3674303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B3A0EA5B-C4B1-D725-453B-4DC2C139EC37}"/>
                </a:ext>
              </a:extLst>
            </p:cNvPr>
            <p:cNvSpPr txBox="1"/>
            <p:nvPr/>
          </p:nvSpPr>
          <p:spPr>
            <a:xfrm flipH="1">
              <a:off x="2564905" y="2403057"/>
              <a:ext cx="2295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Instrução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CBBB50F9-34ED-1AD1-1BBD-753F35C2DA08}"/>
              </a:ext>
            </a:extLst>
          </p:cNvPr>
          <p:cNvGrpSpPr/>
          <p:nvPr/>
        </p:nvGrpSpPr>
        <p:grpSpPr>
          <a:xfrm>
            <a:off x="4952666" y="2416161"/>
            <a:ext cx="2637945" cy="538299"/>
            <a:chOff x="4952666" y="2416161"/>
            <a:chExt cx="2637945" cy="538299"/>
          </a:xfrm>
        </p:grpSpPr>
        <p:sp>
          <p:nvSpPr>
            <p:cNvPr id="35" name="Chave Direita 34">
              <a:extLst>
                <a:ext uri="{FF2B5EF4-FFF2-40B4-BE49-F238E27FC236}">
                  <a16:creationId xmlns:a16="http://schemas.microsoft.com/office/drawing/2014/main" id="{9E64BF59-227C-C8E2-8B4A-5C00EE1F128E}"/>
                </a:ext>
              </a:extLst>
            </p:cNvPr>
            <p:cNvSpPr/>
            <p:nvPr/>
          </p:nvSpPr>
          <p:spPr>
            <a:xfrm rot="16200000">
              <a:off x="5969631" y="1768529"/>
              <a:ext cx="168966" cy="2202896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1C9DFEB4-693F-D972-6441-CEF75BC847A6}"/>
                </a:ext>
              </a:extLst>
            </p:cNvPr>
            <p:cNvSpPr txBox="1"/>
            <p:nvPr/>
          </p:nvSpPr>
          <p:spPr>
            <a:xfrm>
              <a:off x="5387715" y="2416161"/>
              <a:ext cx="22028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/>
                <a:t>Não interessa</a:t>
              </a:r>
            </a:p>
          </p:txBody>
        </p:sp>
      </p:grp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26B0ADB-EF49-BFEF-D197-20ADBD8A5255}"/>
              </a:ext>
            </a:extLst>
          </p:cNvPr>
          <p:cNvCxnSpPr/>
          <p:nvPr/>
        </p:nvCxnSpPr>
        <p:spPr>
          <a:xfrm>
            <a:off x="5080000" y="3412808"/>
            <a:ext cx="1910080" cy="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E5C3A4D5-7BCA-D7E1-2216-6394652E6F3E}"/>
              </a:ext>
            </a:extLst>
          </p:cNvPr>
          <p:cNvGrpSpPr/>
          <p:nvPr/>
        </p:nvGrpSpPr>
        <p:grpSpPr>
          <a:xfrm>
            <a:off x="2792940" y="4421347"/>
            <a:ext cx="4465320" cy="486629"/>
            <a:chOff x="2792940" y="4421347"/>
            <a:chExt cx="4465320" cy="486629"/>
          </a:xfrm>
        </p:grpSpPr>
        <p:sp>
          <p:nvSpPr>
            <p:cNvPr id="39" name="Chave Direita 38">
              <a:extLst>
                <a:ext uri="{FF2B5EF4-FFF2-40B4-BE49-F238E27FC236}">
                  <a16:creationId xmlns:a16="http://schemas.microsoft.com/office/drawing/2014/main" id="{56FC45A5-6294-2FAF-A0E3-A0CE87180958}"/>
                </a:ext>
              </a:extLst>
            </p:cNvPr>
            <p:cNvSpPr/>
            <p:nvPr/>
          </p:nvSpPr>
          <p:spPr>
            <a:xfrm rot="5400000">
              <a:off x="4882464" y="2417564"/>
              <a:ext cx="140402" cy="4147967"/>
            </a:xfrm>
            <a:prstGeom prst="rightBrac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6036F4AA-85B0-628F-073D-29AA99D5E4C9}"/>
                </a:ext>
              </a:extLst>
            </p:cNvPr>
            <p:cNvSpPr txBox="1"/>
            <p:nvPr/>
          </p:nvSpPr>
          <p:spPr>
            <a:xfrm>
              <a:off x="2792940" y="4569422"/>
              <a:ext cx="44653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>
                  <a:solidFill>
                    <a:srgbClr val="FF0000"/>
                  </a:solidFill>
                </a:rPr>
                <a:t>Endereço onde o dado deve ser buscado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B55149B-6EDE-6F45-AC4D-A5F4D01FDA90}"/>
              </a:ext>
            </a:extLst>
          </p:cNvPr>
          <p:cNvGrpSpPr/>
          <p:nvPr/>
        </p:nvGrpSpPr>
        <p:grpSpPr>
          <a:xfrm>
            <a:off x="7278095" y="3907791"/>
            <a:ext cx="1808030" cy="369332"/>
            <a:chOff x="7278095" y="3907791"/>
            <a:chExt cx="1808030" cy="369332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AC942E1B-0FED-6747-319C-AE988AC34B3E}"/>
                </a:ext>
              </a:extLst>
            </p:cNvPr>
            <p:cNvSpPr txBox="1"/>
            <p:nvPr/>
          </p:nvSpPr>
          <p:spPr>
            <a:xfrm>
              <a:off x="7674013" y="3907791"/>
              <a:ext cx="1412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accent1"/>
                  </a:solidFill>
                </a:rPr>
                <a:t>Endereço 18</a:t>
              </a:r>
            </a:p>
          </p:txBody>
        </p:sp>
        <p:sp>
          <p:nvSpPr>
            <p:cNvPr id="4" name="Seta: para a Direita 3">
              <a:extLst>
                <a:ext uri="{FF2B5EF4-FFF2-40B4-BE49-F238E27FC236}">
                  <a16:creationId xmlns:a16="http://schemas.microsoft.com/office/drawing/2014/main" id="{6AA0CAD7-C274-8237-60EE-D106B1102918}"/>
                </a:ext>
              </a:extLst>
            </p:cNvPr>
            <p:cNvSpPr/>
            <p:nvPr/>
          </p:nvSpPr>
          <p:spPr>
            <a:xfrm rot="10800000">
              <a:off x="7278095" y="3930941"/>
              <a:ext cx="381964" cy="29488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06FD58E-B1F3-156B-25D3-0CE8A40EA812}"/>
              </a:ext>
            </a:extLst>
          </p:cNvPr>
          <p:cNvGrpSpPr/>
          <p:nvPr/>
        </p:nvGrpSpPr>
        <p:grpSpPr>
          <a:xfrm>
            <a:off x="744470" y="3218075"/>
            <a:ext cx="1794076" cy="369332"/>
            <a:chOff x="744470" y="3218075"/>
            <a:chExt cx="1794076" cy="369332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499AA9C7-72A8-7CD5-6163-EE46ABAC1D03}"/>
                </a:ext>
              </a:extLst>
            </p:cNvPr>
            <p:cNvSpPr txBox="1"/>
            <p:nvPr/>
          </p:nvSpPr>
          <p:spPr>
            <a:xfrm>
              <a:off x="744470" y="3218075"/>
              <a:ext cx="1412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accent1"/>
                  </a:solidFill>
                </a:rPr>
                <a:t>Ver na tabela</a:t>
              </a:r>
            </a:p>
          </p:txBody>
        </p:sp>
        <p:sp>
          <p:nvSpPr>
            <p:cNvPr id="6" name="Seta: para a Direita 5">
              <a:extLst>
                <a:ext uri="{FF2B5EF4-FFF2-40B4-BE49-F238E27FC236}">
                  <a16:creationId xmlns:a16="http://schemas.microsoft.com/office/drawing/2014/main" id="{C491C1D5-9D7F-DCC7-B00D-60FA7B8272A1}"/>
                </a:ext>
              </a:extLst>
            </p:cNvPr>
            <p:cNvSpPr/>
            <p:nvPr/>
          </p:nvSpPr>
          <p:spPr>
            <a:xfrm>
              <a:off x="2156582" y="3255301"/>
              <a:ext cx="381964" cy="29488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04999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33061" y="408411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Código de condição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unidade lógica e aritmética (ULA) do NEANDER fornece os seguintes códigos de condição, que são usadas pelas instruções JN e JZ.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8409E5-D946-9856-2B96-75A63637C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39" t="31063" r="6956" b="23333"/>
          <a:stretch/>
        </p:blipFill>
        <p:spPr>
          <a:xfrm>
            <a:off x="2211859" y="2513886"/>
            <a:ext cx="5101730" cy="183022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9283D19-F286-50A3-7DCB-6E46E451916A}"/>
              </a:ext>
            </a:extLst>
          </p:cNvPr>
          <p:cNvSpPr txBox="1"/>
          <p:nvPr/>
        </p:nvSpPr>
        <p:spPr>
          <a:xfrm flipH="1">
            <a:off x="798111" y="4865060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instruções lógicas e aritméticas (ADD, NOT, AND, OR) e a instrução de transferência  LDA afetam os códigos de condição N e Z. As demais instruções (STA, JMP, JN, JZ, NOP e HLT) não alteram os códigos de condição.</a:t>
            </a:r>
          </a:p>
        </p:txBody>
      </p:sp>
    </p:spTree>
    <p:extLst>
      <p:ext uri="{BB962C8B-B14F-4D97-AF65-F5344CB8AC3E}">
        <p14:creationId xmlns:p14="http://schemas.microsoft.com/office/powerpoint/2010/main" val="3046831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E42959F-4DBE-221F-98B2-7B7A6AD60BD8}"/>
              </a:ext>
            </a:extLst>
          </p:cNvPr>
          <p:cNvGrpSpPr/>
          <p:nvPr/>
        </p:nvGrpSpPr>
        <p:grpSpPr>
          <a:xfrm>
            <a:off x="7384868" y="3046659"/>
            <a:ext cx="1747809" cy="276999"/>
            <a:chOff x="7384868" y="3048564"/>
            <a:chExt cx="1747809" cy="276999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FAE65BA-290B-0389-5186-9BA7EED62621}"/>
                </a:ext>
              </a:extLst>
            </p:cNvPr>
            <p:cNvSpPr txBox="1"/>
            <p:nvPr/>
          </p:nvSpPr>
          <p:spPr>
            <a:xfrm>
              <a:off x="7604819" y="3048564"/>
              <a:ext cx="1527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Apenas utiliza 1 ciclo</a:t>
              </a:r>
            </a:p>
          </p:txBody>
        </p:sp>
        <p:sp>
          <p:nvSpPr>
            <p:cNvPr id="9" name="Seta: para Baixo 8">
              <a:extLst>
                <a:ext uri="{FF2B5EF4-FFF2-40B4-BE49-F238E27FC236}">
                  <a16:creationId xmlns:a16="http://schemas.microsoft.com/office/drawing/2014/main" id="{8F040BDF-2F35-1EB0-CA93-9041DEA1C9C8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25079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067360"/>
            <a:ext cx="1816973" cy="830997"/>
            <a:chOff x="7384868" y="2771565"/>
            <a:chExt cx="1816973" cy="830997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73983" y="2771565"/>
              <a:ext cx="15278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Memória do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), recebe o conteúdo do Acumulador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18205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321360"/>
            <a:ext cx="1816973" cy="1015663"/>
            <a:chOff x="7384868" y="2771565"/>
            <a:chExt cx="1816973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73983" y="2771565"/>
              <a:ext cx="15278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54193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44644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+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4586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73092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</a:t>
              </a:r>
              <a:r>
                <a:rPr lang="pt-BR" sz="1200" dirty="0">
                  <a:solidFill>
                    <a:schemeClr val="accent1"/>
                  </a:solidFill>
                </a:rPr>
                <a:t>OU</a:t>
              </a:r>
              <a:r>
                <a:rPr lang="pt-BR" sz="1200" dirty="0">
                  <a:solidFill>
                    <a:srgbClr val="C00000"/>
                  </a:solidFill>
                </a:rPr>
                <a:t> (OR)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7133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99508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um conteúdo contido em uma posição de memória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 </a:t>
              </a:r>
              <a:r>
                <a:rPr lang="pt-BR" sz="1200" dirty="0">
                  <a:solidFill>
                    <a:schemeClr val="accent1"/>
                  </a:solidFill>
                </a:rPr>
                <a:t>E</a:t>
              </a:r>
              <a:r>
                <a:rPr lang="pt-BR" sz="1200" dirty="0">
                  <a:solidFill>
                    <a:srgbClr val="C00000"/>
                  </a:solidFill>
                </a:rPr>
                <a:t> (AND) o conteúdo do próprio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69018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299887"/>
            <a:ext cx="1816973" cy="1200329"/>
            <a:chOff x="7384868" y="2602012"/>
            <a:chExt cx="1816973" cy="1200329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16141" y="2602012"/>
              <a:ext cx="15857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O Acumulador recebe </a:t>
              </a:r>
              <a:r>
                <a:rPr lang="pt-BR" sz="1200" dirty="0">
                  <a:solidFill>
                    <a:schemeClr val="accent1"/>
                  </a:solidFill>
                </a:rPr>
                <a:t>NÃO</a:t>
              </a:r>
              <a:r>
                <a:rPr lang="pt-BR" sz="1200" dirty="0">
                  <a:solidFill>
                    <a:srgbClr val="C00000"/>
                  </a:solidFill>
                </a:rPr>
                <a:t> (NOT) o conteúdo do próprio Acumulador, ou seja, nega (inverte)  cada bit do Acumulador.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76903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3728387"/>
            <a:ext cx="1809197" cy="2308324"/>
            <a:chOff x="7384868" y="1740952"/>
            <a:chExt cx="1809197" cy="2308324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1740952"/>
              <a:ext cx="15857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Instrução Jump.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 Observe que a ULA não é utilizada, assim,  temos um desvio (outra parte do código será executada presente o endereço indicado). Pois o código é executado sequencialmente (</a:t>
              </a:r>
              <a:r>
                <a:rPr lang="pt-BR" sz="1200" dirty="0" err="1">
                  <a:solidFill>
                    <a:srgbClr val="C00000"/>
                  </a:solidFill>
                </a:rPr>
                <a:t>qdo</a:t>
              </a:r>
              <a:r>
                <a:rPr lang="pt-BR" sz="1200" dirty="0">
                  <a:solidFill>
                    <a:srgbClr val="C00000"/>
                  </a:solidFill>
                </a:rPr>
                <a:t> não há desvio) !!!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85269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4963847"/>
            <a:ext cx="1809197" cy="1015663"/>
            <a:chOff x="7384868" y="267923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67923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N = 1</a:t>
              </a:r>
              <a:r>
                <a:rPr lang="pt-BR" sz="1200" dirty="0">
                  <a:solidFill>
                    <a:srgbClr val="C00000"/>
                  </a:solidFill>
                </a:rPr>
                <a:t> (resultado for negativo),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34958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070527"/>
            <a:ext cx="1809197" cy="1015663"/>
            <a:chOff x="7384868" y="2496352"/>
            <a:chExt cx="1809197" cy="1015663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496352"/>
              <a:ext cx="15857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Desvio condicional: Somente quando </a:t>
              </a:r>
              <a:r>
                <a:rPr lang="pt-BR" sz="1200" dirty="0">
                  <a:solidFill>
                    <a:schemeClr val="accent1"/>
                  </a:solidFill>
                </a:rPr>
                <a:t>IF Z = 1</a:t>
              </a:r>
              <a:r>
                <a:rPr lang="pt-BR" sz="1200" dirty="0">
                  <a:solidFill>
                    <a:srgbClr val="C00000"/>
                  </a:solidFill>
                </a:rPr>
                <a:t> (resultado igual a zero), o PC recebe um endereço (</a:t>
              </a:r>
              <a:r>
                <a:rPr lang="pt-BR" sz="1200" dirty="0" err="1">
                  <a:solidFill>
                    <a:srgbClr val="C00000"/>
                  </a:solidFill>
                </a:rPr>
                <a:t>end</a:t>
              </a:r>
              <a:r>
                <a:rPr lang="pt-BR" sz="1200" dirty="0">
                  <a:solidFill>
                    <a:srgbClr val="C00000"/>
                  </a:solidFill>
                </a:rPr>
                <a:t>).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BBE76F-0D0D-0C26-9FFA-2835673AD24D}"/>
              </a:ext>
            </a:extLst>
          </p:cNvPr>
          <p:cNvSpPr txBox="1"/>
          <p:nvPr/>
        </p:nvSpPr>
        <p:spPr>
          <a:xfrm>
            <a:off x="7573969" y="2742869"/>
            <a:ext cx="14481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Atenção:</a:t>
            </a:r>
            <a:r>
              <a:rPr lang="pt-BR" sz="1400" dirty="0"/>
              <a:t> JN e JZ são úteis quando precisamos fazer algo parecido com o </a:t>
            </a:r>
            <a:r>
              <a:rPr lang="pt-BR" sz="1400" b="1" i="1" dirty="0"/>
              <a:t>IF</a:t>
            </a:r>
            <a:r>
              <a:rPr lang="pt-BR" sz="1400" dirty="0"/>
              <a:t> utilizado em programação de alto nível!</a:t>
            </a:r>
          </a:p>
        </p:txBody>
      </p:sp>
    </p:spTree>
    <p:extLst>
      <p:ext uri="{BB962C8B-B14F-4D97-AF65-F5344CB8AC3E}">
        <p14:creationId xmlns:p14="http://schemas.microsoft.com/office/powerpoint/2010/main" val="4038300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E6EBBE7-00AF-EECC-359C-45E3F1A19C8C}"/>
              </a:ext>
            </a:extLst>
          </p:cNvPr>
          <p:cNvGrpSpPr/>
          <p:nvPr/>
        </p:nvGrpSpPr>
        <p:grpSpPr>
          <a:xfrm>
            <a:off x="7396191" y="5524644"/>
            <a:ext cx="1809197" cy="461665"/>
            <a:chOff x="7384868" y="2950469"/>
            <a:chExt cx="1809197" cy="461665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FBC100-4D5D-0BAF-7435-79B2BB5E7878}"/>
                </a:ext>
              </a:extLst>
            </p:cNvPr>
            <p:cNvSpPr txBox="1"/>
            <p:nvPr/>
          </p:nvSpPr>
          <p:spPr>
            <a:xfrm>
              <a:off x="7608365" y="2950469"/>
              <a:ext cx="1585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C00000"/>
                  </a:solidFill>
                </a:rPr>
                <a:t>Nada acontece. Término da execução.</a:t>
              </a:r>
            </a:p>
          </p:txBody>
        </p:sp>
        <p:sp>
          <p:nvSpPr>
            <p:cNvPr id="15" name="Seta: para Baixo 14">
              <a:extLst>
                <a:ext uri="{FF2B5EF4-FFF2-40B4-BE49-F238E27FC236}">
                  <a16:creationId xmlns:a16="http://schemas.microsoft.com/office/drawing/2014/main" id="{322D98B2-5DA3-8FB0-F75D-128449475182}"/>
                </a:ext>
              </a:extLst>
            </p:cNvPr>
            <p:cNvSpPr/>
            <p:nvPr/>
          </p:nvSpPr>
          <p:spPr>
            <a:xfrm rot="5400000">
              <a:off x="7449021" y="3071428"/>
              <a:ext cx="102967" cy="231273"/>
            </a:xfrm>
            <a:prstGeom prst="downArrow">
              <a:avLst>
                <a:gd name="adj1" fmla="val 65263"/>
                <a:gd name="adj2" fmla="val 57159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59631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1F56636C-EB62-2CC3-3911-B323B8054069}"/>
              </a:ext>
            </a:extLst>
          </p:cNvPr>
          <p:cNvGrpSpPr/>
          <p:nvPr/>
        </p:nvGrpSpPr>
        <p:grpSpPr>
          <a:xfrm>
            <a:off x="220980" y="2742869"/>
            <a:ext cx="2786380" cy="4080156"/>
            <a:chOff x="220980" y="2742869"/>
            <a:chExt cx="2786380" cy="4080156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098C44FF-594E-A99D-AE76-1CF66DAF2B04}"/>
                </a:ext>
              </a:extLst>
            </p:cNvPr>
            <p:cNvSpPr/>
            <p:nvPr/>
          </p:nvSpPr>
          <p:spPr>
            <a:xfrm>
              <a:off x="925974" y="2742869"/>
              <a:ext cx="803766" cy="34392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47679683-6D6D-B1A9-B73F-9ED10515EDCF}"/>
                </a:ext>
              </a:extLst>
            </p:cNvPr>
            <p:cNvSpPr txBox="1"/>
            <p:nvPr/>
          </p:nvSpPr>
          <p:spPr>
            <a:xfrm>
              <a:off x="220980" y="6176694"/>
              <a:ext cx="2786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rgbClr val="FF0000"/>
                  </a:solidFill>
                </a:rPr>
                <a:t>O código de máquina é o que o NEANDER “entende”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6BFC23A-F084-3BEC-FD86-808152CA9BC2}"/>
              </a:ext>
            </a:extLst>
          </p:cNvPr>
          <p:cNvGrpSpPr/>
          <p:nvPr/>
        </p:nvGrpSpPr>
        <p:grpSpPr>
          <a:xfrm>
            <a:off x="1838960" y="4561840"/>
            <a:ext cx="5077604" cy="1968736"/>
            <a:chOff x="1838960" y="4561840"/>
            <a:chExt cx="5077604" cy="1968736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7DDAE1A6-A741-9A8A-2A0F-A5B2BEC2C5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3582" t="33749" r="27333" b="27975"/>
            <a:stretch/>
          </p:blipFill>
          <p:spPr>
            <a:xfrm>
              <a:off x="3342640" y="4561840"/>
              <a:ext cx="3573924" cy="196873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496572AB-508B-9478-ECCD-A15214CE085B}"/>
                </a:ext>
              </a:extLst>
            </p:cNvPr>
            <p:cNvSpPr/>
            <p:nvPr/>
          </p:nvSpPr>
          <p:spPr>
            <a:xfrm>
              <a:off x="1838960" y="5106946"/>
              <a:ext cx="1431899" cy="5641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E4EB996-679E-4D63-0C3C-E06810772A66}"/>
              </a:ext>
            </a:extLst>
          </p:cNvPr>
          <p:cNvSpPr/>
          <p:nvPr/>
        </p:nvSpPr>
        <p:spPr>
          <a:xfrm>
            <a:off x="3342640" y="5096787"/>
            <a:ext cx="1798320" cy="5641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CBCBC4B-B363-51C6-8831-B99983C5CFDA}"/>
              </a:ext>
            </a:extLst>
          </p:cNvPr>
          <p:cNvSpPr/>
          <p:nvPr/>
        </p:nvSpPr>
        <p:spPr>
          <a:xfrm>
            <a:off x="936134" y="4733040"/>
            <a:ext cx="1200869" cy="2820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26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418848"/>
            <a:ext cx="914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2200" u="none" dirty="0">
              <a:solidFill>
                <a:schemeClr val="tx1"/>
              </a:solidFill>
            </a:endParaRPr>
          </a:p>
          <a:p>
            <a:pPr eaLnBrk="1" hangingPunct="1"/>
            <a:r>
              <a:rPr lang="pt-BR" altLang="pt-BR" sz="2600" b="1" u="none" dirty="0">
                <a:solidFill>
                  <a:schemeClr val="tx1"/>
                </a:solidFill>
              </a:rPr>
              <a:t>Conjunto de instruções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2682F-A585-D3C1-8A3A-E6F74A6DE714}"/>
              </a:ext>
            </a:extLst>
          </p:cNvPr>
          <p:cNvSpPr txBox="1"/>
          <p:nvPr/>
        </p:nvSpPr>
        <p:spPr>
          <a:xfrm flipH="1">
            <a:off x="820971" y="1669774"/>
            <a:ext cx="7547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conjunto de instruções de NEANDER compreende 11 instruções, codificadas através dos quatro bits mais significativos da palavra que contém o código da instrução.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B208E2-FB82-C7F1-1A96-11AB875D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2742869"/>
            <a:ext cx="6412375" cy="3439231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1F56636C-EB62-2CC3-3911-B323B8054069}"/>
              </a:ext>
            </a:extLst>
          </p:cNvPr>
          <p:cNvGrpSpPr/>
          <p:nvPr/>
        </p:nvGrpSpPr>
        <p:grpSpPr>
          <a:xfrm>
            <a:off x="0" y="2742869"/>
            <a:ext cx="7547776" cy="4110636"/>
            <a:chOff x="-792480" y="2742869"/>
            <a:chExt cx="7547776" cy="4110636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098C44FF-594E-A99D-AE76-1CF66DAF2B04}"/>
                </a:ext>
              </a:extLst>
            </p:cNvPr>
            <p:cNvSpPr/>
            <p:nvPr/>
          </p:nvSpPr>
          <p:spPr>
            <a:xfrm>
              <a:off x="925974" y="2742869"/>
              <a:ext cx="1045066" cy="34392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47679683-6D6D-B1A9-B73F-9ED10515EDCF}"/>
                </a:ext>
              </a:extLst>
            </p:cNvPr>
            <p:cNvSpPr txBox="1"/>
            <p:nvPr/>
          </p:nvSpPr>
          <p:spPr>
            <a:xfrm>
              <a:off x="-792480" y="6207174"/>
              <a:ext cx="7547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rgbClr val="FF0000"/>
                  </a:solidFill>
                </a:rPr>
                <a:t>A instrução em MNEMÔNICO, neste caso,  em linguagem de montagem (Assembly). O “montador” “traduz” o mnemônico para código de máquina.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97676BE-9F43-4743-DF7B-5AFF898D682D}"/>
              </a:ext>
            </a:extLst>
          </p:cNvPr>
          <p:cNvGrpSpPr/>
          <p:nvPr/>
        </p:nvGrpSpPr>
        <p:grpSpPr>
          <a:xfrm>
            <a:off x="36974" y="3859025"/>
            <a:ext cx="3427664" cy="966636"/>
            <a:chOff x="36974" y="3859025"/>
            <a:chExt cx="3427664" cy="966636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AC800CAC-BE21-799D-F93E-5CD1BC9A1BFF}"/>
                </a:ext>
              </a:extLst>
            </p:cNvPr>
            <p:cNvSpPr/>
            <p:nvPr/>
          </p:nvSpPr>
          <p:spPr>
            <a:xfrm>
              <a:off x="36974" y="4470061"/>
              <a:ext cx="1778000" cy="3556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Endereço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CDEFADE1-C910-31BA-0385-E6FB90EFA5A1}"/>
                </a:ext>
              </a:extLst>
            </p:cNvPr>
            <p:cNvSpPr/>
            <p:nvPr/>
          </p:nvSpPr>
          <p:spPr>
            <a:xfrm>
              <a:off x="2047103" y="3942080"/>
              <a:ext cx="280036" cy="189491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3C1AE765-E805-F8DC-6D8F-431BFB2192AF}"/>
                </a:ext>
              </a:extLst>
            </p:cNvPr>
            <p:cNvSpPr/>
            <p:nvPr/>
          </p:nvSpPr>
          <p:spPr>
            <a:xfrm rot="19062608">
              <a:off x="1793376" y="4152766"/>
              <a:ext cx="343647" cy="355600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59A44B7D-D79D-90DF-93B1-8FEB2CFE2CD2}"/>
                </a:ext>
              </a:extLst>
            </p:cNvPr>
            <p:cNvSpPr/>
            <p:nvPr/>
          </p:nvSpPr>
          <p:spPr>
            <a:xfrm>
              <a:off x="2426682" y="3859025"/>
              <a:ext cx="1037956" cy="355600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5FDE123-7A78-D607-2E19-54661695B740}"/>
              </a:ext>
            </a:extLst>
          </p:cNvPr>
          <p:cNvGrpSpPr/>
          <p:nvPr/>
        </p:nvGrpSpPr>
        <p:grpSpPr>
          <a:xfrm>
            <a:off x="36974" y="2711763"/>
            <a:ext cx="7059923" cy="1885950"/>
            <a:chOff x="36974" y="2711763"/>
            <a:chExt cx="7059923" cy="1885950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A4C93A59-780A-CDC8-5687-0BE3A3A7765E}"/>
                </a:ext>
              </a:extLst>
            </p:cNvPr>
            <p:cNvGrpSpPr/>
            <p:nvPr/>
          </p:nvGrpSpPr>
          <p:grpSpPr>
            <a:xfrm>
              <a:off x="36974" y="3262768"/>
              <a:ext cx="3427664" cy="868803"/>
              <a:chOff x="36974" y="3262768"/>
              <a:chExt cx="3427664" cy="868803"/>
            </a:xfrm>
          </p:grpSpPr>
          <p:sp>
            <p:nvSpPr>
              <p:cNvPr id="8" name="Retângulo: Cantos Arredondados 7">
                <a:extLst>
                  <a:ext uri="{FF2B5EF4-FFF2-40B4-BE49-F238E27FC236}">
                    <a16:creationId xmlns:a16="http://schemas.microsoft.com/office/drawing/2014/main" id="{AA0B387D-1EFF-94CC-681D-BFD6D30EF22D}"/>
                  </a:ext>
                </a:extLst>
              </p:cNvPr>
              <p:cNvSpPr/>
              <p:nvPr/>
            </p:nvSpPr>
            <p:spPr>
              <a:xfrm>
                <a:off x="36974" y="3262768"/>
                <a:ext cx="1778000" cy="355600"/>
              </a:xfrm>
              <a:prstGeom prst="roundRect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Instrução</a:t>
                </a:r>
              </a:p>
            </p:txBody>
          </p:sp>
          <p:sp>
            <p:nvSpPr>
              <p:cNvPr id="13" name="Seta: para a Direita 12">
                <a:extLst>
                  <a:ext uri="{FF2B5EF4-FFF2-40B4-BE49-F238E27FC236}">
                    <a16:creationId xmlns:a16="http://schemas.microsoft.com/office/drawing/2014/main" id="{F2991AB1-73EA-8473-B6E3-A04C91440CE6}"/>
                  </a:ext>
                </a:extLst>
              </p:cNvPr>
              <p:cNvSpPr/>
              <p:nvPr/>
            </p:nvSpPr>
            <p:spPr>
              <a:xfrm>
                <a:off x="1918760" y="3269580"/>
                <a:ext cx="1545878" cy="355600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Seta: para a Direita 13">
                <a:extLst>
                  <a:ext uri="{FF2B5EF4-FFF2-40B4-BE49-F238E27FC236}">
                    <a16:creationId xmlns:a16="http://schemas.microsoft.com/office/drawing/2014/main" id="{6A253242-3565-CE38-D754-26BEBD5FC9DD}"/>
                  </a:ext>
                </a:extLst>
              </p:cNvPr>
              <p:cNvSpPr/>
              <p:nvPr/>
            </p:nvSpPr>
            <p:spPr>
              <a:xfrm rot="1798132">
                <a:off x="1438185" y="3678049"/>
                <a:ext cx="343647" cy="355600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D9121E40-44D9-7392-4F08-20DCFF6ED6D2}"/>
                  </a:ext>
                </a:extLst>
              </p:cNvPr>
              <p:cNvSpPr/>
              <p:nvPr/>
            </p:nvSpPr>
            <p:spPr>
              <a:xfrm>
                <a:off x="1767840" y="3942080"/>
                <a:ext cx="280036" cy="189491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589A7A63-6BB4-7AA4-3BA7-B49959245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1697" y="2711763"/>
              <a:ext cx="3505200" cy="1885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247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44119900-53D5-AC62-F839-11D4A7515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8" y="197346"/>
            <a:ext cx="7866684" cy="6463308"/>
          </a:xfrm>
          <a:prstGeom prst="rect">
            <a:avLst/>
          </a:prstGeom>
          <a:noFill/>
          <a:ln>
            <a:noFill/>
          </a:ln>
        </p:spPr>
        <p:txBody>
          <a:bodyPr wrap="squar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pt-BR" altLang="pt-BR" b="1" dirty="0">
                <a:solidFill>
                  <a:srgbClr val="FF0000"/>
                </a:solidFill>
              </a:rPr>
              <a:t>QUESTÕES</a:t>
            </a:r>
          </a:p>
          <a:p>
            <a:pPr>
              <a:defRPr/>
            </a:pPr>
            <a:endParaRPr lang="pt-BR" altLang="pt-BR" b="1" dirty="0">
              <a:solidFill>
                <a:srgbClr val="FF0000"/>
              </a:solidFill>
            </a:endParaRPr>
          </a:p>
          <a:p>
            <a:pPr>
              <a:defRPr/>
            </a:pPr>
            <a:endParaRPr lang="pt-BR" altLang="pt-BR" sz="900" b="1" dirty="0">
              <a:solidFill>
                <a:srgbClr val="FF0000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1. O que é o simulador NEANDER?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 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2. O NEANDER é funcional, ou seja, ele foi construído fisicamente?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 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3. O que são os aspectos de arquitetura do processador?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 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4. Para que serve o complemento de 2? Por que ele é usado nos processadores?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 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5. Para que serve o Apontador de Estado?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 </a:t>
            </a: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6. Explique o que é e como funciona o Modo de Endereçamento Direto?</a:t>
            </a:r>
          </a:p>
          <a:p>
            <a:pPr marL="450850" indent="-277813">
              <a:defRPr/>
            </a:pPr>
            <a:endParaRPr lang="pt-BR" altLang="pt-BR" sz="1600" b="1" dirty="0">
              <a:solidFill>
                <a:schemeClr val="tx1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7. Explique o formato das instruções.</a:t>
            </a:r>
          </a:p>
          <a:p>
            <a:pPr marL="450850" indent="-277813">
              <a:defRPr/>
            </a:pPr>
            <a:endParaRPr lang="pt-BR" altLang="pt-BR" sz="1600" b="1" dirty="0">
              <a:solidFill>
                <a:schemeClr val="tx1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8. Quantos bits tem uma instrução no NEANDER?</a:t>
            </a:r>
          </a:p>
          <a:p>
            <a:pPr marL="450850" indent="-277813">
              <a:defRPr/>
            </a:pPr>
            <a:endParaRPr lang="pt-BR" altLang="pt-BR" sz="1600" b="1" dirty="0">
              <a:solidFill>
                <a:schemeClr val="tx1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9. Quantos bites tem o endereço no NEANDER? Quantos endereços são possíveis com  ele?</a:t>
            </a:r>
          </a:p>
          <a:p>
            <a:pPr marL="450850" indent="-277813">
              <a:defRPr/>
            </a:pPr>
            <a:endParaRPr lang="pt-BR" altLang="pt-BR" sz="1600" b="1" dirty="0">
              <a:solidFill>
                <a:schemeClr val="tx1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10. O que são e para que serve os códigos de condição?</a:t>
            </a:r>
          </a:p>
          <a:p>
            <a:pPr marL="450850" indent="-277813">
              <a:defRPr/>
            </a:pPr>
            <a:endParaRPr lang="pt-BR" altLang="pt-BR" sz="16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44119900-53D5-AC62-F839-11D4A7515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8" y="197346"/>
            <a:ext cx="7866684" cy="1785104"/>
          </a:xfrm>
          <a:prstGeom prst="rect">
            <a:avLst/>
          </a:prstGeom>
          <a:noFill/>
          <a:ln>
            <a:noFill/>
          </a:ln>
        </p:spPr>
        <p:txBody>
          <a:bodyPr wrap="squar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pt-BR" altLang="pt-BR" b="1" dirty="0">
                <a:solidFill>
                  <a:srgbClr val="FF0000"/>
                </a:solidFill>
              </a:rPr>
              <a:t>QUESTÕES</a:t>
            </a:r>
          </a:p>
          <a:p>
            <a:pPr>
              <a:defRPr/>
            </a:pPr>
            <a:endParaRPr lang="pt-BR" altLang="pt-BR" b="1" dirty="0">
              <a:solidFill>
                <a:srgbClr val="FF0000"/>
              </a:solidFill>
            </a:endParaRPr>
          </a:p>
          <a:p>
            <a:pPr>
              <a:defRPr/>
            </a:pPr>
            <a:endParaRPr lang="pt-BR" altLang="pt-BR" sz="900" b="1" dirty="0">
              <a:solidFill>
                <a:srgbClr val="FF0000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11. Quais são as 11 instruções do NEANDER?</a:t>
            </a:r>
          </a:p>
          <a:p>
            <a:pPr marL="450850" indent="-277813">
              <a:defRPr/>
            </a:pPr>
            <a:endParaRPr lang="pt-BR" altLang="pt-BR" sz="1600" b="1" dirty="0">
              <a:solidFill>
                <a:schemeClr val="tx1"/>
              </a:solidFill>
            </a:endParaRPr>
          </a:p>
          <a:p>
            <a:pPr marL="450850" indent="-277813">
              <a:defRPr/>
            </a:pPr>
            <a:r>
              <a:rPr lang="pt-BR" altLang="pt-BR" sz="1600" b="1" dirty="0">
                <a:solidFill>
                  <a:schemeClr val="tx1"/>
                </a:solidFill>
              </a:rPr>
              <a:t>12. Explique cada uma das ações que cada uma das 11 </a:t>
            </a:r>
            <a:r>
              <a:rPr lang="pt-BR" altLang="pt-BR" sz="1600" b="1">
                <a:solidFill>
                  <a:schemeClr val="tx1"/>
                </a:solidFill>
              </a:rPr>
              <a:t>instruções.</a:t>
            </a:r>
            <a:endParaRPr lang="pt-BR" alt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3931507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ítulo 1">
            <a:extLst>
              <a:ext uri="{FF2B5EF4-FFF2-40B4-BE49-F238E27FC236}">
                <a16:creationId xmlns:a16="http://schemas.microsoft.com/office/drawing/2014/main" id="{1AE763E6-A56B-36D0-7F85-1DCF4580C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  <p:pic>
        <p:nvPicPr>
          <p:cNvPr id="62467" name="Picture 2" descr="10 perguntas e respostas importantes sobre validação de limpeza na  indústria farmacêutica">
            <a:extLst>
              <a:ext uri="{FF2B5EF4-FFF2-40B4-BE49-F238E27FC236}">
                <a16:creationId xmlns:a16="http://schemas.microsoft.com/office/drawing/2014/main" id="{6E773D46-1CBC-188A-6F84-B7C78AA5F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CaixaDeTexto 1">
            <a:extLst>
              <a:ext uri="{FF2B5EF4-FFF2-40B4-BE49-F238E27FC236}">
                <a16:creationId xmlns:a16="http://schemas.microsoft.com/office/drawing/2014/main" id="{E3DFA559-E453-A0EC-40CD-2EF7D566E37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195513" y="5661025"/>
            <a:ext cx="50673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5000" b="1">
                <a:solidFill>
                  <a:schemeClr val="tx1"/>
                </a:solidFill>
              </a:rPr>
              <a:t>RESPOSTAS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A.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2864</TotalTime>
  <Words>1715</Words>
  <Application>Microsoft Office PowerPoint</Application>
  <PresentationFormat>On-screen Show (4:3)</PresentationFormat>
  <Paragraphs>197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Arial</vt:lpstr>
      <vt:lpstr>AvantGarde Bk BT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Complemento de 2</vt:lpstr>
      <vt:lpstr>Exemplo</vt:lpstr>
      <vt:lpstr>Exemplo</vt:lpstr>
      <vt:lpstr>Exercícios: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Dúvidas?</vt:lpstr>
      <vt:lpstr>PowerPoint Presentation</vt:lpstr>
      <vt:lpstr>PowerPoint Presentation</vt:lpstr>
      <vt:lpstr>Dúvidas?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Logon PF Fiap</cp:lastModifiedBy>
  <cp:revision>391</cp:revision>
  <cp:lastPrinted>2016-02-15T09:06:24Z</cp:lastPrinted>
  <dcterms:created xsi:type="dcterms:W3CDTF">2015-02-07T21:24:47Z</dcterms:created>
  <dcterms:modified xsi:type="dcterms:W3CDTF">2024-04-09T11:12:01Z</dcterms:modified>
</cp:coreProperties>
</file>