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487" r:id="rId3"/>
    <p:sldId id="256" r:id="rId4"/>
    <p:sldId id="263" r:id="rId5"/>
    <p:sldId id="49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53" y="40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351DF-034B-4D62-A04E-B3112216E373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15CD6-78DB-414D-8AE7-3A1F439724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77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0733E33-1E39-29B4-E107-DDE99EC29D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4C9A68F-7912-86F8-00FB-6BFBAB60D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Imagem de Slide 1">
            <a:extLst>
              <a:ext uri="{FF2B5EF4-FFF2-40B4-BE49-F238E27FC236}">
                <a16:creationId xmlns:a16="http://schemas.microsoft.com/office/drawing/2014/main" id="{79E2E824-AA35-C500-C324-291016EC6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Espaço Reservado para Anotações 2">
            <a:extLst>
              <a:ext uri="{FF2B5EF4-FFF2-40B4-BE49-F238E27FC236}">
                <a16:creationId xmlns:a16="http://schemas.microsoft.com/office/drawing/2014/main" id="{9B6C099C-9246-0F2A-A4B3-6719EE60F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77828" name="Espaço Reservado para Número de Slide 3">
            <a:extLst>
              <a:ext uri="{FF2B5EF4-FFF2-40B4-BE49-F238E27FC236}">
                <a16:creationId xmlns:a16="http://schemas.microsoft.com/office/drawing/2014/main" id="{7C7ABC80-DE90-15AF-1A37-3D0F8845EB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3C48452-40E8-4138-B3E3-79CB7B361BF5}" type="slidenum">
              <a:rPr lang="en-US" altLang="pt-BR"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4</a:t>
            </a:fld>
            <a:endParaRPr lang="en-US" altLang="pt-BR" sz="120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F7C73-2ECA-C35D-663A-457D79A85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4EE9B7-F223-DE05-D73A-FDD2D8142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F022DE-6E0B-27A4-9061-A61BE55D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77DB46-A374-9EFF-832F-1F0A4E01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4239F7-8703-73A8-5E73-93650B668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14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551B7-6F24-9FB9-2AC9-F6FCC532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D60638-4E2A-AA53-9DE4-15702A8A4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5BD29F-94CD-1A2A-8267-919B977E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2D29C3-2728-FEC8-DC03-BC788337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BCBDC5-B4EF-0AEC-606C-E8A26AA2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39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7F733-A7D6-CF13-E729-DFF92B3B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676247-D26E-E6AD-D0DF-B919F6CEA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1AD1DF-2A86-761D-8746-430E0097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EBB151-9B0C-7996-A482-11AEAA58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0F0BA7-BF9F-39C1-E2E0-A1D28468C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00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11BEE-59D4-7618-AD32-37416E56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3F10B4-B26C-4B0F-CC45-F3E337C35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6E9C59-F943-FA4A-D5D1-B38494437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F811BD-B102-8557-54A5-6619FD73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FFB8DC-03E1-55E7-7726-775B19F6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D967E-6BF8-9ECD-13F9-C0153D77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39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9CE74-99D6-81F8-8337-3E0B48A4C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7E32CD-10F6-7335-78B4-2B21D5930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882063-4F46-5F63-5EA7-267882232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F7492E7-90F2-4E04-7ECF-171E9DAB1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9A072D-05F8-3411-F80E-B0F797B8B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AE5D8C-5C45-9BEC-1969-003497C1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E51230B-83E6-95D0-5030-82D6A61F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299A3D9-4EC8-26A4-E407-3DA74E27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50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03AA8-3E69-A28E-A016-EB6A52E7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50D68C-B6C7-B6E7-2AA8-269E6A38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D0657C-2C62-7339-BCCB-0298F403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E05D25E-12DC-F76B-2672-965EBF67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60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6D4D26F-2B15-26E3-AD4F-AFB01DAA4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C766B5-FAB1-3E24-C032-50BED067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E551F4-8F42-8CB4-C261-DEDE9E5B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709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49EDC-ECCC-3980-0517-38D31E60D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E59A3C-1111-9A73-678B-0A663AF58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45D918-ADA1-5664-C50B-5F7E1AF4A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CA02BA-39A7-458F-A3F4-A3F9AAAE6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87D3DB-83BF-CF16-04E6-D784FE4C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EC832F-9424-06C3-A1E8-29DBD046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78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4FB65-B242-3904-FEE4-7E152BC0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02FDB0-E9EF-24A2-F9CD-497944213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190629-2D49-2DFF-6115-6B5785D71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170874-455D-5752-6B5F-3F623451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BA39B7-9089-720C-DA03-4D37FB4F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FE18FF-A947-5125-2E9A-5064297D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15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F3EFB-B58C-E74C-A045-87E2FB2D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0D306D-7A90-50B4-BAA3-71C5DB069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46DF5D-CE90-6AC2-E838-F621AA63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5585CE-20A8-9B24-52F9-228A95C1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9F25C1-866C-BA54-BF43-75ADD6F1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90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CAE21D-D455-296C-0201-B1D7F84D8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0F3E21-4218-FAD0-3DB6-0D2A35A34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4F912-FA91-B183-02F6-BB5C0BEEA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48CB13-9B79-13EA-C8DC-FB16DFE4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0A66B4-1236-9239-E1AB-AF84B3B9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380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197046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AAA1D27C-4742-A549-66AF-AB591F644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33" y="1422401"/>
            <a:ext cx="4083051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1D36AC9-68C4-43AD-B979-6BB72DDE16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76259">
            <a:off x="2741085" y="3444876"/>
            <a:ext cx="2078567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E9C50783-45B0-A5ED-24BA-FB0403A6B8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87626">
            <a:off x="865717" y="4397376"/>
            <a:ext cx="2751667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40CFF327-5FCD-5C5B-ED22-FFF58972F9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63651" y="736600"/>
            <a:ext cx="9067800" cy="3416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en-US" sz="1800" b="1">
                <a:solidFill>
                  <a:srgbClr val="303030"/>
                </a:solidFill>
                <a:latin typeface="Gotham HTF" charset="0"/>
                <a:cs typeface="Gotham-Bold" charset="0"/>
              </a:rPr>
              <a:t>REFERÊNCIAS</a:t>
            </a:r>
            <a:endParaRPr lang="en-US" sz="1800" b="1">
              <a:solidFill>
                <a:srgbClr val="303030"/>
              </a:solidFill>
              <a:latin typeface="Gotham HTF" charset="0"/>
              <a:cs typeface="Gotham-Book" charset="0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0561E181-85EE-42BD-214A-D50D9BA22737}"/>
              </a:ext>
            </a:extLst>
          </p:cNvPr>
          <p:cNvSpPr/>
          <p:nvPr userDrawn="1"/>
        </p:nvSpPr>
        <p:spPr>
          <a:xfrm>
            <a:off x="1020233" y="804863"/>
            <a:ext cx="95251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5157471" y="1421810"/>
            <a:ext cx="5840997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6132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4923680-0915-DE52-52D0-4E755DA3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906487-0074-B656-AB01-73C17D3CD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D3AAB6-DD07-0422-5E4B-72A0F7552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54FF1-D79E-49C2-87DB-4188890C7FE5}" type="datetimeFigureOut">
              <a:rPr lang="pt-BR" smtClean="0"/>
              <a:t>23/03/2023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670899-A1BC-4594-D00D-BD2C4748F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73BE1C-F48F-AEEE-46AC-D92326AD6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60724-1726-4FAD-902B-6099902345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86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D7579BA-85DF-CFDB-DA6F-CCF47B6B99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122" name="Imagem 2">
            <a:extLst>
              <a:ext uri="{FF2B5EF4-FFF2-40B4-BE49-F238E27FC236}">
                <a16:creationId xmlns:a16="http://schemas.microsoft.com/office/drawing/2014/main" id="{EE98A7F9-574B-A5A3-5531-F6C7A33C9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AE4D9102-07E5-CFB7-DEDE-F30C46327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Agrupar 31">
            <a:extLst>
              <a:ext uri="{FF2B5EF4-FFF2-40B4-BE49-F238E27FC236}">
                <a16:creationId xmlns:a16="http://schemas.microsoft.com/office/drawing/2014/main" id="{B27014D1-0747-12DC-D80A-0846DCE63E6F}"/>
              </a:ext>
            </a:extLst>
          </p:cNvPr>
          <p:cNvGrpSpPr/>
          <p:nvPr/>
        </p:nvGrpSpPr>
        <p:grpSpPr>
          <a:xfrm>
            <a:off x="5408980" y="1897581"/>
            <a:ext cx="6898768" cy="4846409"/>
            <a:chOff x="611450" y="1592781"/>
            <a:chExt cx="6898768" cy="484640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B914DC9-06DD-4135-9A47-BF8D1A178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8866" y="1592781"/>
              <a:ext cx="5981020" cy="4846409"/>
            </a:xfrm>
            <a:prstGeom prst="rect">
              <a:avLst/>
            </a:prstGeom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6B5684AA-4C52-7DAD-794F-43CE9F10C209}"/>
                </a:ext>
              </a:extLst>
            </p:cNvPr>
            <p:cNvSpPr/>
            <p:nvPr/>
          </p:nvSpPr>
          <p:spPr>
            <a:xfrm>
              <a:off x="1589024" y="3429000"/>
              <a:ext cx="370840" cy="198120"/>
            </a:xfrm>
            <a:prstGeom prst="rect">
              <a:avLst/>
            </a:prstGeom>
            <a:solidFill>
              <a:srgbClr val="4472C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1BE19F8D-B5CB-E073-1F83-558D85800BC1}"/>
                </a:ext>
              </a:extLst>
            </p:cNvPr>
            <p:cNvGrpSpPr/>
            <p:nvPr/>
          </p:nvGrpSpPr>
          <p:grpSpPr>
            <a:xfrm>
              <a:off x="1006974" y="2187725"/>
              <a:ext cx="868680" cy="323165"/>
              <a:chOff x="650512" y="3335997"/>
              <a:chExt cx="868680" cy="323165"/>
            </a:xfrm>
          </p:grpSpPr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436925A3-AE26-0889-6027-88628A1D63C5}"/>
                  </a:ext>
                </a:extLst>
              </p:cNvPr>
              <p:cNvSpPr txBox="1"/>
              <p:nvPr/>
            </p:nvSpPr>
            <p:spPr>
              <a:xfrm>
                <a:off x="650512" y="3335997"/>
                <a:ext cx="86868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500" dirty="0">
                    <a:solidFill>
                      <a:srgbClr val="4472C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Buffer</a:t>
                </a:r>
              </a:p>
            </p:txBody>
          </p:sp>
          <p:sp>
            <p:nvSpPr>
              <p:cNvPr id="17" name="Seta: para a Direita 16">
                <a:extLst>
                  <a:ext uri="{FF2B5EF4-FFF2-40B4-BE49-F238E27FC236}">
                    <a16:creationId xmlns:a16="http://schemas.microsoft.com/office/drawing/2014/main" id="{3F4D7104-FABA-FC5B-249D-869161A1FB99}"/>
                  </a:ext>
                </a:extLst>
              </p:cNvPr>
              <p:cNvSpPr/>
              <p:nvPr/>
            </p:nvSpPr>
            <p:spPr>
              <a:xfrm>
                <a:off x="1268866" y="3462020"/>
                <a:ext cx="210820" cy="114300"/>
              </a:xfrm>
              <a:prstGeom prst="rightArrow">
                <a:avLst/>
              </a:prstGeom>
              <a:solidFill>
                <a:srgbClr val="4472C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A74596B4-DB30-E573-2B79-8BB223EF0106}"/>
                </a:ext>
              </a:extLst>
            </p:cNvPr>
            <p:cNvSpPr/>
            <p:nvPr/>
          </p:nvSpPr>
          <p:spPr>
            <a:xfrm>
              <a:off x="3277616" y="3418370"/>
              <a:ext cx="370840" cy="198120"/>
            </a:xfrm>
            <a:prstGeom prst="rect">
              <a:avLst/>
            </a:prstGeom>
            <a:solidFill>
              <a:srgbClr val="4472C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Trapezoide 19">
              <a:extLst>
                <a:ext uri="{FF2B5EF4-FFF2-40B4-BE49-F238E27FC236}">
                  <a16:creationId xmlns:a16="http://schemas.microsoft.com/office/drawing/2014/main" id="{F19DE62C-C3E1-EBCF-8F0C-040EBF76BFCC}"/>
                </a:ext>
              </a:extLst>
            </p:cNvPr>
            <p:cNvSpPr/>
            <p:nvPr/>
          </p:nvSpPr>
          <p:spPr>
            <a:xfrm>
              <a:off x="1882141" y="2295459"/>
              <a:ext cx="1474470" cy="205805"/>
            </a:xfrm>
            <a:prstGeom prst="trapezoid">
              <a:avLst>
                <a:gd name="adj" fmla="val 425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310BEE21-8DC7-0C44-E1AF-939499EEE3FA}"/>
                </a:ext>
              </a:extLst>
            </p:cNvPr>
            <p:cNvGrpSpPr/>
            <p:nvPr/>
          </p:nvGrpSpPr>
          <p:grpSpPr>
            <a:xfrm>
              <a:off x="611450" y="3355847"/>
              <a:ext cx="868680" cy="323165"/>
              <a:chOff x="650512" y="3335997"/>
              <a:chExt cx="868680" cy="323165"/>
            </a:xfrm>
          </p:grpSpPr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275C582C-0F2D-3CDF-E215-4D2D3CFB9B24}"/>
                  </a:ext>
                </a:extLst>
              </p:cNvPr>
              <p:cNvSpPr txBox="1"/>
              <p:nvPr/>
            </p:nvSpPr>
            <p:spPr>
              <a:xfrm>
                <a:off x="650512" y="3335997"/>
                <a:ext cx="86868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500" dirty="0">
                    <a:solidFill>
                      <a:srgbClr val="4472C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Buffer</a:t>
                </a:r>
              </a:p>
            </p:txBody>
          </p:sp>
          <p:sp>
            <p:nvSpPr>
              <p:cNvPr id="23" name="Seta: para a Direita 22">
                <a:extLst>
                  <a:ext uri="{FF2B5EF4-FFF2-40B4-BE49-F238E27FC236}">
                    <a16:creationId xmlns:a16="http://schemas.microsoft.com/office/drawing/2014/main" id="{DEED9AAD-44EB-79EE-9AA2-230E4F338225}"/>
                  </a:ext>
                </a:extLst>
              </p:cNvPr>
              <p:cNvSpPr/>
              <p:nvPr/>
            </p:nvSpPr>
            <p:spPr>
              <a:xfrm>
                <a:off x="1268866" y="3462020"/>
                <a:ext cx="210820" cy="114300"/>
              </a:xfrm>
              <a:prstGeom prst="rightArrow">
                <a:avLst/>
              </a:prstGeom>
              <a:solidFill>
                <a:srgbClr val="4472C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70DFBA2-69A6-20B5-ED62-ABF115CF2056}"/>
                </a:ext>
              </a:extLst>
            </p:cNvPr>
            <p:cNvSpPr txBox="1"/>
            <p:nvPr/>
          </p:nvSpPr>
          <p:spPr>
            <a:xfrm>
              <a:off x="3740168" y="3378707"/>
              <a:ext cx="86868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300" dirty="0">
                  <a:solidFill>
                    <a:srgbClr val="4472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Buffer</a:t>
              </a:r>
            </a:p>
          </p:txBody>
        </p:sp>
        <p:sp>
          <p:nvSpPr>
            <p:cNvPr id="26" name="Seta: para a Direita 25">
              <a:extLst>
                <a:ext uri="{FF2B5EF4-FFF2-40B4-BE49-F238E27FC236}">
                  <a16:creationId xmlns:a16="http://schemas.microsoft.com/office/drawing/2014/main" id="{8050BCAF-34D7-5004-0C4F-490EFCF9F349}"/>
                </a:ext>
              </a:extLst>
            </p:cNvPr>
            <p:cNvSpPr/>
            <p:nvPr/>
          </p:nvSpPr>
          <p:spPr>
            <a:xfrm flipH="1">
              <a:off x="3686828" y="3472144"/>
              <a:ext cx="89535" cy="111831"/>
            </a:xfrm>
            <a:prstGeom prst="rightArrow">
              <a:avLst/>
            </a:prstGeom>
            <a:solidFill>
              <a:srgbClr val="4472C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282F29CE-237C-C652-F1BA-FB2B4F0DF9C4}"/>
                </a:ext>
              </a:extLst>
            </p:cNvPr>
            <p:cNvSpPr/>
            <p:nvPr/>
          </p:nvSpPr>
          <p:spPr>
            <a:xfrm>
              <a:off x="4870740" y="3566959"/>
              <a:ext cx="1476720" cy="10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5A8DBE31-589F-7014-6009-994801F38336}"/>
                </a:ext>
              </a:extLst>
            </p:cNvPr>
            <p:cNvSpPr txBox="1"/>
            <p:nvPr/>
          </p:nvSpPr>
          <p:spPr>
            <a:xfrm>
              <a:off x="6641538" y="3454906"/>
              <a:ext cx="86868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500" dirty="0">
                  <a:solidFill>
                    <a:srgbClr val="4472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Buffer</a:t>
              </a:r>
            </a:p>
          </p:txBody>
        </p:sp>
        <p:sp>
          <p:nvSpPr>
            <p:cNvPr id="31" name="Seta: para a Direita 30">
              <a:extLst>
                <a:ext uri="{FF2B5EF4-FFF2-40B4-BE49-F238E27FC236}">
                  <a16:creationId xmlns:a16="http://schemas.microsoft.com/office/drawing/2014/main" id="{DD9C38BB-A67D-3002-7C7C-7BE1B4DC1F21}"/>
                </a:ext>
              </a:extLst>
            </p:cNvPr>
            <p:cNvSpPr/>
            <p:nvPr/>
          </p:nvSpPr>
          <p:spPr>
            <a:xfrm rot="10800000">
              <a:off x="6473762" y="3566960"/>
              <a:ext cx="210820" cy="114300"/>
            </a:xfrm>
            <a:prstGeom prst="rightArrow">
              <a:avLst/>
            </a:prstGeom>
            <a:solidFill>
              <a:srgbClr val="4472C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896A0AE-38B4-036C-6AE2-9E6D0A17BF8D}"/>
              </a:ext>
            </a:extLst>
          </p:cNvPr>
          <p:cNvSpPr txBox="1"/>
          <p:nvPr/>
        </p:nvSpPr>
        <p:spPr>
          <a:xfrm>
            <a:off x="183033" y="1182715"/>
            <a:ext cx="11688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Neste ponto você deverá apto a desenvolver/projetar um microcontrolador simples de 4 bits. Assim, observe a figura abaixo e projete esse microcontrolador, que será a base física da máquina NEANDER, que será apresentado na próxima aula. Os requisitos do projeto são: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F91926C-2389-B9FF-42B9-6261C566875E}"/>
              </a:ext>
            </a:extLst>
          </p:cNvPr>
          <p:cNvSpPr txBox="1"/>
          <p:nvPr/>
        </p:nvSpPr>
        <p:spPr>
          <a:xfrm>
            <a:off x="233679" y="2293208"/>
            <a:ext cx="50038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Montar a ULA completa com apenas portas lógicas (sem blocos) com todas as ligações e sinais de controle;</a:t>
            </a:r>
          </a:p>
          <a:p>
            <a:pPr algn="just"/>
            <a:endParaRPr lang="pt-BR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Projete todas as memórias (ACC, Registradores e RI) com </a:t>
            </a:r>
            <a:r>
              <a:rPr lang="pt-BR" sz="1400" dirty="0" err="1"/>
              <a:t>Flip-Flops</a:t>
            </a:r>
            <a:r>
              <a:rPr lang="pt-BR" sz="1400" dirty="0"/>
              <a:t> (como apresentado na aula anterior), (sem blocos) com todas as ligações e sinais de controle;</a:t>
            </a:r>
          </a:p>
          <a:p>
            <a:pPr algn="just"/>
            <a:endParaRPr lang="pt-BR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Elabore todos os Buffers (memórias de entrada e saída que podem armazenar 1 palavra de memória por vez). Esse tipo de memória também utiliza </a:t>
            </a:r>
            <a:r>
              <a:rPr lang="pt-BR" sz="1400" dirty="0" err="1"/>
              <a:t>Flip-Flops</a:t>
            </a:r>
            <a:r>
              <a:rPr lang="pt-BR" sz="1400" dirty="0"/>
              <a:t> (como apresentado na aula anterior), (sem blocos) com todas as ligações e sinais de controle;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Projete o conjunto Decodificador de instruções e UC, com apenas portas lógicas (sem blocos) com todas as ligações e sinais de controle;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/>
              <a:t>TODAS os componentes deverão estar ligados, ou seja, devem ter sinais de controle, barramento de DADOS e barramento de Endereço. A solução deve ser completa e funcional!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C3C7D7D-2F56-ACFD-B099-30508BC1465E}"/>
              </a:ext>
            </a:extLst>
          </p:cNvPr>
          <p:cNvSpPr txBox="1"/>
          <p:nvPr/>
        </p:nvSpPr>
        <p:spPr>
          <a:xfrm>
            <a:off x="3047837" y="304671"/>
            <a:ext cx="6096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70C0"/>
                </a:solidFill>
              </a:rPr>
              <a:t>Exercício (grupo de 3 alunos)</a:t>
            </a:r>
          </a:p>
        </p:txBody>
      </p:sp>
    </p:spTree>
    <p:extLst>
      <p:ext uri="{BB962C8B-B14F-4D97-AF65-F5344CB8AC3E}">
        <p14:creationId xmlns:p14="http://schemas.microsoft.com/office/powerpoint/2010/main" val="214763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5043794-82C4-5F72-4CFD-B14D6424F61E}"/>
              </a:ext>
            </a:extLst>
          </p:cNvPr>
          <p:cNvSpPr/>
          <p:nvPr/>
        </p:nvSpPr>
        <p:spPr>
          <a:xfrm>
            <a:off x="1524000" y="1"/>
            <a:ext cx="9144000" cy="79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6803" name="CaixaDeTexto 3">
            <a:extLst>
              <a:ext uri="{FF2B5EF4-FFF2-40B4-BE49-F238E27FC236}">
                <a16:creationId xmlns:a16="http://schemas.microsoft.com/office/drawing/2014/main" id="{92E377C3-5C43-E6E2-CC48-77A346199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3" y="833438"/>
            <a:ext cx="53467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6804" name="CaixaDeTexto 4">
            <a:extLst>
              <a:ext uri="{FF2B5EF4-FFF2-40B4-BE49-F238E27FC236}">
                <a16:creationId xmlns:a16="http://schemas.microsoft.com/office/drawing/2014/main" id="{C37A64E0-57CE-D940-2792-58D3211FA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4" y="1193801"/>
            <a:ext cx="4897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microcontrolador PIC18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6805" name="CaixaDeTexto 5">
            <a:extLst>
              <a:ext uri="{FF2B5EF4-FFF2-40B4-BE49-F238E27FC236}">
                <a16:creationId xmlns:a16="http://schemas.microsoft.com/office/drawing/2014/main" id="{38CEBAED-675D-4988-F3D7-0FB88ED9A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4" y="1801813"/>
            <a:ext cx="496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PIC24.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6806" name="CaixaDeTexto 6">
            <a:extLst>
              <a:ext uri="{FF2B5EF4-FFF2-40B4-BE49-F238E27FC236}">
                <a16:creationId xmlns:a16="http://schemas.microsoft.com/office/drawing/2014/main" id="{953E1024-89A0-EE3C-59B0-E48B11AED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4" y="2409826"/>
            <a:ext cx="5019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PEREIRA, F. </a:t>
            </a:r>
            <a:r>
              <a:rPr lang="pt-BR" altLang="pt-BR" sz="1200" b="1" dirty="0">
                <a:solidFill>
                  <a:schemeClr val="tx1"/>
                </a:solidFill>
              </a:rPr>
              <a:t>Tecnologia ARM – Microcontroladores de 32 bits. </a:t>
            </a:r>
            <a:r>
              <a:rPr lang="pt-BR" altLang="pt-BR" sz="1200" dirty="0">
                <a:solidFill>
                  <a:schemeClr val="tx1"/>
                </a:solidFill>
              </a:rPr>
              <a:t>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6807" name="CaixaDeTexto 7">
            <a:extLst>
              <a:ext uri="{FF2B5EF4-FFF2-40B4-BE49-F238E27FC236}">
                <a16:creationId xmlns:a16="http://schemas.microsoft.com/office/drawing/2014/main" id="{8428BBAA-7033-4C32-A639-619E1434C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4" y="2967038"/>
            <a:ext cx="5145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 </a:t>
            </a:r>
            <a:r>
              <a:rPr lang="pt-BR" altLang="pt-BR" sz="1200" b="1" dirty="0">
                <a:solidFill>
                  <a:schemeClr val="tx1"/>
                </a:solidFill>
              </a:rPr>
              <a:t>Microcontroladores ARM7 – O poder dos 32 bits.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08F734-ED11-86ED-9581-0C57BD7AB313}"/>
              </a:ext>
            </a:extLst>
          </p:cNvPr>
          <p:cNvSpPr txBox="1"/>
          <p:nvPr/>
        </p:nvSpPr>
        <p:spPr>
          <a:xfrm>
            <a:off x="5476876" y="4008438"/>
            <a:ext cx="5033963" cy="24929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altLang="pt-BR" sz="1200" dirty="0"/>
              <a:t>OLIVEIRA, A. S., ANDRADE, F. S. </a:t>
            </a:r>
            <a:r>
              <a:rPr lang="pt-BR" altLang="pt-BR" sz="1200" b="1" dirty="0"/>
              <a:t>Sistemas Embarcados: hardware e firmware na prática. </a:t>
            </a:r>
            <a:r>
              <a:rPr lang="pt-BR" altLang="pt-BR" sz="1200" dirty="0"/>
              <a:t>Editora Érica Saraiva. </a:t>
            </a:r>
            <a:r>
              <a:rPr lang="pt-BR" altLang="pt-BR" sz="1200" dirty="0">
                <a:solidFill>
                  <a:schemeClr val="tx1">
                    <a:lumMod val="50000"/>
                  </a:schemeClr>
                </a:solidFill>
              </a:rPr>
              <a:t>(Biblioteca FIAP – livro físico)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SOUSA, D.R.; SOUZA, D.J., LAVÍNIA, N. C. </a:t>
            </a:r>
            <a:r>
              <a:rPr lang="pt-BR" altLang="pt-BR" sz="1200" b="1" dirty="0"/>
              <a:t>Desbravando o microcontrolador PIC18: recursos avançados</a:t>
            </a:r>
            <a:r>
              <a:rPr lang="pt-BR" altLang="pt-BR" sz="1200" dirty="0"/>
              <a:t>. Editora Érica Saraiva</a:t>
            </a:r>
            <a:r>
              <a:rPr lang="pt-BR" altLang="pt-BR" sz="1200" b="1" dirty="0"/>
              <a:t>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PEREIRA, F. </a:t>
            </a:r>
            <a:r>
              <a:rPr lang="pt-BR" altLang="pt-BR" sz="1200" b="1" dirty="0"/>
              <a:t>Microcontroladores PIC: programação em C</a:t>
            </a:r>
            <a:r>
              <a:rPr lang="pt-BR" altLang="pt-BR" sz="1200" dirty="0"/>
              <a:t>. Editora Érica Saraiva.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YIU, J. </a:t>
            </a:r>
            <a:r>
              <a:rPr lang="pt-BR" altLang="pt-BR" sz="1200" b="1" dirty="0"/>
              <a:t>The </a:t>
            </a:r>
            <a:r>
              <a:rPr lang="pt-BR" altLang="pt-BR" sz="1200" b="1" dirty="0" err="1"/>
              <a:t>definitive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to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M3 </a:t>
            </a:r>
            <a:r>
              <a:rPr lang="pt-BR" altLang="pt-BR" sz="1200" b="1" dirty="0" err="1"/>
              <a:t>and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M4 processors. </a:t>
            </a:r>
            <a:r>
              <a:rPr lang="pt-BR" altLang="pt-BR" sz="1200" dirty="0"/>
              <a:t>Ed. Elsevier.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SLOSS, A. N., SYMES, D., WRIGHT, C. </a:t>
            </a:r>
            <a:r>
              <a:rPr lang="pt-BR" altLang="pt-BR" sz="1200" b="1" dirty="0"/>
              <a:t>ARM System </a:t>
            </a:r>
            <a:r>
              <a:rPr lang="pt-BR" altLang="pt-BR" sz="1200" b="1" dirty="0" err="1"/>
              <a:t>Developer’s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. </a:t>
            </a:r>
            <a:r>
              <a:rPr lang="pt-BR" altLang="pt-BR" sz="1200" dirty="0"/>
              <a:t>Ed. Elsevier.</a:t>
            </a:r>
          </a:p>
        </p:txBody>
      </p:sp>
      <p:sp>
        <p:nvSpPr>
          <p:cNvPr id="76809" name="CaixaDeTexto 9">
            <a:extLst>
              <a:ext uri="{FF2B5EF4-FFF2-40B4-BE49-F238E27FC236}">
                <a16:creationId xmlns:a16="http://schemas.microsoft.com/office/drawing/2014/main" id="{705B4DF5-55C8-1222-DDAF-8181DD2EC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04814"/>
            <a:ext cx="1943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BÁSICA</a:t>
            </a:r>
          </a:p>
        </p:txBody>
      </p:sp>
      <p:sp>
        <p:nvSpPr>
          <p:cNvPr id="76810" name="CaixaDeTexto 10">
            <a:extLst>
              <a:ext uri="{FF2B5EF4-FFF2-40B4-BE49-F238E27FC236}">
                <a16:creationId xmlns:a16="http://schemas.microsoft.com/office/drawing/2014/main" id="{E68D0414-12C4-3358-AC47-00D885C26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5" y="3633789"/>
            <a:ext cx="19446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COMPLEMENTAR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Imagem 4">
            <a:extLst>
              <a:ext uri="{FF2B5EF4-FFF2-40B4-BE49-F238E27FC236}">
                <a16:creationId xmlns:a16="http://schemas.microsoft.com/office/drawing/2014/main" id="{64698409-54D5-FC2A-8CDD-A82C8BF11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r="12988"/>
          <a:stretch>
            <a:fillRect/>
          </a:stretch>
        </p:blipFill>
        <p:spPr bwMode="auto">
          <a:xfrm>
            <a:off x="0" y="1"/>
            <a:ext cx="12192000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PresentationFormat>Widescreen</PresentationFormat>
  <Paragraphs>32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Gotham HTF</vt:lpstr>
      <vt:lpstr>Gotham-Book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Sandro Ferraz</dc:creator>
  <cp:lastModifiedBy>Sandro Ferraz</cp:lastModifiedBy>
  <cp:revision>1</cp:revision>
  <dcterms:created xsi:type="dcterms:W3CDTF">2023-03-23T14:14:58Z</dcterms:created>
  <dcterms:modified xsi:type="dcterms:W3CDTF">2023-03-23T14:15:37Z</dcterms:modified>
</cp:coreProperties>
</file>